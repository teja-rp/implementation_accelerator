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73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2" r:id="rId19"/>
  </p:sldIdLst>
  <p:sldSz cx="18288000" cy="10287000"/>
  <p:notesSz cx="6858000" cy="9144000"/>
  <p:embeddedFontLst>
    <p:embeddedFont>
      <p:font typeface="Helvetica World" panose="020B0604020202020204" charset="-128"/>
      <p:regular r:id="rId20"/>
    </p:embeddedFont>
    <p:embeddedFont>
      <p:font typeface="Poppins" panose="020B0604020202020204" charset="0"/>
      <p:regular r:id="rId21"/>
      <p:bold r:id="rId22"/>
      <p:italic r:id="rId23"/>
      <p:boldItalic r:id="rId24"/>
    </p:embeddedFont>
    <p:embeddedFont>
      <p:font typeface="Poppins Bold" panose="020B0604020202020204" charset="0"/>
      <p:regular r:id="rId25"/>
      <p:bold r:id="rId26"/>
    </p:embeddedFont>
    <p:embeddedFont>
      <p:font typeface="Poppins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4D5820-FCCD-121F-6C87-03833BBDBCB6}" v="42" dt="2026-09-01T14:07:10.307"/>
    <p1510:client id="{EA236C86-9ED1-CC36-E3A9-C31197373F52}" v="3152" dt="2026-08-30T23:23:16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le Orito" userId="S::gabrielle.orito@realpage.com::c3b72c5e-e0f6-49f8-bf5b-2d09d3842f49" providerId="AD" clId="Web-{204D5820-FCCD-121F-6C87-03833BBDBCB6}"/>
    <pc:docChg chg="modSld">
      <pc:chgData name="Gabrielle Orito" userId="S::gabrielle.orito@realpage.com::c3b72c5e-e0f6-49f8-bf5b-2d09d3842f49" providerId="AD" clId="Web-{204D5820-FCCD-121F-6C87-03833BBDBCB6}" dt="2026-09-01T14:07:09.432" v="17" actId="20577"/>
      <pc:docMkLst>
        <pc:docMk/>
      </pc:docMkLst>
      <pc:sldChg chg="modSp">
        <pc:chgData name="Gabrielle Orito" userId="S::gabrielle.orito@realpage.com::c3b72c5e-e0f6-49f8-bf5b-2d09d3842f49" providerId="AD" clId="Web-{204D5820-FCCD-121F-6C87-03833BBDBCB6}" dt="2026-09-01T14:06:53.900" v="10" actId="20577"/>
        <pc:sldMkLst>
          <pc:docMk/>
          <pc:sldMk cId="0" sldId="256"/>
        </pc:sldMkLst>
        <pc:spChg chg="mod">
          <ac:chgData name="Gabrielle Orito" userId="S::gabrielle.orito@realpage.com::c3b72c5e-e0f6-49f8-bf5b-2d09d3842f49" providerId="AD" clId="Web-{204D5820-FCCD-121F-6C87-03833BBDBCB6}" dt="2026-09-01T14:06:53.900" v="10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Gabrielle Orito" userId="S::gabrielle.orito@realpage.com::c3b72c5e-e0f6-49f8-bf5b-2d09d3842f49" providerId="AD" clId="Web-{204D5820-FCCD-121F-6C87-03833BBDBCB6}" dt="2026-09-01T14:07:09.432" v="17" actId="20577"/>
        <pc:sldMkLst>
          <pc:docMk/>
          <pc:sldMk cId="0" sldId="257"/>
        </pc:sldMkLst>
        <pc:spChg chg="mod">
          <ac:chgData name="Gabrielle Orito" userId="S::gabrielle.orito@realpage.com::c3b72c5e-e0f6-49f8-bf5b-2d09d3842f49" providerId="AD" clId="Web-{204D5820-FCCD-121F-6C87-03833BBDBCB6}" dt="2026-09-01T14:06:59.369" v="11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Gabrielle Orito" userId="S::gabrielle.orito@realpage.com::c3b72c5e-e0f6-49f8-bf5b-2d09d3842f49" providerId="AD" clId="Web-{204D5820-FCCD-121F-6C87-03833BBDBCB6}" dt="2026-09-01T14:07:03.119" v="13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Gabrielle Orito" userId="S::gabrielle.orito@realpage.com::c3b72c5e-e0f6-49f8-bf5b-2d09d3842f49" providerId="AD" clId="Web-{204D5820-FCCD-121F-6C87-03833BBDBCB6}" dt="2026-09-01T14:07:09.432" v="17" actId="20577"/>
          <ac:spMkLst>
            <pc:docMk/>
            <pc:sldMk cId="0" sldId="257"/>
            <ac:spMk id="11" creationId="{00000000-0000-0000-0000-000000000000}"/>
          </ac:spMkLst>
        </pc:spChg>
      </pc:sldChg>
    </pc:docChg>
  </pc:docChgLst>
  <pc:docChgLst>
    <pc:chgData name="Kat Ragudos" userId="S::kat.ragudos@realpage.com::fa2688e3-404f-4469-939d-a0c2d069d1ee" providerId="AD" clId="Web-{EA236C86-9ED1-CC36-E3A9-C31197373F52}"/>
    <pc:docChg chg="addSld delSld modSld">
      <pc:chgData name="Kat Ragudos" userId="S::kat.ragudos@realpage.com::fa2688e3-404f-4469-939d-a0c2d069d1ee" providerId="AD" clId="Web-{EA236C86-9ED1-CC36-E3A9-C31197373F52}" dt="2026-08-30T23:23:16.287" v="1703"/>
      <pc:docMkLst>
        <pc:docMk/>
      </pc:docMkLst>
      <pc:sldChg chg="modSp">
        <pc:chgData name="Kat Ragudos" userId="S::kat.ragudos@realpage.com::fa2688e3-404f-4469-939d-a0c2d069d1ee" providerId="AD" clId="Web-{EA236C86-9ED1-CC36-E3A9-C31197373F52}" dt="2026-08-30T22:34:16.128" v="113" actId="20577"/>
        <pc:sldMkLst>
          <pc:docMk/>
          <pc:sldMk cId="0" sldId="259"/>
        </pc:sldMkLst>
        <pc:spChg chg="mod">
          <ac:chgData name="Kat Ragudos" userId="S::kat.ragudos@realpage.com::fa2688e3-404f-4469-939d-a0c2d069d1ee" providerId="AD" clId="Web-{EA236C86-9ED1-CC36-E3A9-C31197373F52}" dt="2026-08-30T22:33:48.940" v="104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2:34:16.128" v="113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">
        <pc:chgData name="Kat Ragudos" userId="S::kat.ragudos@realpage.com::fa2688e3-404f-4469-939d-a0c2d069d1ee" providerId="AD" clId="Web-{EA236C86-9ED1-CC36-E3A9-C31197373F52}" dt="2026-08-30T22:29:32.946" v="17" actId="20577"/>
        <pc:sldMkLst>
          <pc:docMk/>
          <pc:sldMk cId="0" sldId="260"/>
        </pc:sldMkLst>
        <pc:spChg chg="mod">
          <ac:chgData name="Kat Ragudos" userId="S::kat.ragudos@realpage.com::fa2688e3-404f-4469-939d-a0c2d069d1ee" providerId="AD" clId="Web-{EA236C86-9ED1-CC36-E3A9-C31197373F52}" dt="2026-08-30T22:29:32.946" v="17" actId="20577"/>
          <ac:spMkLst>
            <pc:docMk/>
            <pc:sldMk cId="0" sldId="260"/>
            <ac:spMk id="4" creationId="{00000000-0000-0000-0000-000000000000}"/>
          </ac:spMkLst>
        </pc:spChg>
      </pc:sldChg>
      <pc:sldChg chg="addSp modSp">
        <pc:chgData name="Kat Ragudos" userId="S::kat.ragudos@realpage.com::fa2688e3-404f-4469-939d-a0c2d069d1ee" providerId="AD" clId="Web-{EA236C86-9ED1-CC36-E3A9-C31197373F52}" dt="2026-08-30T22:53:30.502" v="897" actId="1076"/>
        <pc:sldMkLst>
          <pc:docMk/>
          <pc:sldMk cId="0" sldId="261"/>
        </pc:sldMkLst>
        <pc:spChg chg="mod">
          <ac:chgData name="Kat Ragudos" userId="S::kat.ragudos@realpage.com::fa2688e3-404f-4469-939d-a0c2d069d1ee" providerId="AD" clId="Web-{EA236C86-9ED1-CC36-E3A9-C31197373F52}" dt="2026-08-30T22:36:13.977" v="176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2:49:57.244" v="717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2:36:32.134" v="177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2:46:09.733" v="578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2:40:01.985" v="331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2:53:30.502" v="897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2:53:10.376" v="895" actId="20577"/>
          <ac:spMkLst>
            <pc:docMk/>
            <pc:sldMk cId="0" sldId="261"/>
            <ac:spMk id="11" creationId="{EFE3A2EC-C19C-11D0-E2EF-0F89E5856842}"/>
          </ac:spMkLst>
        </pc:spChg>
        <pc:spChg chg="mod">
          <ac:chgData name="Kat Ragudos" userId="S::kat.ragudos@realpage.com::fa2688e3-404f-4469-939d-a0c2d069d1ee" providerId="AD" clId="Web-{EA236C86-9ED1-CC36-E3A9-C31197373F52}" dt="2026-08-30T22:51:08.747" v="739" actId="20577"/>
          <ac:spMkLst>
            <pc:docMk/>
            <pc:sldMk cId="0" sldId="261"/>
            <ac:spMk id="12" creationId="{087B9265-87FF-7F38-0500-5C7B3CC3DC17}"/>
          </ac:spMkLst>
        </pc:spChg>
        <pc:grpChg chg="mod">
          <ac:chgData name="Kat Ragudos" userId="S::kat.ragudos@realpage.com::fa2688e3-404f-4469-939d-a0c2d069d1ee" providerId="AD" clId="Web-{EA236C86-9ED1-CC36-E3A9-C31197373F52}" dt="2026-08-30T22:35:31.444" v="165" actId="1076"/>
          <ac:grpSpMkLst>
            <pc:docMk/>
            <pc:sldMk cId="0" sldId="261"/>
            <ac:grpSpMk id="3" creationId="{00000000-0000-0000-0000-000000000000}"/>
          </ac:grpSpMkLst>
        </pc:grpChg>
        <pc:grpChg chg="mod">
          <ac:chgData name="Kat Ragudos" userId="S::kat.ragudos@realpage.com::fa2688e3-404f-4469-939d-a0c2d069d1ee" providerId="AD" clId="Web-{EA236C86-9ED1-CC36-E3A9-C31197373F52}" dt="2026-08-30T22:53:23.142" v="896" actId="1076"/>
          <ac:grpSpMkLst>
            <pc:docMk/>
            <pc:sldMk cId="0" sldId="261"/>
            <ac:grpSpMk id="6" creationId="{00000000-0000-0000-0000-000000000000}"/>
          </ac:grpSpMkLst>
        </pc:grpChg>
        <pc:grpChg chg="add mod">
          <ac:chgData name="Kat Ragudos" userId="S::kat.ragudos@realpage.com::fa2688e3-404f-4469-939d-a0c2d069d1ee" providerId="AD" clId="Web-{EA236C86-9ED1-CC36-E3A9-C31197373F52}" dt="2026-08-30T22:50:31.980" v="721" actId="1076"/>
          <ac:grpSpMkLst>
            <pc:docMk/>
            <pc:sldMk cId="0" sldId="261"/>
            <ac:grpSpMk id="10" creationId="{0EE9901F-17EF-78CC-3C3C-6790BC398CFD}"/>
          </ac:grpSpMkLst>
        </pc:grpChg>
      </pc:sldChg>
      <pc:sldChg chg="modSp">
        <pc:chgData name="Kat Ragudos" userId="S::kat.ragudos@realpage.com::fa2688e3-404f-4469-939d-a0c2d069d1ee" providerId="AD" clId="Web-{EA236C86-9ED1-CC36-E3A9-C31197373F52}" dt="2026-08-30T23:05:30.731" v="1273" actId="1076"/>
        <pc:sldMkLst>
          <pc:docMk/>
          <pc:sldMk cId="0" sldId="263"/>
        </pc:sldMkLst>
        <pc:spChg chg="mod">
          <ac:chgData name="Kat Ragudos" userId="S::kat.ragudos@realpage.com::fa2688e3-404f-4469-939d-a0c2d069d1ee" providerId="AD" clId="Web-{EA236C86-9ED1-CC36-E3A9-C31197373F52}" dt="2026-08-30T23:04:43.729" v="126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3:05:16.887" v="1272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3:05:30.731" v="1273" actId="1076"/>
          <ac:spMkLst>
            <pc:docMk/>
            <pc:sldMk cId="0" sldId="263"/>
            <ac:spMk id="4" creationId="{00000000-0000-0000-0000-000000000000}"/>
          </ac:spMkLst>
        </pc:spChg>
      </pc:sldChg>
      <pc:sldChg chg="modSp">
        <pc:chgData name="Kat Ragudos" userId="S::kat.ragudos@realpage.com::fa2688e3-404f-4469-939d-a0c2d069d1ee" providerId="AD" clId="Web-{EA236C86-9ED1-CC36-E3A9-C31197373F52}" dt="2026-08-30T23:09:05.817" v="1357" actId="20577"/>
        <pc:sldMkLst>
          <pc:docMk/>
          <pc:sldMk cId="0" sldId="264"/>
        </pc:sldMkLst>
        <pc:spChg chg="mod">
          <ac:chgData name="Kat Ragudos" userId="S::kat.ragudos@realpage.com::fa2688e3-404f-4469-939d-a0c2d069d1ee" providerId="AD" clId="Web-{EA236C86-9ED1-CC36-E3A9-C31197373F52}" dt="2026-08-30T23:07:24.204" v="1325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3:09:05.817" v="1357" actId="20577"/>
          <ac:spMkLst>
            <pc:docMk/>
            <pc:sldMk cId="0" sldId="264"/>
            <ac:spMk id="7" creationId="{00000000-0000-0000-0000-000000000000}"/>
          </ac:spMkLst>
        </pc:spChg>
      </pc:sldChg>
      <pc:sldChg chg="modSp">
        <pc:chgData name="Kat Ragudos" userId="S::kat.ragudos@realpage.com::fa2688e3-404f-4469-939d-a0c2d069d1ee" providerId="AD" clId="Web-{EA236C86-9ED1-CC36-E3A9-C31197373F52}" dt="2026-08-30T23:17:25.757" v="1542" actId="20577"/>
        <pc:sldMkLst>
          <pc:docMk/>
          <pc:sldMk cId="0" sldId="265"/>
        </pc:sldMkLst>
        <pc:spChg chg="mod">
          <ac:chgData name="Kat Ragudos" userId="S::kat.ragudos@realpage.com::fa2688e3-404f-4469-939d-a0c2d069d1ee" providerId="AD" clId="Web-{EA236C86-9ED1-CC36-E3A9-C31197373F52}" dt="2026-08-30T23:09:25.677" v="1358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3:17:25.757" v="1542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">
        <pc:chgData name="Kat Ragudos" userId="S::kat.ragudos@realpage.com::fa2688e3-404f-4469-939d-a0c2d069d1ee" providerId="AD" clId="Web-{EA236C86-9ED1-CC36-E3A9-C31197373F52}" dt="2026-08-30T23:18:22.823" v="1556" actId="14100"/>
        <pc:sldMkLst>
          <pc:docMk/>
          <pc:sldMk cId="0" sldId="266"/>
        </pc:sldMkLst>
        <pc:spChg chg="mod">
          <ac:chgData name="Kat Ragudos" userId="S::kat.ragudos@realpage.com::fa2688e3-404f-4469-939d-a0c2d069d1ee" providerId="AD" clId="Web-{EA236C86-9ED1-CC36-E3A9-C31197373F52}" dt="2026-08-30T23:18:22.823" v="1556" actId="14100"/>
          <ac:spMkLst>
            <pc:docMk/>
            <pc:sldMk cId="0" sldId="266"/>
            <ac:spMk id="2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3:18:09.510" v="1553" actId="20577"/>
          <ac:spMkLst>
            <pc:docMk/>
            <pc:sldMk cId="0" sldId="266"/>
            <ac:spMk id="4" creationId="{00000000-0000-0000-0000-000000000000}"/>
          </ac:spMkLst>
        </pc:spChg>
      </pc:sldChg>
      <pc:sldChg chg="modSp">
        <pc:chgData name="Kat Ragudos" userId="S::kat.ragudos@realpage.com::fa2688e3-404f-4469-939d-a0c2d069d1ee" providerId="AD" clId="Web-{EA236C86-9ED1-CC36-E3A9-C31197373F52}" dt="2026-08-30T23:21:29.674" v="1692" actId="20577"/>
        <pc:sldMkLst>
          <pc:docMk/>
          <pc:sldMk cId="0" sldId="267"/>
        </pc:sldMkLst>
        <pc:spChg chg="mod">
          <ac:chgData name="Kat Ragudos" userId="S::kat.ragudos@realpage.com::fa2688e3-404f-4469-939d-a0c2d069d1ee" providerId="AD" clId="Web-{EA236C86-9ED1-CC36-E3A9-C31197373F52}" dt="2026-08-30T23:18:37.980" v="1558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3:18:31.027" v="1557" actId="14100"/>
          <ac:spMkLst>
            <pc:docMk/>
            <pc:sldMk cId="0" sldId="267"/>
            <ac:spMk id="3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3:21:29.674" v="1692" actId="20577"/>
          <ac:spMkLst>
            <pc:docMk/>
            <pc:sldMk cId="0" sldId="267"/>
            <ac:spMk id="4" creationId="{00000000-0000-0000-0000-000000000000}"/>
          </ac:spMkLst>
        </pc:spChg>
      </pc:sldChg>
      <pc:sldChg chg="modSp">
        <pc:chgData name="Kat Ragudos" userId="S::kat.ragudos@realpage.com::fa2688e3-404f-4469-939d-a0c2d069d1ee" providerId="AD" clId="Web-{EA236C86-9ED1-CC36-E3A9-C31197373F52}" dt="2026-08-30T23:22:07.159" v="1700" actId="14100"/>
        <pc:sldMkLst>
          <pc:docMk/>
          <pc:sldMk cId="0" sldId="268"/>
        </pc:sldMkLst>
        <pc:spChg chg="mod">
          <ac:chgData name="Kat Ragudos" userId="S::kat.ragudos@realpage.com::fa2688e3-404f-4469-939d-a0c2d069d1ee" providerId="AD" clId="Web-{EA236C86-9ED1-CC36-E3A9-C31197373F52}" dt="2026-08-30T23:21:40.986" v="1693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3:21:44.440" v="1694" actId="14100"/>
          <ac:spMkLst>
            <pc:docMk/>
            <pc:sldMk cId="0" sldId="268"/>
            <ac:spMk id="3" creationId="{00000000-0000-0000-0000-000000000000}"/>
          </ac:spMkLst>
        </pc:spChg>
        <pc:spChg chg="mod">
          <ac:chgData name="Kat Ragudos" userId="S::kat.ragudos@realpage.com::fa2688e3-404f-4469-939d-a0c2d069d1ee" providerId="AD" clId="Web-{EA236C86-9ED1-CC36-E3A9-C31197373F52}" dt="2026-08-30T23:22:07.159" v="1700" actId="14100"/>
          <ac:spMkLst>
            <pc:docMk/>
            <pc:sldMk cId="0" sldId="268"/>
            <ac:spMk id="4" creationId="{00000000-0000-0000-0000-000000000000}"/>
          </ac:spMkLst>
        </pc:spChg>
      </pc:sldChg>
      <pc:sldChg chg="del">
        <pc:chgData name="Kat Ragudos" userId="S::kat.ragudos@realpage.com::fa2688e3-404f-4469-939d-a0c2d069d1ee" providerId="AD" clId="Web-{EA236C86-9ED1-CC36-E3A9-C31197373F52}" dt="2026-08-30T23:23:09.646" v="1701"/>
        <pc:sldMkLst>
          <pc:docMk/>
          <pc:sldMk cId="0" sldId="269"/>
        </pc:sldMkLst>
      </pc:sldChg>
      <pc:sldChg chg="del">
        <pc:chgData name="Kat Ragudos" userId="S::kat.ragudos@realpage.com::fa2688e3-404f-4469-939d-a0c2d069d1ee" providerId="AD" clId="Web-{EA236C86-9ED1-CC36-E3A9-C31197373F52}" dt="2026-08-30T23:23:13.818" v="1702"/>
        <pc:sldMkLst>
          <pc:docMk/>
          <pc:sldMk cId="0" sldId="270"/>
        </pc:sldMkLst>
      </pc:sldChg>
      <pc:sldChg chg="del">
        <pc:chgData name="Kat Ragudos" userId="S::kat.ragudos@realpage.com::fa2688e3-404f-4469-939d-a0c2d069d1ee" providerId="AD" clId="Web-{EA236C86-9ED1-CC36-E3A9-C31197373F52}" dt="2026-08-30T23:23:16.287" v="1703"/>
        <pc:sldMkLst>
          <pc:docMk/>
          <pc:sldMk cId="0" sldId="271"/>
        </pc:sldMkLst>
      </pc:sldChg>
      <pc:sldChg chg="addSp delSp modSp add replId">
        <pc:chgData name="Kat Ragudos" userId="S::kat.ragudos@realpage.com::fa2688e3-404f-4469-939d-a0c2d069d1ee" providerId="AD" clId="Web-{EA236C86-9ED1-CC36-E3A9-C31197373F52}" dt="2026-08-30T22:59:18.874" v="1054" actId="1076"/>
        <pc:sldMkLst>
          <pc:docMk/>
          <pc:sldMk cId="789105403" sldId="273"/>
        </pc:sldMkLst>
        <pc:spChg chg="mod">
          <ac:chgData name="Kat Ragudos" userId="S::kat.ragudos@realpage.com::fa2688e3-404f-4469-939d-a0c2d069d1ee" providerId="AD" clId="Web-{EA236C86-9ED1-CC36-E3A9-C31197373F52}" dt="2026-08-30T22:58:50.201" v="1048" actId="1076"/>
          <ac:spMkLst>
            <pc:docMk/>
            <pc:sldMk cId="789105403" sldId="273"/>
            <ac:spMk id="2" creationId="{EA4069E6-298E-CFF7-793A-7747F8E5E69F}"/>
          </ac:spMkLst>
        </pc:spChg>
        <pc:spChg chg="mod">
          <ac:chgData name="Kat Ragudos" userId="S::kat.ragudos@realpage.com::fa2688e3-404f-4469-939d-a0c2d069d1ee" providerId="AD" clId="Web-{EA236C86-9ED1-CC36-E3A9-C31197373F52}" dt="2026-08-30T22:53:54.144" v="907" actId="20577"/>
          <ac:spMkLst>
            <pc:docMk/>
            <pc:sldMk cId="789105403" sldId="273"/>
            <ac:spMk id="4" creationId="{7B862EE3-540E-439B-3046-0D7627E3B683}"/>
          </ac:spMkLst>
        </pc:spChg>
        <pc:spChg chg="mod">
          <ac:chgData name="Kat Ragudos" userId="S::kat.ragudos@realpage.com::fa2688e3-404f-4469-939d-a0c2d069d1ee" providerId="AD" clId="Web-{EA236C86-9ED1-CC36-E3A9-C31197373F52}" dt="2026-08-30T22:48:08.381" v="631" actId="20577"/>
          <ac:spMkLst>
            <pc:docMk/>
            <pc:sldMk cId="789105403" sldId="273"/>
            <ac:spMk id="5" creationId="{C4D5AD10-1230-303D-4990-E2D6C8B9B350}"/>
          </ac:spMkLst>
        </pc:spChg>
        <pc:spChg chg="mod">
          <ac:chgData name="Kat Ragudos" userId="S::kat.ragudos@realpage.com::fa2688e3-404f-4469-939d-a0c2d069d1ee" providerId="AD" clId="Web-{EA236C86-9ED1-CC36-E3A9-C31197373F52}" dt="2026-08-30T22:30:36.277" v="29" actId="20577"/>
          <ac:spMkLst>
            <pc:docMk/>
            <pc:sldMk cId="789105403" sldId="273"/>
            <ac:spMk id="7" creationId="{6C55AED8-EB2F-0FA7-DF6D-F2FE99418D6E}"/>
          </ac:spMkLst>
        </pc:spChg>
        <pc:spChg chg="mod">
          <ac:chgData name="Kat Ragudos" userId="S::kat.ragudos@realpage.com::fa2688e3-404f-4469-939d-a0c2d069d1ee" providerId="AD" clId="Web-{EA236C86-9ED1-CC36-E3A9-C31197373F52}" dt="2026-08-30T22:58:55.639" v="1049" actId="14100"/>
          <ac:spMkLst>
            <pc:docMk/>
            <pc:sldMk cId="789105403" sldId="273"/>
            <ac:spMk id="9" creationId="{5A11982C-8E97-3822-2E47-785CB27154AF}"/>
          </ac:spMkLst>
        </pc:spChg>
        <pc:spChg chg="mod">
          <ac:chgData name="Kat Ragudos" userId="S::kat.ragudos@realpage.com::fa2688e3-404f-4469-939d-a0c2d069d1ee" providerId="AD" clId="Web-{EA236C86-9ED1-CC36-E3A9-C31197373F52}" dt="2026-08-30T22:58:16.387" v="1044" actId="20577"/>
          <ac:spMkLst>
            <pc:docMk/>
            <pc:sldMk cId="789105403" sldId="273"/>
            <ac:spMk id="11" creationId="{C61A442A-1418-2DA5-7FF0-9C5CD022D585}"/>
          </ac:spMkLst>
        </pc:spChg>
        <pc:spChg chg="mod">
          <ac:chgData name="Kat Ragudos" userId="S::kat.ragudos@realpage.com::fa2688e3-404f-4469-939d-a0c2d069d1ee" providerId="AD" clId="Web-{EA236C86-9ED1-CC36-E3A9-C31197373F52}" dt="2026-08-30T22:55:54.335" v="949" actId="14100"/>
          <ac:spMkLst>
            <pc:docMk/>
            <pc:sldMk cId="789105403" sldId="273"/>
            <ac:spMk id="12" creationId="{664CC67E-CBC4-ABD7-A1F2-15FF9C26F4C2}"/>
          </ac:spMkLst>
        </pc:spChg>
        <pc:grpChg chg="mod">
          <ac:chgData name="Kat Ragudos" userId="S::kat.ragudos@realpage.com::fa2688e3-404f-4469-939d-a0c2d069d1ee" providerId="AD" clId="Web-{EA236C86-9ED1-CC36-E3A9-C31197373F52}" dt="2026-08-30T22:59:18.874" v="1054" actId="1076"/>
          <ac:grpSpMkLst>
            <pc:docMk/>
            <pc:sldMk cId="789105403" sldId="273"/>
            <ac:grpSpMk id="3" creationId="{4C28FB4F-67CE-7E69-2F9D-16F81B65760E}"/>
          </ac:grpSpMkLst>
        </pc:grpChg>
        <pc:grpChg chg="del">
          <ac:chgData name="Kat Ragudos" userId="S::kat.ragudos@realpage.com::fa2688e3-404f-4469-939d-a0c2d069d1ee" providerId="AD" clId="Web-{EA236C86-9ED1-CC36-E3A9-C31197373F52}" dt="2026-08-30T22:30:37.355" v="30"/>
          <ac:grpSpMkLst>
            <pc:docMk/>
            <pc:sldMk cId="789105403" sldId="273"/>
            <ac:grpSpMk id="6" creationId="{7C338BF4-5EFF-BBFD-79AF-32A2FB80288E}"/>
          </ac:grpSpMkLst>
        </pc:grpChg>
        <pc:grpChg chg="add mod">
          <ac:chgData name="Kat Ragudos" userId="S::kat.ragudos@realpage.com::fa2688e3-404f-4469-939d-a0c2d069d1ee" providerId="AD" clId="Web-{EA236C86-9ED1-CC36-E3A9-C31197373F52}" dt="2026-08-30T22:59:10.499" v="1053" actId="14100"/>
          <ac:grpSpMkLst>
            <pc:docMk/>
            <pc:sldMk cId="789105403" sldId="273"/>
            <ac:grpSpMk id="10" creationId="{F105A7CD-8992-C8FF-07EA-8B6FE314F215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26783-DA5E-721C-E003-64EF464D700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877300" y="63500"/>
            <a:ext cx="5540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7E4FA-4885-DCB6-6D20-FA51AE04601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99450" y="10071100"/>
            <a:ext cx="171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For RealPage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139859"/>
            <a:ext cx="11038576" cy="51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8"/>
              </a:lnSpc>
            </a:pPr>
            <a:r>
              <a:rPr lang="en-US" sz="10546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Engagement Management Add-On Process</a:t>
            </a:r>
          </a:p>
        </p:txBody>
      </p:sp>
      <p:sp>
        <p:nvSpPr>
          <p:cNvPr id="3" name="Freeform 3"/>
          <p:cNvSpPr/>
          <p:nvPr/>
        </p:nvSpPr>
        <p:spPr>
          <a:xfrm>
            <a:off x="12230523" y="909638"/>
            <a:ext cx="7631084" cy="8229600"/>
          </a:xfrm>
          <a:custGeom>
            <a:avLst/>
            <a:gdLst/>
            <a:ahLst/>
            <a:cxnLst/>
            <a:rect l="l" t="t" r="r" b="b"/>
            <a:pathLst>
              <a:path w="7631084" h="8229600">
                <a:moveTo>
                  <a:pt x="0" y="0"/>
                </a:moveTo>
                <a:lnTo>
                  <a:pt x="7631084" y="0"/>
                </a:lnTo>
                <a:lnTo>
                  <a:pt x="7631084" y="8229599"/>
                </a:lnTo>
                <a:lnTo>
                  <a:pt x="0" y="8229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8656801"/>
            <a:ext cx="3926663" cy="482436"/>
          </a:xfrm>
          <a:custGeom>
            <a:avLst/>
            <a:gdLst/>
            <a:ahLst/>
            <a:cxnLst/>
            <a:rect l="l" t="t" r="r" b="b"/>
            <a:pathLst>
              <a:path w="3926663" h="482436">
                <a:moveTo>
                  <a:pt x="0" y="0"/>
                </a:moveTo>
                <a:lnTo>
                  <a:pt x="3926663" y="0"/>
                </a:lnTo>
                <a:lnTo>
                  <a:pt x="3926663" y="482436"/>
                </a:lnTo>
                <a:lnTo>
                  <a:pt x="0" y="482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09650"/>
            <a:ext cx="3062468" cy="237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  <a:spcBef>
                <a:spcPct val="0"/>
              </a:spcBef>
            </a:pPr>
            <a:r>
              <a:rPr lang="en-US" sz="1550" spc="-63">
                <a:solidFill>
                  <a:srgbClr val="082649"/>
                </a:solidFill>
                <a:latin typeface="Poppins"/>
                <a:cs typeface="Poppins"/>
                <a:sym typeface="Poppins"/>
              </a:rPr>
              <a:t>RealPage Philippines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81277" y="7496356"/>
            <a:ext cx="3219954" cy="5983023"/>
          </a:xfrm>
          <a:custGeom>
            <a:avLst/>
            <a:gdLst/>
            <a:ahLst/>
            <a:cxnLst/>
            <a:rect l="l" t="t" r="r" b="b"/>
            <a:pathLst>
              <a:path w="3219954" h="5983023">
                <a:moveTo>
                  <a:pt x="0" y="0"/>
                </a:moveTo>
                <a:lnTo>
                  <a:pt x="3219954" y="0"/>
                </a:lnTo>
                <a:lnTo>
                  <a:pt x="3219954" y="5983023"/>
                </a:lnTo>
                <a:lnTo>
                  <a:pt x="0" y="5983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975459" y="6683296"/>
            <a:ext cx="4647105" cy="4114800"/>
          </a:xfrm>
          <a:custGeom>
            <a:avLst/>
            <a:gdLst/>
            <a:ahLst/>
            <a:cxnLst/>
            <a:rect l="l" t="t" r="r" b="b"/>
            <a:pathLst>
              <a:path w="4647105" h="4114800">
                <a:moveTo>
                  <a:pt x="4647105" y="0"/>
                </a:moveTo>
                <a:lnTo>
                  <a:pt x="0" y="0"/>
                </a:lnTo>
                <a:lnTo>
                  <a:pt x="0" y="4114800"/>
                </a:lnTo>
                <a:lnTo>
                  <a:pt x="4647105" y="4114800"/>
                </a:lnTo>
                <a:lnTo>
                  <a:pt x="46471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71828" y="585271"/>
            <a:ext cx="12544344" cy="2270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70"/>
              </a:lnSpc>
            </a:pPr>
            <a:r>
              <a:rPr lang="en-US" sz="9000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New Logo vs Expansion vs Add-on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191268" y="3144977"/>
            <a:ext cx="13905465" cy="5808457"/>
            <a:chOff x="0" y="-9525"/>
            <a:chExt cx="18540620" cy="774461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2698963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63"/>
                </a:lnSpc>
                <a:spcBef>
                  <a:spcPct val="0"/>
                </a:spcBef>
              </a:pPr>
              <a:r>
                <a:rPr lang="en-US" sz="2303" b="1" spc="-92">
                  <a:solidFill>
                    <a:srgbClr val="08264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New Logo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70040"/>
              <a:ext cx="5222856" cy="225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28"/>
                </a:lnSpc>
                <a:spcBef>
                  <a:spcPct val="0"/>
                </a:spcBef>
              </a:pPr>
              <a:r>
                <a:rPr lang="en-US" sz="2150" u="none" strike="noStrike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A customer that is completely new to RealPage and has not </a:t>
              </a:r>
              <a:r>
                <a:rPr lang="en-US" sz="2150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previously licensed</a:t>
              </a:r>
              <a:r>
                <a:rPr lang="en-US" sz="2150" u="none" strike="noStrike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or utilized any RealPage products or services.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58882" y="-9525"/>
              <a:ext cx="19965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63"/>
                </a:lnSpc>
                <a:spcBef>
                  <a:spcPct val="0"/>
                </a:spcBef>
              </a:pPr>
              <a:r>
                <a:rPr lang="en-US" sz="2303" b="1" spc="-92">
                  <a:solidFill>
                    <a:srgbClr val="08264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Expansion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58882" y="728847"/>
              <a:ext cx="5222856" cy="2695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28"/>
                </a:lnSpc>
                <a:spcBef>
                  <a:spcPct val="0"/>
                </a:spcBef>
              </a:pPr>
              <a:r>
                <a:rPr lang="en-US" sz="2150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An</a:t>
              </a:r>
              <a:r>
                <a:rPr lang="en-US" sz="2150" u="none" strike="noStrike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existing RealPage client (Property Management Company) that </a:t>
              </a:r>
              <a:r>
                <a:rPr lang="en-US" sz="2150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is adopting</a:t>
              </a:r>
              <a:r>
                <a:rPr lang="en-US" sz="2150" u="none" strike="noStrike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an additional solution for the first time, expanding beyond their </a:t>
              </a:r>
              <a:r>
                <a:rPr lang="en-US" sz="2150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currently licensed</a:t>
              </a:r>
              <a:r>
                <a:rPr lang="en-US" sz="2150" u="none" strike="noStrike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products.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17764" y="-9525"/>
              <a:ext cx="3640902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63"/>
                </a:lnSpc>
                <a:spcBef>
                  <a:spcPct val="0"/>
                </a:spcBef>
              </a:pPr>
              <a:r>
                <a:rPr lang="en-US" sz="2303" b="1" spc="-92">
                  <a:solidFill>
                    <a:srgbClr val="08264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Add-On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17764" y="728847"/>
              <a:ext cx="5222856" cy="2659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28"/>
                </a:lnSpc>
                <a:spcBef>
                  <a:spcPct val="0"/>
                </a:spcBef>
              </a:pPr>
              <a:r>
                <a:rPr lang="en-US" sz="2150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An </a:t>
              </a:r>
              <a:r>
                <a:rPr lang="en-US" sz="2150" u="none" strike="noStrike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existing RealPage client that already licenses a specific product and </a:t>
              </a:r>
              <a:r>
                <a:rPr lang="en-US" sz="2150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is extending</a:t>
              </a:r>
              <a:r>
                <a:rPr lang="en-US" sz="2150" u="none" strike="noStrike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its use by onboarding additional </a:t>
              </a:r>
              <a:r>
                <a:rPr lang="en-US" sz="2150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properties</a:t>
              </a:r>
              <a:r>
                <a:rPr lang="en-US" sz="2150" u="none" strike="noStrike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or sites to that same solution.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8882" y="4118332"/>
              <a:ext cx="4823558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63"/>
                </a:lnSpc>
                <a:spcBef>
                  <a:spcPct val="0"/>
                </a:spcBef>
              </a:pPr>
              <a:r>
                <a:rPr lang="en-US" sz="2303" b="1" spc="-92">
                  <a:solidFill>
                    <a:srgbClr val="08264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Add-On with Expansion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58882" y="5039510"/>
              <a:ext cx="5222856" cy="2695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28"/>
                </a:lnSpc>
                <a:spcBef>
                  <a:spcPct val="0"/>
                </a:spcBef>
              </a:pPr>
              <a:r>
                <a:rPr lang="en-US" sz="2190" u="none" strike="noStrike" spc="-87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An existing RealPage client that is both expanding usage of an existing product to additional properties while also implementing a new solution for the first time.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34153" y="36670"/>
          <a:ext cx="11587774" cy="10250331"/>
        </p:xfrm>
        <a:graphic>
          <a:graphicData uri="http://schemas.openxmlformats.org/drawingml/2006/table">
            <a:tbl>
              <a:tblPr/>
              <a:tblGrid>
                <a:gridCol w="2754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493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NEW LOGO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ADD-ONS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EXPANSION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493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CLIENT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New to RealPage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Existing client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Existing client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9609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SCOPE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Initial Platform adoption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New property with same or smaller product stack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Adding new products or solutions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493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CONSULTING ORDERS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Required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Usually not required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Required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493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DISCOVERY CALLS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Typically not needed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49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ADOPTION MILESTONES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649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CLIENT SUPPORT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 touch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Typically Low Touch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High/Medium Touch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5702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TRAINING / WORKSHOPS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Almost always needed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If needed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Highly Recommended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17984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DELIVERABLES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Heavy lift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Lighter; can mirror other sites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Heavy lift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58078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TIMELINE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Longer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Faster (sometimes ASAP)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Depends on number of products and 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2111720" y="2775218"/>
            <a:ext cx="5901453" cy="486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7"/>
              </a:lnSpc>
            </a:pPr>
            <a:r>
              <a:rPr lang="en-US" sz="7997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New Logo vs Expansion vs </a:t>
            </a:r>
          </a:p>
          <a:p>
            <a:pPr algn="l">
              <a:lnSpc>
                <a:spcPts val="7437"/>
              </a:lnSpc>
            </a:pPr>
            <a:r>
              <a:rPr lang="en-US" sz="7997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Add-On​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4748" y="3030343"/>
            <a:ext cx="6325313" cy="4910743"/>
          </a:xfrm>
          <a:custGeom>
            <a:avLst/>
            <a:gdLst/>
            <a:ahLst/>
            <a:cxnLst/>
            <a:rect l="l" t="t" r="r" b="b"/>
            <a:pathLst>
              <a:path w="6325313" h="4910743">
                <a:moveTo>
                  <a:pt x="0" y="0"/>
                </a:moveTo>
                <a:lnTo>
                  <a:pt x="6325314" y="0"/>
                </a:lnTo>
                <a:lnTo>
                  <a:pt x="6325314" y="4910744"/>
                </a:lnTo>
                <a:lnTo>
                  <a:pt x="0" y="49107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62050"/>
            <a:ext cx="9242105" cy="1084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65"/>
              </a:lnSpc>
            </a:pPr>
            <a:r>
              <a:rPr lang="en-US" sz="8027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Add-On Journey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03024" y="3033945"/>
            <a:ext cx="7951365" cy="4514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830" lvl="1" indent="-399415" algn="l">
              <a:lnSpc>
                <a:spcPts val="4442"/>
              </a:lnSpc>
              <a:buFont typeface="Arial"/>
              <a:buChar char="•"/>
            </a:pPr>
            <a:r>
              <a:rPr lang="en-US" sz="3701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New Project Assignment​</a:t>
            </a:r>
            <a:endParaRPr lang="en-US">
              <a:ea typeface="Calibri"/>
              <a:cs typeface="Calibri"/>
            </a:endParaRPr>
          </a:p>
          <a:p>
            <a:pPr marL="798830" lvl="1" indent="-399415">
              <a:lnSpc>
                <a:spcPts val="4442"/>
              </a:lnSpc>
              <a:buFont typeface="Arial"/>
              <a:buChar char="•"/>
            </a:pPr>
            <a:r>
              <a:rPr lang="en-US" sz="3700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Research </a:t>
            </a:r>
            <a:endParaRPr lang="en-US" sz="3700" spc="-148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798830" lvl="1" indent="-399415">
              <a:lnSpc>
                <a:spcPts val="4442"/>
              </a:lnSpc>
              <a:buFont typeface="Arial"/>
              <a:buChar char="•"/>
            </a:pPr>
            <a:r>
              <a:rPr lang="en-US" sz="3700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lang="en-US" sz="3700" spc="-148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798830" lvl="1" indent="-399415">
              <a:lnSpc>
                <a:spcPts val="4442"/>
              </a:lnSpc>
              <a:buFont typeface="Arial"/>
              <a:buChar char="•"/>
            </a:pPr>
            <a:r>
              <a:rPr lang="en-US" sz="3700" spc="-148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Data Collection</a:t>
            </a:r>
            <a:endParaRPr lang="en-US" sz="3701" spc="-148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798830" lvl="1" indent="-399415" algn="l">
              <a:lnSpc>
                <a:spcPts val="4442"/>
              </a:lnSpc>
              <a:buFont typeface="Arial"/>
              <a:buChar char="•"/>
            </a:pPr>
            <a:r>
              <a:rPr lang="en-US" sz="3700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Scheduling Implementations​</a:t>
            </a:r>
            <a:endParaRPr lang="en-US" sz="3700" spc="-148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798830" lvl="1" indent="-399415" algn="l">
              <a:lnSpc>
                <a:spcPts val="4442"/>
              </a:lnSpc>
              <a:buFont typeface="Arial"/>
              <a:buChar char="•"/>
            </a:pPr>
            <a:r>
              <a:rPr lang="en-US" sz="3701" u="none" strike="noStrike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Issues, Questions. Escalations​</a:t>
            </a:r>
            <a:endParaRPr lang="en-US" sz="3701" u="none" strike="noStrike" spc="-148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798830" lvl="1" indent="-399415" algn="l">
              <a:lnSpc>
                <a:spcPts val="4442"/>
              </a:lnSpc>
              <a:buFont typeface="Arial"/>
              <a:buChar char="•"/>
            </a:pPr>
            <a:r>
              <a:rPr lang="en-US" sz="3701" u="none" strike="noStrike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End of Engagement</a:t>
            </a:r>
            <a:endParaRPr lang="en-US" sz="3701" u="none" strike="noStrike" spc="-148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4442"/>
              </a:lnSpc>
            </a:pPr>
            <a:endParaRPr lang="en-US" sz="3701" u="none" strike="noStrike" spc="-148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62050"/>
            <a:ext cx="9264059" cy="2005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72"/>
              </a:lnSpc>
            </a:pPr>
            <a:r>
              <a:rPr lang="en-US" sz="7927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New Project Assignment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3834546"/>
            <a:ext cx="6779692" cy="5423754"/>
          </a:xfrm>
          <a:custGeom>
            <a:avLst/>
            <a:gdLst/>
            <a:ahLst/>
            <a:cxnLst/>
            <a:rect l="l" t="t" r="r" b="b"/>
            <a:pathLst>
              <a:path w="6779692" h="5423754">
                <a:moveTo>
                  <a:pt x="0" y="0"/>
                </a:moveTo>
                <a:lnTo>
                  <a:pt x="6779692" y="0"/>
                </a:lnTo>
                <a:lnTo>
                  <a:pt x="6779692" y="5423754"/>
                </a:lnTo>
                <a:lnTo>
                  <a:pt x="0" y="5423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688371" y="3341676"/>
            <a:ext cx="8574468" cy="5078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830" lvl="1" indent="-399415" algn="l">
              <a:lnSpc>
                <a:spcPts val="4442"/>
              </a:lnSpc>
              <a:buFont typeface="Arial"/>
              <a:buChar char="•"/>
            </a:pPr>
            <a:r>
              <a:rPr lang="en-US" sz="3701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Your manager informs you of a new assignment​</a:t>
            </a:r>
            <a:endParaRPr lang="en-US"/>
          </a:p>
          <a:p>
            <a:pPr marL="798830" lvl="1" indent="-399415" algn="l">
              <a:lnSpc>
                <a:spcPts val="4442"/>
              </a:lnSpc>
              <a:buFont typeface="Arial"/>
              <a:buChar char="•"/>
            </a:pPr>
            <a:r>
              <a:rPr lang="en-US" sz="3700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You receive an email from </a:t>
            </a:r>
            <a:r>
              <a:rPr lang="en-US" sz="3700" spc="-148" err="1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RealPageEngaged</a:t>
            </a:r>
            <a:r>
              <a:rPr lang="en-US" sz="3700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​***</a:t>
            </a:r>
            <a:endParaRPr lang="en-US" sz="3701" spc="-148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798830" lvl="1" indent="-399415">
              <a:lnSpc>
                <a:spcPts val="4442"/>
              </a:lnSpc>
              <a:buFont typeface="Arial"/>
              <a:buChar char="•"/>
            </a:pPr>
            <a:r>
              <a:rPr lang="en-US" sz="3700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Your current PMC informs you of a new acquisition​</a:t>
            </a:r>
            <a:endParaRPr lang="en-US" sz="3700" spc="-148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798830" lvl="1" indent="-399415">
              <a:lnSpc>
                <a:spcPts val="4442"/>
              </a:lnSpc>
              <a:buFont typeface="Arial"/>
              <a:buChar char="•"/>
            </a:pPr>
            <a:r>
              <a:rPr lang="en-US" sz="3700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3700" u="none" strike="noStrike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ou takeover a project from another </a:t>
            </a:r>
            <a:r>
              <a:rPr lang="en-US" sz="3700" spc="-148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EM/EC</a:t>
            </a:r>
            <a:endParaRPr lang="en-US" sz="3701" u="none" strike="noStrike" spc="-148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4442"/>
              </a:lnSpc>
            </a:pPr>
            <a:endParaRPr lang="en-US" sz="3701" u="none" strike="noStrike" spc="-148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528" y="7409272"/>
            <a:ext cx="12852426" cy="2368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43"/>
              </a:lnSpc>
            </a:pPr>
            <a:r>
              <a:rPr lang="en-US" sz="9700" b="1">
                <a:solidFill>
                  <a:srgbClr val="082649"/>
                </a:solidFill>
                <a:latin typeface="Poppins Bold"/>
                <a:cs typeface="Poppins Bold"/>
              </a:rPr>
              <a:t>PMC &amp; Order </a:t>
            </a:r>
            <a:endParaRPr lang="en-US" sz="8000" b="1">
              <a:solidFill>
                <a:srgbClr val="082649"/>
              </a:solidFill>
              <a:latin typeface="Poppins Bold"/>
              <a:cs typeface="Poppins Bold"/>
            </a:endParaRPr>
          </a:p>
          <a:p>
            <a:pPr>
              <a:lnSpc>
                <a:spcPts val="9043"/>
              </a:lnSpc>
            </a:pPr>
            <a:r>
              <a:rPr lang="en-US" sz="9700" b="1">
                <a:solidFill>
                  <a:srgbClr val="082649"/>
                </a:solidFill>
                <a:latin typeface="Poppins Bold"/>
                <a:cs typeface="Poppins Bold"/>
              </a:rPr>
              <a:t>Review </a:t>
            </a:r>
            <a:r>
              <a:rPr lang="en-US" sz="8000" b="1">
                <a:solidFill>
                  <a:srgbClr val="082649"/>
                </a:solidFill>
                <a:latin typeface="Poppins Bold"/>
                <a:cs typeface="Poppins Bold"/>
              </a:rPr>
              <a:t>(Research)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59777" y="650237"/>
            <a:ext cx="5641151" cy="6275549"/>
            <a:chOff x="0" y="-28575"/>
            <a:chExt cx="7521534" cy="8367399"/>
          </a:xfrm>
        </p:grpSpPr>
        <p:sp>
          <p:nvSpPr>
            <p:cNvPr id="4" name="TextBox 4"/>
            <p:cNvSpPr txBox="1"/>
            <p:nvPr/>
          </p:nvSpPr>
          <p:spPr>
            <a:xfrm>
              <a:off x="0" y="688353"/>
              <a:ext cx="7521534" cy="7650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Signed order forms</a:t>
              </a:r>
            </a:p>
            <a:p>
              <a:pPr marL="952500" lvl="2" indent="-247650">
                <a:lnSpc>
                  <a:spcPts val="2756"/>
                </a:lnSpc>
                <a:spcBef>
                  <a:spcPct val="0"/>
                </a:spcBef>
                <a:buFont typeface="Wingdings"/>
                <a:buChar char="§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Watch out for consulting orders</a:t>
              </a:r>
            </a:p>
            <a:p>
              <a:pPr marL="952500" lvl="2" indent="-247650">
                <a:lnSpc>
                  <a:spcPts val="2756"/>
                </a:lnSpc>
                <a:spcBef>
                  <a:spcPct val="0"/>
                </a:spcBef>
                <a:buFont typeface="Wingdings"/>
                <a:buChar char="§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Determine assignment timelines</a:t>
              </a:r>
            </a:p>
            <a:p>
              <a:pPr marL="704850" lvl="2">
                <a:lnSpc>
                  <a:spcPts val="2756"/>
                </a:lnSpc>
                <a:spcBef>
                  <a:spcPct val="0"/>
                </a:spcBef>
              </a:pPr>
              <a:endParaRPr lang="en-US" sz="2300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247650" lvl="1">
                <a:lnSpc>
                  <a:spcPts val="2756"/>
                </a:lnSpc>
                <a:spcBef>
                  <a:spcPct val="0"/>
                </a:spcBef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SALESFORCE</a:t>
              </a:r>
            </a:p>
            <a:p>
              <a:pPr marL="590550" lvl="1" indent="-34290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Order</a:t>
              </a:r>
              <a:r>
                <a:rPr lang="en-US" sz="2300" u="none" strike="noStrike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Request</a:t>
              </a:r>
              <a:endParaRPr lang="en-US" sz="23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marL="952500" lvl="2" indent="-247650">
                <a:lnSpc>
                  <a:spcPts val="2756"/>
                </a:lnSpc>
                <a:spcBef>
                  <a:spcPct val="0"/>
                </a:spcBef>
                <a:buFont typeface="Wingdings"/>
                <a:buChar char="§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details</a:t>
              </a:r>
              <a:r>
                <a:rPr lang="en-US" sz="2300" u="none" strike="noStrike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, chatter, revisions​</a:t>
              </a:r>
              <a:endParaRPr lang="en-US" sz="2300">
                <a:ea typeface="Calibri"/>
                <a:cs typeface="Calibri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Property Implementation Orders</a:t>
              </a:r>
              <a:endParaRPr lang="en-US" sz="2300" u="none" strike="noStrike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Backlog Report</a:t>
              </a:r>
            </a:p>
            <a:p>
              <a:pPr marL="247650" lvl="1">
                <a:lnSpc>
                  <a:spcPts val="2756"/>
                </a:lnSpc>
                <a:spcBef>
                  <a:spcPct val="0"/>
                </a:spcBef>
              </a:pPr>
              <a:endParaRPr lang="en-US" sz="2300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Create/Update project tracker</a:t>
              </a: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Review </a:t>
              </a:r>
              <a:r>
                <a:rPr lang="en-US" sz="2300" u="none" strike="noStrike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order</a:t>
              </a: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history</a:t>
              </a:r>
              <a:r>
                <a:rPr lang="en-US" sz="2300" u="none" strike="noStrike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check </a:t>
              </a: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for any</a:t>
              </a:r>
              <a:r>
                <a:rPr lang="en-US" sz="2300" u="none" strike="noStrike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‘missing’ products​</a:t>
              </a:r>
              <a:endParaRPr lang="en-US" sz="2300" u="none" strike="noStrike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0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DATAHUB Questionnaires</a:t>
              </a: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endParaRPr lang="en-US" sz="2300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>
                <a:lnSpc>
                  <a:spcPts val="2756"/>
                </a:lnSpc>
                <a:spcBef>
                  <a:spcPct val="0"/>
                </a:spcBef>
              </a:pPr>
              <a:endParaRPr lang="en-US" sz="2296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70053" cy="4844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0"/>
                </a:lnSpc>
                <a:spcBef>
                  <a:spcPct val="0"/>
                </a:spcBef>
              </a:pPr>
              <a:r>
                <a:rPr lang="en-US" sz="2350" i="1" spc="-95">
                  <a:solidFill>
                    <a:srgbClr val="08264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Review Orders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28356" y="650237"/>
            <a:ext cx="5110015" cy="4486251"/>
            <a:chOff x="0" y="-28575"/>
            <a:chExt cx="6813354" cy="5981669"/>
          </a:xfrm>
        </p:grpSpPr>
        <p:sp>
          <p:nvSpPr>
            <p:cNvPr id="7" name="TextBox 7"/>
            <p:cNvSpPr txBox="1"/>
            <p:nvPr/>
          </p:nvSpPr>
          <p:spPr>
            <a:xfrm>
              <a:off x="0" y="678829"/>
              <a:ext cx="6813354" cy="5274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,Sans-Serif"/>
                <a:buChar char="•"/>
              </a:pPr>
              <a:r>
                <a:rPr lang="en-US" sz="2300" spc="-95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Get insights from previous EM</a:t>
              </a:r>
              <a:endParaRPr lang="en-US" sz="2300" spc="-95">
                <a:solidFill>
                  <a:srgbClr val="000000"/>
                </a:solidFill>
                <a:latin typeface="Poppins"/>
                <a:ea typeface="Poppins"/>
                <a:cs typeface="Poppins"/>
              </a:endParaRPr>
            </a:p>
            <a:p>
              <a:pPr marL="247650" lvl="1">
                <a:lnSpc>
                  <a:spcPts val="2756"/>
                </a:lnSpc>
                <a:spcBef>
                  <a:spcPct val="0"/>
                </a:spcBef>
              </a:pPr>
              <a:endParaRPr lang="en-US" sz="2300" spc="-95">
                <a:solidFill>
                  <a:srgbClr val="000000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,Sans-Serif"/>
                <a:buChar char="•"/>
              </a:pPr>
              <a:r>
                <a:rPr lang="en-US" sz="2300" spc="-95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Connect with your Sales Rep – Sales prep email template/call</a:t>
              </a:r>
              <a:endParaRPr lang="en-US" sz="2300" spc="-95" err="1">
                <a:solidFill>
                  <a:srgbClr val="000000"/>
                </a:solidFill>
                <a:latin typeface="Poppins"/>
                <a:ea typeface="Poppins"/>
                <a:cs typeface="Poppins"/>
              </a:endParaRPr>
            </a:p>
            <a:p>
              <a:pPr marL="247650" lvl="1">
                <a:lnSpc>
                  <a:spcPts val="2756"/>
                </a:lnSpc>
                <a:spcBef>
                  <a:spcPct val="0"/>
                </a:spcBef>
              </a:pPr>
              <a:endParaRPr lang="en-US" sz="2300" spc="-95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,Sans-Serif"/>
                <a:buChar char="•"/>
              </a:pPr>
              <a:r>
                <a:rPr lang="en-US" sz="2300" spc="-95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Review PMC account page in Salesforce</a:t>
              </a:r>
              <a:endParaRPr lang="en-US" sz="2300" spc="-95">
                <a:solidFill>
                  <a:srgbClr val="000000"/>
                </a:solidFill>
                <a:latin typeface="Poppins"/>
                <a:ea typeface="Poppins"/>
                <a:cs typeface="Poppins"/>
              </a:endParaRPr>
            </a:p>
            <a:p>
              <a:pPr marL="247650" lvl="1">
                <a:lnSpc>
                  <a:spcPts val="2756"/>
                </a:lnSpc>
                <a:spcBef>
                  <a:spcPct val="0"/>
                </a:spcBef>
              </a:pPr>
              <a:endParaRPr lang="en-US" sz="2300" spc="-95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,Sans-Serif"/>
                <a:buChar char="•"/>
              </a:pPr>
              <a:r>
                <a:rPr lang="en-US" sz="2300" spc="-95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Review ongoing email threads with scheduling or sales</a:t>
              </a:r>
              <a:endParaRPr lang="en-US" sz="230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>
                <a:lnSpc>
                  <a:spcPts val="2876"/>
                </a:lnSpc>
                <a:spcBef>
                  <a:spcPct val="0"/>
                </a:spcBef>
              </a:pPr>
              <a:endParaRPr lang="en-US" sz="2396" spc="-95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5471289" cy="482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50"/>
                </a:lnSpc>
                <a:spcBef>
                  <a:spcPct val="0"/>
                </a:spcBef>
              </a:pPr>
              <a:r>
                <a:rPr lang="en-US" sz="2350" i="1" spc="-95">
                  <a:solidFill>
                    <a:srgbClr val="082649"/>
                  </a:solidFill>
                  <a:latin typeface="Poppins Italics"/>
                  <a:cs typeface="Poppins Italics"/>
                  <a:sym typeface="Poppins Italics"/>
                </a:rPr>
                <a:t>Get to know your client</a:t>
              </a:r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2137320" y="5028750"/>
            <a:ext cx="5535997" cy="4630107"/>
          </a:xfrm>
          <a:custGeom>
            <a:avLst/>
            <a:gdLst/>
            <a:ahLst/>
            <a:cxnLst/>
            <a:rect l="l" t="t" r="r" b="b"/>
            <a:pathLst>
              <a:path w="5535997" h="4630107">
                <a:moveTo>
                  <a:pt x="0" y="0"/>
                </a:moveTo>
                <a:lnTo>
                  <a:pt x="5535997" y="0"/>
                </a:lnTo>
                <a:lnTo>
                  <a:pt x="5535997" y="4630107"/>
                </a:lnTo>
                <a:lnTo>
                  <a:pt x="0" y="4630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0EE9901F-17EF-78CC-3C3C-6790BC398CFD}"/>
              </a:ext>
            </a:extLst>
          </p:cNvPr>
          <p:cNvGrpSpPr/>
          <p:nvPr/>
        </p:nvGrpSpPr>
        <p:grpSpPr>
          <a:xfrm>
            <a:off x="12628701" y="650237"/>
            <a:ext cx="5110015" cy="4845324"/>
            <a:chOff x="0" y="-28575"/>
            <a:chExt cx="6813354" cy="6460433"/>
          </a:xfrm>
        </p:grpSpPr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EFE3A2EC-C19C-11D0-E2EF-0F89E5856842}"/>
                </a:ext>
              </a:extLst>
            </p:cNvPr>
            <p:cNvSpPr txBox="1"/>
            <p:nvPr/>
          </p:nvSpPr>
          <p:spPr>
            <a:xfrm>
              <a:off x="0" y="678829"/>
              <a:ext cx="6813354" cy="5753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,Sans-Serif"/>
                <a:buChar char="•"/>
              </a:pPr>
              <a:r>
                <a:rPr lang="en-US" sz="2300" spc="-95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Conversion may be scheduled before you get assigned</a:t>
              </a:r>
            </a:p>
            <a:p>
              <a:pPr marL="247650" lvl="1">
                <a:lnSpc>
                  <a:spcPts val="2756"/>
                </a:lnSpc>
                <a:spcBef>
                  <a:spcPct val="0"/>
                </a:spcBef>
              </a:pPr>
              <a:endParaRPr lang="en-US" sz="2300" spc="-95">
                <a:solidFill>
                  <a:srgbClr val="000000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,Sans-Serif"/>
                <a:buChar char="•"/>
              </a:pPr>
              <a:r>
                <a:rPr lang="en-US" sz="2300" spc="-95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Check CSR (Conversion Service Request) in the Property Page</a:t>
              </a:r>
              <a:endParaRPr lang="en-US" sz="2300" spc="-95">
                <a:solidFill>
                  <a:srgbClr val="000000"/>
                </a:solidFill>
                <a:latin typeface="Poppins"/>
                <a:ea typeface="Poppins"/>
                <a:cs typeface="Poppins"/>
              </a:endParaRPr>
            </a:p>
            <a:p>
              <a:pPr marL="247650" lvl="1">
                <a:lnSpc>
                  <a:spcPts val="2756"/>
                </a:lnSpc>
                <a:spcBef>
                  <a:spcPct val="0"/>
                </a:spcBef>
              </a:pPr>
              <a:endParaRPr lang="en-US" sz="2300" spc="-95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,Sans-Serif"/>
                <a:buChar char="•"/>
              </a:pPr>
              <a:r>
                <a:rPr lang="en-US" sz="2300" spc="-95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Determine assigned IA (Implementation Analyst)</a:t>
              </a:r>
              <a:endParaRPr lang="en-US" sz="2300" spc="-95">
                <a:solidFill>
                  <a:srgbClr val="000000"/>
                </a:solidFill>
                <a:latin typeface="Poppins"/>
                <a:ea typeface="Poppins"/>
                <a:cs typeface="Poppins"/>
              </a:endParaRPr>
            </a:p>
            <a:p>
              <a:pPr marL="247650" lvl="1">
                <a:lnSpc>
                  <a:spcPts val="2756"/>
                </a:lnSpc>
                <a:spcBef>
                  <a:spcPct val="0"/>
                </a:spcBef>
              </a:pPr>
              <a:endParaRPr lang="en-US" sz="2300" spc="-95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,Sans-Serif"/>
                <a:buChar char="•"/>
              </a:pPr>
              <a:r>
                <a:rPr lang="en-US" sz="2300" spc="-95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Reach out to IA to loop you in on all emails</a:t>
              </a:r>
              <a:endParaRPr lang="en-US" sz="230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>
                <a:lnSpc>
                  <a:spcPts val="2876"/>
                </a:lnSpc>
                <a:spcBef>
                  <a:spcPct val="0"/>
                </a:spcBef>
              </a:pPr>
              <a:endParaRPr lang="en-US" sz="2396" spc="-95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</p:txBody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087B9265-87FF-7F38-0500-5C7B3CC3DC17}"/>
                </a:ext>
              </a:extLst>
            </p:cNvPr>
            <p:cNvSpPr txBox="1"/>
            <p:nvPr/>
          </p:nvSpPr>
          <p:spPr>
            <a:xfrm>
              <a:off x="0" y="-28575"/>
              <a:ext cx="5471289" cy="482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50"/>
                </a:lnSpc>
                <a:spcBef>
                  <a:spcPct val="0"/>
                </a:spcBef>
              </a:pPr>
              <a:r>
                <a:rPr lang="en-US" sz="2350" i="1" spc="-95">
                  <a:solidFill>
                    <a:srgbClr val="082649"/>
                  </a:solidFill>
                  <a:latin typeface="Poppins Italics"/>
                  <a:cs typeface="Poppins Italics"/>
                </a:rPr>
                <a:t>RP CONVERSIONS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56E4-8DAF-55BB-31EA-FFFDD463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A4069E6-298E-CFF7-793A-7747F8E5E69F}"/>
              </a:ext>
            </a:extLst>
          </p:cNvPr>
          <p:cNvSpPr txBox="1"/>
          <p:nvPr/>
        </p:nvSpPr>
        <p:spPr>
          <a:xfrm>
            <a:off x="9932989" y="595234"/>
            <a:ext cx="11108620" cy="1213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43"/>
              </a:lnSpc>
            </a:pPr>
            <a:r>
              <a:rPr lang="en-US" sz="9700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EC Intro  </a:t>
            </a:r>
            <a:endParaRPr lang="en-US" sz="9700" b="1">
              <a:solidFill>
                <a:srgbClr val="082649"/>
              </a:solidFill>
              <a:latin typeface="Poppins Bold"/>
              <a:ea typeface="Poppins Bold"/>
              <a:cs typeface="Poppins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C28FB4F-67CE-7E69-2F9D-16F81B65760E}"/>
              </a:ext>
            </a:extLst>
          </p:cNvPr>
          <p:cNvGrpSpPr/>
          <p:nvPr/>
        </p:nvGrpSpPr>
        <p:grpSpPr>
          <a:xfrm>
            <a:off x="940778" y="2159583"/>
            <a:ext cx="7253072" cy="2862047"/>
            <a:chOff x="0" y="-28575"/>
            <a:chExt cx="7521534" cy="2870080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B862EE3-540E-439B-3046-0D7627E3B683}"/>
                </a:ext>
              </a:extLst>
            </p:cNvPr>
            <p:cNvSpPr txBox="1"/>
            <p:nvPr/>
          </p:nvSpPr>
          <p:spPr>
            <a:xfrm>
              <a:off x="0" y="688353"/>
              <a:ext cx="7521534" cy="2153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0" spc="-91">
                  <a:solidFill>
                    <a:srgbClr val="082649"/>
                  </a:solidFill>
                  <a:latin typeface="Poppins"/>
                  <a:ea typeface="Calibri"/>
                  <a:cs typeface="Poppins"/>
                  <a:sym typeface="Poppins"/>
                </a:rPr>
                <a:t>Scheduling team will introduce you to the client</a:t>
              </a:r>
              <a:endParaRPr lang="en-US" sz="2250">
                <a:ea typeface="Calibri"/>
                <a:cs typeface="Calibri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0" spc="-91">
                  <a:solidFill>
                    <a:srgbClr val="082649"/>
                  </a:solidFill>
                  <a:latin typeface="Poppins"/>
                  <a:ea typeface="Calibri"/>
                  <a:cs typeface="Poppins"/>
                </a:rPr>
                <a:t>KO Email Template</a:t>
              </a:r>
              <a:endParaRPr lang="en-US" sz="2250" spc="-91">
                <a:solidFill>
                  <a:srgbClr val="082649"/>
                </a:solidFill>
                <a:latin typeface="Calibri"/>
                <a:ea typeface="Calibri"/>
                <a:cs typeface="Poppins"/>
                <a:sym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0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Always include Sales Rep</a:t>
              </a:r>
              <a:endParaRPr lang="en-US" sz="2250" u="none" strike="noStrike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0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Offer a KO meeting</a:t>
              </a:r>
              <a:endParaRPr lang="en-US" sz="2250" u="none" strike="noStrike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algn="l">
                <a:lnSpc>
                  <a:spcPts val="2756"/>
                </a:lnSpc>
                <a:spcBef>
                  <a:spcPct val="0"/>
                </a:spcBef>
              </a:pPr>
              <a:endParaRPr lang="en-US" sz="2296" u="none" strike="noStrike" spc="-91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4D5AD10-1230-303D-4990-E2D6C8B9B350}"/>
                </a:ext>
              </a:extLst>
            </p:cNvPr>
            <p:cNvSpPr txBox="1"/>
            <p:nvPr/>
          </p:nvSpPr>
          <p:spPr>
            <a:xfrm>
              <a:off x="0" y="-28575"/>
              <a:ext cx="4870053" cy="363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50"/>
                </a:lnSpc>
                <a:spcBef>
                  <a:spcPct val="0"/>
                </a:spcBef>
              </a:pPr>
              <a:r>
                <a:rPr lang="en-US" sz="2350" i="1" spc="-95">
                  <a:solidFill>
                    <a:srgbClr val="082649"/>
                  </a:solidFill>
                  <a:latin typeface="Poppins Italics"/>
                  <a:cs typeface="Poppins Italics"/>
                  <a:sym typeface="Poppins Italics"/>
                </a:rPr>
                <a:t>Kick off Email</a:t>
              </a:r>
              <a:endParaRPr lang="en-US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A11982C-8E97-3822-2E47-785CB27154AF}"/>
              </a:ext>
            </a:extLst>
          </p:cNvPr>
          <p:cNvSpPr/>
          <p:nvPr/>
        </p:nvSpPr>
        <p:spPr>
          <a:xfrm>
            <a:off x="9675474" y="2977212"/>
            <a:ext cx="7997843" cy="6505799"/>
          </a:xfrm>
          <a:custGeom>
            <a:avLst/>
            <a:gdLst/>
            <a:ahLst/>
            <a:cxnLst/>
            <a:rect l="l" t="t" r="r" b="b"/>
            <a:pathLst>
              <a:path w="5535997" h="4630107">
                <a:moveTo>
                  <a:pt x="0" y="0"/>
                </a:moveTo>
                <a:lnTo>
                  <a:pt x="5535997" y="0"/>
                </a:lnTo>
                <a:lnTo>
                  <a:pt x="5535997" y="4630107"/>
                </a:lnTo>
                <a:lnTo>
                  <a:pt x="0" y="4630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F105A7CD-8992-C8FF-07EA-8B6FE314F215}"/>
              </a:ext>
            </a:extLst>
          </p:cNvPr>
          <p:cNvGrpSpPr/>
          <p:nvPr/>
        </p:nvGrpSpPr>
        <p:grpSpPr>
          <a:xfrm>
            <a:off x="854281" y="5163622"/>
            <a:ext cx="7400176" cy="2700854"/>
            <a:chOff x="-168567" y="-57964"/>
            <a:chExt cx="8562294" cy="2708433"/>
          </a:xfrm>
        </p:grpSpPr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C61A442A-1418-2DA5-7FF0-9C5CD022D585}"/>
                </a:ext>
              </a:extLst>
            </p:cNvPr>
            <p:cNvSpPr txBox="1"/>
            <p:nvPr/>
          </p:nvSpPr>
          <p:spPr>
            <a:xfrm>
              <a:off x="-119158" y="497318"/>
              <a:ext cx="7521535" cy="2153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0" spc="-91">
                  <a:solidFill>
                    <a:srgbClr val="082649"/>
                  </a:solidFill>
                  <a:latin typeface="Poppins"/>
                  <a:ea typeface="Calibri"/>
                  <a:cs typeface="Poppins"/>
                  <a:sym typeface="Poppins"/>
                </a:rPr>
                <a:t>Client POC</a:t>
              </a:r>
              <a:endParaRPr lang="en-US" sz="2250">
                <a:ea typeface="Calibri"/>
                <a:cs typeface="Calibri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0" spc="-91">
                  <a:solidFill>
                    <a:srgbClr val="082649"/>
                  </a:solidFill>
                  <a:latin typeface="Poppins"/>
                  <a:ea typeface="Calibri"/>
                  <a:cs typeface="Poppins"/>
                </a:rPr>
                <a:t>Takeover Date</a:t>
              </a:r>
              <a:endParaRPr lang="en-US" sz="2250" spc="-91">
                <a:solidFill>
                  <a:srgbClr val="082649"/>
                </a:solidFill>
                <a:latin typeface="Calibri"/>
                <a:ea typeface="Calibri"/>
                <a:cs typeface="Poppins"/>
                <a:sym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Vacant or with Residents</a:t>
              </a:r>
              <a:endParaRPr lang="en-US" sz="2250" u="none" strike="noStrike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Client timeline (asap, long term)</a:t>
              </a:r>
            </a:p>
            <a:p>
              <a:pPr marL="495300" lvl="1" indent="-247650">
                <a:lnSpc>
                  <a:spcPts val="275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50" spc="-91">
                  <a:solidFill>
                    <a:srgbClr val="082649"/>
                  </a:solidFill>
                  <a:latin typeface="Poppins"/>
                  <a:ea typeface="Poppins"/>
                  <a:cs typeface="Poppins"/>
                </a:rPr>
                <a:t>Priority Solutions</a:t>
              </a:r>
              <a:endParaRPr lang="en-US" sz="2250" u="none" strike="noStrike" spc="-91">
                <a:solidFill>
                  <a:srgbClr val="082649"/>
                </a:solidFill>
                <a:latin typeface="Poppins"/>
                <a:ea typeface="Poppins"/>
                <a:cs typeface="Poppins"/>
              </a:endParaRPr>
            </a:p>
            <a:p>
              <a:pPr algn="l">
                <a:lnSpc>
                  <a:spcPts val="2756"/>
                </a:lnSpc>
                <a:spcBef>
                  <a:spcPct val="0"/>
                </a:spcBef>
              </a:pPr>
              <a:endParaRPr lang="en-US" sz="2296" u="none" strike="noStrike" spc="-91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664CC67E-CBC4-ABD7-A1F2-15FF9C26F4C2}"/>
                </a:ext>
              </a:extLst>
            </p:cNvPr>
            <p:cNvSpPr txBox="1"/>
            <p:nvPr/>
          </p:nvSpPr>
          <p:spPr>
            <a:xfrm>
              <a:off x="-168567" y="-57964"/>
              <a:ext cx="8562294" cy="3632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850"/>
                </a:lnSpc>
                <a:spcBef>
                  <a:spcPct val="0"/>
                </a:spcBef>
              </a:pPr>
              <a:r>
                <a:rPr lang="en-US" sz="2350" i="1" spc="-95">
                  <a:solidFill>
                    <a:srgbClr val="082649"/>
                  </a:solidFill>
                  <a:latin typeface="Poppins Italics"/>
                  <a:cs typeface="Poppins Italics"/>
                  <a:sym typeface="Poppins Italics"/>
                </a:rPr>
                <a:t>Important Information Relevant to Implementations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9105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19588" y="423611"/>
            <a:ext cx="6909174" cy="4387325"/>
          </a:xfrm>
          <a:custGeom>
            <a:avLst/>
            <a:gdLst/>
            <a:ahLst/>
            <a:cxnLst/>
            <a:rect l="l" t="t" r="r" b="b"/>
            <a:pathLst>
              <a:path w="6909174" h="4387325">
                <a:moveTo>
                  <a:pt x="0" y="0"/>
                </a:moveTo>
                <a:lnTo>
                  <a:pt x="6909174" y="0"/>
                </a:lnTo>
                <a:lnTo>
                  <a:pt x="6909174" y="4387325"/>
                </a:lnTo>
                <a:lnTo>
                  <a:pt x="0" y="43873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81100"/>
            <a:ext cx="9491063" cy="2443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8"/>
              </a:lnSpc>
            </a:pPr>
            <a:r>
              <a:rPr lang="en-US" sz="9600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Kickoff Meeting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363261"/>
            <a:ext cx="811530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7" lvl="1" indent="-226693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99" u="none" strike="noStrike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ntroduce yourself and your role​</a:t>
            </a:r>
          </a:p>
          <a:p>
            <a:pPr marL="453387" lvl="1" indent="-226693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Discuss project plan</a:t>
            </a:r>
          </a:p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endParaRPr lang="en-US" sz="2099" u="none" strike="noStrike" spc="-83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3901569"/>
            <a:ext cx="180668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2099" b="1" spc="-83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581650"/>
            <a:ext cx="8115300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7" lvl="1" indent="-226693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Det</a:t>
            </a:r>
            <a:r>
              <a:rPr lang="en-US" sz="2099" u="none" strike="noStrike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ermine takeover/closing date​</a:t>
            </a:r>
          </a:p>
          <a:p>
            <a:pPr marL="453387" lvl="1" indent="-226693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Schedule conversion​</a:t>
            </a:r>
          </a:p>
          <a:p>
            <a:pPr marL="453387" lvl="1" indent="-226693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You can obtain available conversion schedules prior to the call​</a:t>
            </a:r>
          </a:p>
          <a:p>
            <a:pPr marL="453387" lvl="1" indent="-226693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Take note of schedules that have limited slots</a:t>
            </a:r>
          </a:p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endParaRPr lang="en-US" sz="2099" u="none" strike="noStrike" spc="-83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124450"/>
            <a:ext cx="180668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2099" b="1" spc="-83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800975"/>
            <a:ext cx="811530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7" lvl="1" indent="-226693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99" u="none" strike="noStrike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iscuss product dependencies and timelines​</a:t>
            </a:r>
          </a:p>
          <a:p>
            <a:pPr marL="453387" lvl="1" indent="-226693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Discuss deliverables needed and provide due dates​</a:t>
            </a:r>
          </a:p>
          <a:p>
            <a:pPr marL="453387" lvl="1" indent="-226693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 spc="-8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Check for any missing orders</a:t>
            </a:r>
          </a:p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endParaRPr lang="en-US" sz="2099" u="none" strike="noStrike" spc="-83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7310438"/>
            <a:ext cx="270274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2099" b="1" spc="-83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Ancillary Products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016593" y="5143500"/>
            <a:ext cx="7851984" cy="3466018"/>
            <a:chOff x="0" y="0"/>
            <a:chExt cx="10469312" cy="462135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478704"/>
              <a:ext cx="10469312" cy="1200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797" lvl="1" indent="-215899" algn="l">
                <a:lnSpc>
                  <a:spcPts val="23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9" spc="-79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Q</a:t>
              </a:r>
              <a:r>
                <a:rPr lang="en-US" sz="1999" u="none" strike="noStrike" spc="-79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uick demo if needed​</a:t>
              </a:r>
            </a:p>
            <a:p>
              <a:pPr marL="431797" lvl="1" indent="-215899" algn="l">
                <a:lnSpc>
                  <a:spcPts val="23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9" u="none" strike="noStrike" spc="-79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Set the due dates in datahub</a:t>
              </a:r>
            </a:p>
            <a:p>
              <a:pPr marL="0" lvl="0" indent="0" algn="l">
                <a:lnSpc>
                  <a:spcPts val="2399"/>
                </a:lnSpc>
                <a:spcBef>
                  <a:spcPct val="0"/>
                </a:spcBef>
              </a:pPr>
              <a:endParaRPr lang="en-US" sz="1999" u="none" strike="noStrike" spc="-79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948625" cy="412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399"/>
                </a:lnSpc>
                <a:spcBef>
                  <a:spcPct val="0"/>
                </a:spcBef>
              </a:pPr>
              <a:r>
                <a:rPr lang="en-US" sz="1999" b="1" spc="-79">
                  <a:solidFill>
                    <a:srgbClr val="08264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DataHub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84558"/>
              <a:ext cx="10469312" cy="1200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797" lvl="1" indent="-215899" algn="l">
                <a:lnSpc>
                  <a:spcPts val="23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9" spc="-79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If</a:t>
              </a:r>
              <a:r>
                <a:rPr lang="en-US" sz="1999" u="none" strike="noStrike" spc="-79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 consulting is needed set expectations on assignment wait time​</a:t>
              </a:r>
            </a:p>
            <a:p>
              <a:pPr marL="0" lvl="0" indent="0" algn="l">
                <a:lnSpc>
                  <a:spcPts val="2399"/>
                </a:lnSpc>
                <a:spcBef>
                  <a:spcPct val="0"/>
                </a:spcBef>
              </a:pPr>
              <a:endParaRPr lang="en-US" sz="1999" u="none" strike="noStrike" spc="-79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62258"/>
              <a:ext cx="6238150" cy="412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399"/>
                </a:lnSpc>
                <a:spcBef>
                  <a:spcPct val="0"/>
                </a:spcBef>
              </a:pPr>
              <a:r>
                <a:rPr lang="en-US" sz="1999" b="1" spc="-79">
                  <a:solidFill>
                    <a:srgbClr val="08264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Consulting Assignment Timelines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208608"/>
              <a:ext cx="10469312" cy="412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797" lvl="1" indent="-215899" algn="l">
                <a:lnSpc>
                  <a:spcPts val="2399"/>
                </a:lnSpc>
                <a:buFont typeface="Arial"/>
                <a:buChar char="•"/>
              </a:pPr>
              <a:r>
                <a:rPr lang="en-US" sz="1999" spc="-79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999" u="none" strike="noStrike" spc="-79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chedule recurring calls/emails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586308"/>
              <a:ext cx="2948625" cy="412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399"/>
                </a:lnSpc>
                <a:spcBef>
                  <a:spcPct val="0"/>
                </a:spcBef>
              </a:pPr>
              <a:r>
                <a:rPr lang="en-US" sz="1999" b="1" spc="-79">
                  <a:solidFill>
                    <a:srgbClr val="08264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Weekly Updates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3827" y="3632088"/>
            <a:ext cx="6736737" cy="5557808"/>
          </a:xfrm>
          <a:custGeom>
            <a:avLst/>
            <a:gdLst/>
            <a:ahLst/>
            <a:cxnLst/>
            <a:rect l="l" t="t" r="r" b="b"/>
            <a:pathLst>
              <a:path w="6736737" h="5557808">
                <a:moveTo>
                  <a:pt x="0" y="0"/>
                </a:moveTo>
                <a:lnTo>
                  <a:pt x="6736736" y="0"/>
                </a:lnTo>
                <a:lnTo>
                  <a:pt x="6736736" y="5557807"/>
                </a:lnTo>
                <a:lnTo>
                  <a:pt x="0" y="5557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0968" y="503360"/>
            <a:ext cx="16987453" cy="1868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08"/>
              </a:lnSpc>
            </a:pPr>
            <a:r>
              <a:rPr lang="en-US" sz="8900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 and </a:t>
            </a:r>
          </a:p>
          <a:p>
            <a:pPr>
              <a:lnSpc>
                <a:spcPts val="6908"/>
              </a:lnSpc>
            </a:pPr>
            <a:r>
              <a:rPr lang="en-US" sz="8900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Scheduling Implementations</a:t>
            </a:r>
            <a:endParaRPr lang="en-US" sz="8900" b="1">
              <a:solidFill>
                <a:srgbClr val="082649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028947" y="2998910"/>
            <a:ext cx="9126963" cy="6397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01675" lvl="1" indent="-350520">
              <a:lnSpc>
                <a:spcPts val="3902"/>
              </a:lnSpc>
              <a:buFont typeface="Arial"/>
              <a:buChar char="•"/>
            </a:pPr>
            <a:r>
              <a:rPr lang="en-US" sz="3250" spc="-130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Reach out to scheduling team to schedule conversion/migration and push orders​</a:t>
            </a:r>
            <a:endParaRPr lang="en-US" sz="3250"/>
          </a:p>
          <a:p>
            <a:pPr marL="351155" lvl="1">
              <a:lnSpc>
                <a:spcPts val="3902"/>
              </a:lnSpc>
            </a:pPr>
            <a:endParaRPr lang="en-US" sz="3250" spc="-130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701675" lvl="1" indent="-350520">
              <a:lnSpc>
                <a:spcPts val="3902"/>
              </a:lnSpc>
              <a:buFont typeface="Arial"/>
              <a:buChar char="•"/>
            </a:pPr>
            <a:r>
              <a:rPr lang="en-US" sz="3250" spc="-130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Add Due Dates in </a:t>
            </a:r>
            <a:r>
              <a:rPr lang="en-US" sz="3250" spc="-130" err="1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DataHub</a:t>
            </a:r>
            <a:r>
              <a:rPr lang="en-US" sz="3250" spc="-130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 based on agreed timelines with the clients​</a:t>
            </a:r>
            <a:endParaRPr lang="en-US" sz="3250" spc="-130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351155" lvl="1">
              <a:lnSpc>
                <a:spcPts val="3902"/>
              </a:lnSpc>
            </a:pPr>
            <a:endParaRPr lang="en-US" sz="3250" spc="-130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701675" lvl="1" indent="-350520">
              <a:lnSpc>
                <a:spcPts val="3902"/>
              </a:lnSpc>
              <a:buFont typeface="Arial"/>
              <a:buChar char="•"/>
            </a:pPr>
            <a:r>
              <a:rPr lang="en-US" sz="3250" spc="-130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Align with Solution Consultants on Deliverables and Timelines:</a:t>
            </a:r>
            <a:endParaRPr lang="en-US" sz="3250" u="none" strike="noStrike" spc="-130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1158875" lvl="2" indent="-350520">
              <a:lnSpc>
                <a:spcPts val="3902"/>
              </a:lnSpc>
              <a:buFont typeface="Wingdings"/>
              <a:buChar char="§"/>
            </a:pPr>
            <a:r>
              <a:rPr lang="en-US" sz="2900" spc="-130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Provide client target dates</a:t>
            </a:r>
            <a:endParaRPr lang="en-US" sz="2900" u="none" strike="noStrike" spc="-130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1158875" lvl="2" indent="-350520">
              <a:lnSpc>
                <a:spcPts val="3902"/>
              </a:lnSpc>
              <a:buFont typeface="Wingdings"/>
              <a:buChar char="§"/>
            </a:pPr>
            <a:r>
              <a:rPr lang="en-US" sz="2900" spc="-130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Update on status of deliverables</a:t>
            </a:r>
          </a:p>
          <a:p>
            <a:pPr marL="1158875" lvl="2" indent="-350520">
              <a:lnSpc>
                <a:spcPts val="3902"/>
              </a:lnSpc>
              <a:buFont typeface="Wingdings"/>
              <a:buChar char="§"/>
            </a:pPr>
            <a:r>
              <a:rPr lang="en-US" sz="2900" spc="-130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Monitor progress</a:t>
            </a:r>
          </a:p>
          <a:p>
            <a:pPr marL="1158875" lvl="2" indent="-350520">
              <a:lnSpc>
                <a:spcPts val="3902"/>
              </a:lnSpc>
              <a:buFont typeface="Wingdings"/>
              <a:buChar char="§"/>
            </a:pPr>
            <a:r>
              <a:rPr lang="en-US" sz="2900" spc="-130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Follow up... Follow up.. Follow up..</a:t>
            </a:r>
          </a:p>
          <a:p>
            <a:pPr>
              <a:lnSpc>
                <a:spcPts val="2927"/>
              </a:lnSpc>
            </a:pPr>
            <a:endParaRPr lang="en-US" sz="3252" spc="-130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11101" y="5852248"/>
            <a:ext cx="5878286" cy="4114800"/>
          </a:xfrm>
          <a:custGeom>
            <a:avLst/>
            <a:gdLst/>
            <a:ahLst/>
            <a:cxnLst/>
            <a:rect l="l" t="t" r="r" b="b"/>
            <a:pathLst>
              <a:path w="5878286" h="4114800">
                <a:moveTo>
                  <a:pt x="0" y="0"/>
                </a:moveTo>
                <a:lnTo>
                  <a:pt x="5878286" y="0"/>
                </a:lnTo>
                <a:lnTo>
                  <a:pt x="5878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20872" y="7218772"/>
            <a:ext cx="11108620" cy="2368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43"/>
              </a:lnSpc>
            </a:pPr>
            <a:r>
              <a:rPr lang="en-US" sz="9700" b="1">
                <a:solidFill>
                  <a:srgbClr val="082649"/>
                </a:solidFill>
                <a:latin typeface="Poppins Bold"/>
                <a:cs typeface="Poppins Bold"/>
                <a:sym typeface="Poppins Bold"/>
              </a:rPr>
              <a:t>OneSite Conversion</a:t>
            </a:r>
            <a:endParaRPr lang="en-US" sz="9700" b="1">
              <a:solidFill>
                <a:srgbClr val="082649"/>
              </a:solidFill>
              <a:latin typeface="Poppins Bold"/>
              <a:cs typeface="Poppins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906130"/>
            <a:ext cx="5641151" cy="1552109"/>
            <a:chOff x="0" y="0"/>
            <a:chExt cx="7521534" cy="2069479"/>
          </a:xfrm>
        </p:grpSpPr>
        <p:sp>
          <p:nvSpPr>
            <p:cNvPr id="5" name="TextBox 5"/>
            <p:cNvSpPr txBox="1"/>
            <p:nvPr/>
          </p:nvSpPr>
          <p:spPr>
            <a:xfrm>
              <a:off x="0" y="688354"/>
              <a:ext cx="7521534" cy="1381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6"/>
                </a:lnSpc>
                <a:spcBef>
                  <a:spcPct val="0"/>
                </a:spcBef>
              </a:pPr>
              <a:r>
                <a:rPr lang="en-US" sz="2296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296" u="none" strike="noStrike" spc="-91">
                  <a:solidFill>
                    <a:srgbClr val="082649"/>
                  </a:solidFill>
                  <a:latin typeface="Poppins"/>
                  <a:ea typeface="Poppins"/>
                  <a:cs typeface="Poppins"/>
                  <a:sym typeface="Poppins"/>
                </a:rPr>
                <a:t>sk the client to notify you once they have completed their conversion – this would also be your OneSite go live date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4870053" cy="511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0"/>
                </a:lnSpc>
                <a:spcBef>
                  <a:spcPct val="0"/>
                </a:spcBef>
              </a:pPr>
              <a:r>
                <a:rPr lang="en-US" sz="2375" i="1" spc="-95">
                  <a:solidFill>
                    <a:srgbClr val="082649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Self-Start Conversion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514509" y="1483008"/>
            <a:ext cx="9576607" cy="519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6890" lvl="1" indent="-258445">
              <a:lnSpc>
                <a:spcPts val="2876"/>
              </a:lnSpc>
              <a:spcBef>
                <a:spcPct val="0"/>
              </a:spcBef>
              <a:buFont typeface="Arial"/>
              <a:buChar char="•"/>
            </a:pPr>
            <a:r>
              <a:rPr lang="en-US" sz="2350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RP Migrations</a:t>
            </a: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 will send a KO email before </a:t>
            </a:r>
            <a:r>
              <a:rPr lang="en-US" sz="2350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their scheduled</a:t>
            </a: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 conversion</a:t>
            </a:r>
            <a:r>
              <a:rPr lang="en-US" sz="2350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 (1-2 weeks)</a:t>
            </a:r>
            <a:endParaRPr lang="en-US" sz="2350"/>
          </a:p>
          <a:p>
            <a:pPr marL="258445" lvl="1">
              <a:lnSpc>
                <a:spcPts val="2876"/>
              </a:lnSpc>
              <a:spcBef>
                <a:spcPct val="0"/>
              </a:spcBef>
            </a:pPr>
            <a:endParaRPr lang="en-US" sz="1000" spc="-95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516890" lvl="1" indent="-258445">
              <a:lnSpc>
                <a:spcPts val="2876"/>
              </a:lnSpc>
              <a:spcBef>
                <a:spcPct val="0"/>
              </a:spcBef>
              <a:buFont typeface="Arial"/>
              <a:buChar char="•"/>
            </a:pP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Take note of deadlines, make sure client is aware,</a:t>
            </a:r>
            <a:r>
              <a:rPr lang="en-US" sz="2350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 follow</a:t>
            </a: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 up if needed​</a:t>
            </a:r>
            <a:endParaRPr lang="en-US" sz="2350" u="none" strike="noStrike" spc="-95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258445" lvl="1">
              <a:lnSpc>
                <a:spcPts val="2876"/>
              </a:lnSpc>
              <a:spcBef>
                <a:spcPct val="0"/>
              </a:spcBef>
            </a:pPr>
            <a:endParaRPr lang="en-US" sz="1000" spc="-95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516890" lvl="1" indent="-258445">
              <a:lnSpc>
                <a:spcPts val="2876"/>
              </a:lnSpc>
              <a:spcBef>
                <a:spcPct val="0"/>
              </a:spcBef>
              <a:buFont typeface="Arial"/>
              <a:buChar char="•"/>
            </a:pP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Data Validation – 1st 3 days of conversion schedule</a:t>
            </a:r>
            <a:r>
              <a:rPr lang="en-US" sz="2350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 (Crucial)</a:t>
            </a:r>
            <a:endParaRPr lang="en-US" sz="2350" spc="-95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258445" lvl="1">
              <a:lnSpc>
                <a:spcPts val="2876"/>
              </a:lnSpc>
              <a:spcBef>
                <a:spcPct val="0"/>
              </a:spcBef>
            </a:pPr>
            <a:endParaRPr lang="en-US" sz="2350" spc="-95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516890" lvl="1" indent="-258445">
              <a:lnSpc>
                <a:spcPts val="2876"/>
              </a:lnSpc>
              <a:spcBef>
                <a:spcPct val="0"/>
              </a:spcBef>
              <a:buFont typeface="Arial"/>
              <a:buChar char="•"/>
            </a:pP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Once data is validated it will be checked in </a:t>
            </a:r>
            <a:r>
              <a:rPr lang="en-US" sz="2350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for conversion</a:t>
            </a: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 and conversion completion date will </a:t>
            </a:r>
            <a:r>
              <a:rPr lang="en-US" sz="2350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be provided</a:t>
            </a: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.​</a:t>
            </a:r>
            <a:endParaRPr lang="en-US" sz="2350" u="none" strike="noStrike" spc="-95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516890" lvl="1" indent="-258445">
              <a:lnSpc>
                <a:spcPts val="2876"/>
              </a:lnSpc>
              <a:spcBef>
                <a:spcPct val="0"/>
              </a:spcBef>
              <a:buFont typeface="Arial"/>
              <a:buChar char="•"/>
            </a:pPr>
            <a:endParaRPr lang="en-US" sz="1000" spc="-95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516890" lvl="1" indent="-258445">
              <a:lnSpc>
                <a:spcPts val="2876"/>
              </a:lnSpc>
              <a:spcBef>
                <a:spcPct val="0"/>
              </a:spcBef>
              <a:buFont typeface="Arial"/>
              <a:buChar char="•"/>
            </a:pP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Conversion team may still reach out to client </a:t>
            </a:r>
            <a:r>
              <a:rPr lang="en-US" sz="2350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for additional</a:t>
            </a:r>
            <a:r>
              <a:rPr lang="en-US" sz="2350" u="none" strike="noStrike" spc="-95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 questions</a:t>
            </a:r>
            <a:endParaRPr lang="en-US" sz="2350" u="none" strike="noStrike" spc="-95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0" lvl="0" indent="0" algn="l">
              <a:lnSpc>
                <a:spcPts val="2876"/>
              </a:lnSpc>
              <a:spcBef>
                <a:spcPct val="0"/>
              </a:spcBef>
            </a:pPr>
            <a:endParaRPr lang="en-US" sz="2396" u="none" strike="noStrike" spc="-95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14509" y="877555"/>
            <a:ext cx="4871841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0"/>
              </a:lnSpc>
              <a:spcBef>
                <a:spcPct val="0"/>
              </a:spcBef>
            </a:pPr>
            <a:r>
              <a:rPr lang="en-US" sz="2375" i="1" spc="-95">
                <a:solidFill>
                  <a:srgbClr val="08264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RP assisted Conversion/Transfer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8288" y="3678846"/>
            <a:ext cx="5521046" cy="5189783"/>
          </a:xfrm>
          <a:custGeom>
            <a:avLst/>
            <a:gdLst/>
            <a:ahLst/>
            <a:cxnLst/>
            <a:rect l="l" t="t" r="r" b="b"/>
            <a:pathLst>
              <a:path w="5521046" h="5189783">
                <a:moveTo>
                  <a:pt x="0" y="0"/>
                </a:moveTo>
                <a:lnTo>
                  <a:pt x="5521046" y="0"/>
                </a:lnTo>
                <a:lnTo>
                  <a:pt x="5521046" y="5189783"/>
                </a:lnTo>
                <a:lnTo>
                  <a:pt x="0" y="5189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62050"/>
            <a:ext cx="8605452" cy="198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7827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Ancillary Products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51338" y="2423202"/>
            <a:ext cx="9742424" cy="6001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15315" lvl="1" indent="-307340" algn="l">
              <a:lnSpc>
                <a:spcPts val="3422"/>
              </a:lnSpc>
              <a:buFont typeface="Arial"/>
              <a:buChar char="•"/>
            </a:pPr>
            <a:r>
              <a:rPr lang="en-US" sz="2852" spc="-114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Once OneSite go live date is determined you can work on scheduling the ancillary products​</a:t>
            </a:r>
            <a:endParaRPr lang="en-US"/>
          </a:p>
          <a:p>
            <a:pPr marL="615315" lvl="1" indent="-307340">
              <a:lnSpc>
                <a:spcPts val="3422"/>
              </a:lnSpc>
              <a:buFont typeface="Arial"/>
              <a:buChar char="•"/>
            </a:pPr>
            <a:r>
              <a:rPr lang="en-US" sz="2850" b="1" spc="-114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Important: </a:t>
            </a:r>
            <a:r>
              <a:rPr lang="en-US" sz="2850" spc="-114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implementation timelines and product dependencies​</a:t>
            </a:r>
            <a:endParaRPr lang="en-US" sz="2850" spc="-114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15315" lvl="1" indent="-307340">
              <a:lnSpc>
                <a:spcPts val="3422"/>
              </a:lnSpc>
              <a:buFont typeface="Arial"/>
              <a:buChar char="•"/>
            </a:pPr>
            <a:r>
              <a:rPr lang="en-US" sz="2850" spc="-114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Monitor deliverables completion</a:t>
            </a:r>
            <a:endParaRPr lang="en-US" sz="2850" spc="-114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15315" lvl="1" indent="-307340">
              <a:lnSpc>
                <a:spcPts val="3422"/>
              </a:lnSpc>
              <a:buFont typeface="Arial"/>
              <a:buChar char="•"/>
            </a:pPr>
            <a:r>
              <a:rPr lang="en-US" sz="2850" spc="-114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Most products use  </a:t>
            </a:r>
            <a:r>
              <a:rPr lang="en-US" sz="2850" spc="-114" err="1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DataHub</a:t>
            </a:r>
            <a:r>
              <a:rPr lang="en-US" sz="2850" spc="-114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, a few exemptions</a:t>
            </a:r>
            <a:endParaRPr lang="en-US" sz="2850" spc="-114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1072515" lvl="2" indent="-307340">
              <a:lnSpc>
                <a:spcPts val="3422"/>
              </a:lnSpc>
              <a:buFont typeface="Wingdings"/>
              <a:buChar char="§"/>
            </a:pPr>
            <a:r>
              <a:rPr lang="en-US" sz="2850" spc="-114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G5 Website &gt; </a:t>
            </a:r>
            <a:r>
              <a:rPr lang="en-US" sz="2850" spc="-114" err="1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Onboarder</a:t>
            </a:r>
            <a:endParaRPr lang="en-US" sz="2850" u="none" strike="noStrike" spc="-114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1072515" lvl="2" indent="-307340">
              <a:lnSpc>
                <a:spcPts val="3422"/>
              </a:lnSpc>
              <a:buFont typeface="Wingdings"/>
              <a:buChar char="§"/>
            </a:pPr>
            <a:endParaRPr lang="en-US" sz="2850" spc="-114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15315" lvl="1" indent="-307340">
              <a:lnSpc>
                <a:spcPts val="3422"/>
              </a:lnSpc>
              <a:buFont typeface="Arial"/>
              <a:buChar char="•"/>
            </a:pPr>
            <a:r>
              <a:rPr lang="en-US" sz="2850" u="none" strike="noStrike" spc="-114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Monitor orders status in </a:t>
            </a:r>
            <a:r>
              <a:rPr lang="en-US" sz="2850" u="none" strike="noStrike" spc="-114" err="1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SalesForce</a:t>
            </a:r>
            <a:r>
              <a:rPr lang="en-US" sz="2850" u="none" strike="noStrike" spc="-114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850" spc="-114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1222375" lvl="2" indent="-457200">
              <a:lnSpc>
                <a:spcPts val="3422"/>
              </a:lnSpc>
              <a:buFont typeface="Wingdings"/>
              <a:buChar char="§"/>
            </a:pPr>
            <a:r>
              <a:rPr lang="en-US" sz="2850" spc="-114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Implementation Comments</a:t>
            </a:r>
            <a:endParaRPr lang="en-US">
              <a:ea typeface="Calibri"/>
              <a:cs typeface="Calibri"/>
            </a:endParaRPr>
          </a:p>
          <a:p>
            <a:pPr marL="1222375" lvl="2" indent="-457200">
              <a:lnSpc>
                <a:spcPts val="3422"/>
              </a:lnSpc>
              <a:buFont typeface="Wingdings"/>
              <a:buChar char="§"/>
            </a:pPr>
            <a:r>
              <a:rPr lang="en-US" sz="2850" spc="-114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Backlog Reason</a:t>
            </a:r>
          </a:p>
          <a:p>
            <a:pPr marL="1222375" lvl="2" indent="-457200">
              <a:lnSpc>
                <a:spcPts val="3422"/>
              </a:lnSpc>
              <a:buFont typeface="Wingdings"/>
              <a:buChar char="§"/>
            </a:pPr>
            <a:r>
              <a:rPr lang="en-US" sz="2850" spc="-114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Implementation Items</a:t>
            </a:r>
          </a:p>
          <a:p>
            <a:pPr marL="615315" lvl="1" indent="-307340">
              <a:lnSpc>
                <a:spcPts val="3422"/>
              </a:lnSpc>
              <a:buFont typeface="Arial"/>
              <a:buChar char="•"/>
            </a:pPr>
            <a:r>
              <a:rPr lang="en-US" sz="2850" spc="-114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Activation Emails</a:t>
            </a:r>
            <a:endParaRPr lang="en-US" sz="2850" u="none" strike="noStrike" spc="-114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47"/>
              </a:lnSpc>
            </a:pPr>
            <a:endParaRPr lang="en-US" sz="2852" u="none" strike="noStrike" spc="-114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8624" y="3290616"/>
            <a:ext cx="6054198" cy="5724693"/>
          </a:xfrm>
          <a:custGeom>
            <a:avLst/>
            <a:gdLst/>
            <a:ahLst/>
            <a:cxnLst/>
            <a:rect l="l" t="t" r="r" b="b"/>
            <a:pathLst>
              <a:path w="5673199" h="5446271">
                <a:moveTo>
                  <a:pt x="0" y="0"/>
                </a:moveTo>
                <a:lnTo>
                  <a:pt x="5673199" y="0"/>
                </a:lnTo>
                <a:lnTo>
                  <a:pt x="5673199" y="5446271"/>
                </a:lnTo>
                <a:lnTo>
                  <a:pt x="0" y="54462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98607"/>
            <a:ext cx="10032433" cy="202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65"/>
              </a:lnSpc>
            </a:pPr>
            <a:r>
              <a:rPr lang="en-US" sz="8027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Issues, Questions, Escalations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5784" y="3296476"/>
            <a:ext cx="9012110" cy="616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Reach out to the assigned SC if client has any product-related questions and any issues reported after go live. Schedule calls if needed​.</a:t>
            </a:r>
            <a:endParaRPr lang="en-US"/>
          </a:p>
          <a:p>
            <a:pPr marL="668655" lvl="1" indent="-334645">
              <a:lnSpc>
                <a:spcPts val="3719"/>
              </a:lnSpc>
              <a:buFont typeface="Arial"/>
              <a:buChar char="•"/>
            </a:pPr>
            <a:endParaRPr lang="en-US" sz="3050" spc="-123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68655" lvl="1" indent="-334645" algn="l">
              <a:lnSpc>
                <a:spcPts val="3719"/>
              </a:lnSpc>
              <a:buFont typeface="Arial"/>
              <a:buChar char="•"/>
            </a:pPr>
            <a:r>
              <a:rPr lang="en-US" sz="3050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Any client escalations or possible client escalations –</a:t>
            </a:r>
            <a:r>
              <a:rPr lang="en-US" sz="3050" b="1" u="none" strike="noStrike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notify your manager right away</a:t>
            </a:r>
            <a:r>
              <a:rPr lang="en-US" sz="3050" u="none" strike="noStrike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. ​</a:t>
            </a:r>
            <a:endParaRPr lang="en-US" sz="3050" u="none" strike="noStrike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68655" lvl="1" indent="-334010">
              <a:lnSpc>
                <a:spcPts val="3719"/>
              </a:lnSpc>
              <a:buFont typeface="Arial"/>
              <a:buChar char="•"/>
            </a:pPr>
            <a:endParaRPr lang="en-US" sz="3099" spc="-123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50" u="none" strike="noStrike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Follow proper escalation path if SC is unresponsive or is unable to follow agreed Go Live date.</a:t>
            </a:r>
            <a:endParaRPr lang="en-US" sz="3050" u="none" strike="noStrike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3719"/>
              </a:lnSpc>
            </a:pPr>
            <a:endParaRPr lang="en-US" sz="3099" u="none" strike="noStrike" spc="-123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9693" y="3080160"/>
            <a:ext cx="5210159" cy="6392833"/>
          </a:xfrm>
          <a:custGeom>
            <a:avLst/>
            <a:gdLst/>
            <a:ahLst/>
            <a:cxnLst/>
            <a:rect l="l" t="t" r="r" b="b"/>
            <a:pathLst>
              <a:path w="5210159" h="6392833">
                <a:moveTo>
                  <a:pt x="0" y="0"/>
                </a:moveTo>
                <a:lnTo>
                  <a:pt x="5210159" y="0"/>
                </a:lnTo>
                <a:lnTo>
                  <a:pt x="5210159" y="6392833"/>
                </a:lnTo>
                <a:lnTo>
                  <a:pt x="0" y="6392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98607"/>
            <a:ext cx="11908125" cy="1009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65"/>
              </a:lnSpc>
            </a:pPr>
            <a:r>
              <a:rPr lang="en-US" sz="8027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End of Engagement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01447" y="2888385"/>
            <a:ext cx="9334494" cy="4744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8655" lvl="1" indent="-334010">
              <a:lnSpc>
                <a:spcPts val="3719"/>
              </a:lnSpc>
              <a:buFont typeface="Arial"/>
              <a:buChar char="•"/>
            </a:pPr>
            <a:r>
              <a:rPr lang="en-US" sz="3050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Half-way through the project start notifying your clients of your impending end of engagement​</a:t>
            </a:r>
            <a:endParaRPr lang="en-US" sz="3050"/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50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2 weeks prior to intended EOE, send an EOE notice to your client</a:t>
            </a:r>
            <a:endParaRPr lang="en-US" sz="3050" u="none" strike="noStrike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1125855" lvl="2" indent="-334010">
              <a:lnSpc>
                <a:spcPts val="3719"/>
              </a:lnSpc>
              <a:buFont typeface="Wingdings"/>
              <a:buChar char="§"/>
            </a:pPr>
            <a:r>
              <a:rPr lang="en-US" sz="3050" spc="-123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Give a summary of what is pending</a:t>
            </a:r>
          </a:p>
          <a:p>
            <a:pPr marL="1125855" lvl="2" indent="-334010">
              <a:lnSpc>
                <a:spcPts val="3719"/>
              </a:lnSpc>
              <a:buFont typeface="Wingdings"/>
              <a:buChar char="§"/>
            </a:pPr>
            <a:r>
              <a:rPr lang="en-US" sz="3050" spc="-123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Ask for upcoming properties</a:t>
            </a:r>
            <a:endParaRPr lang="en-US" sz="3050" spc="-123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68655" lvl="1" indent="-334010">
              <a:lnSpc>
                <a:spcPts val="3719"/>
              </a:lnSpc>
              <a:buFont typeface="Arial"/>
              <a:buChar char="•"/>
            </a:pPr>
            <a:r>
              <a:rPr lang="en-US" sz="3050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Notify SCs and Sales Rep of upcoming EOE. </a:t>
            </a:r>
          </a:p>
          <a:p>
            <a:pPr marL="1125855" lvl="2" indent="-334010">
              <a:lnSpc>
                <a:spcPts val="3719"/>
              </a:lnSpc>
              <a:buFont typeface="Wingdings"/>
              <a:buChar char="§"/>
            </a:pPr>
            <a:r>
              <a:rPr lang="en-US" sz="3050" spc="-123">
                <a:solidFill>
                  <a:srgbClr val="082649"/>
                </a:solidFill>
                <a:latin typeface="Poppins"/>
                <a:ea typeface="Poppins"/>
                <a:cs typeface="Poppins"/>
              </a:rPr>
              <a:t>Cover all pending implementations</a:t>
            </a:r>
          </a:p>
          <a:p>
            <a:pPr marL="668655" lvl="1" indent="-334010">
              <a:lnSpc>
                <a:spcPts val="3719"/>
              </a:lnSpc>
              <a:buFont typeface="Arial"/>
              <a:buChar char="•"/>
            </a:pPr>
            <a:r>
              <a:rPr lang="en-US" sz="3050" u="none" strike="noStrike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Send your End of Engagement email</a:t>
            </a:r>
            <a:endParaRPr lang="en-US" sz="3050" u="none" strike="noStrike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3719"/>
              </a:lnSpc>
            </a:pPr>
            <a:endParaRPr lang="en-US" sz="3099" u="none" strike="noStrike" spc="-123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2952" y="3086100"/>
            <a:ext cx="7218947" cy="6172200"/>
          </a:xfrm>
          <a:custGeom>
            <a:avLst/>
            <a:gdLst/>
            <a:ahLst/>
            <a:cxnLst/>
            <a:rect l="l" t="t" r="r" b="b"/>
            <a:pathLst>
              <a:path w="7218947" h="6172200">
                <a:moveTo>
                  <a:pt x="0" y="0"/>
                </a:moveTo>
                <a:lnTo>
                  <a:pt x="7218947" y="0"/>
                </a:lnTo>
                <a:lnTo>
                  <a:pt x="721894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84739" y="898607"/>
            <a:ext cx="13153701" cy="1009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65"/>
              </a:lnSpc>
            </a:pPr>
            <a:r>
              <a:rPr lang="en-US" sz="8027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Add-On Challenges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80678" y="2888385"/>
            <a:ext cx="8924022" cy="5693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Time Sensitivity/ Client Demands​</a:t>
            </a:r>
            <a:endParaRPr lang="en-US"/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Planning go-live dates​</a:t>
            </a:r>
            <a:endParaRPr lang="en-US" sz="3099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Clients have different processes​</a:t>
            </a:r>
            <a:endParaRPr lang="en-US" sz="3099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Incorrect or Missing Orders​</a:t>
            </a:r>
            <a:endParaRPr lang="en-US" sz="3099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Consulting Assignment Wait Time​</a:t>
            </a:r>
            <a:endParaRPr lang="en-US" sz="3099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New POC/Staff​</a:t>
            </a:r>
            <a:endParaRPr lang="en-US" sz="3099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3099" u="none" strike="noStrike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oduct Specific Questions – who should answer?​</a:t>
            </a:r>
            <a:endParaRPr lang="en-US" sz="3099" u="none" strike="noStrike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u="none" strike="noStrike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Issues/Questions involving multiple products​</a:t>
            </a:r>
            <a:endParaRPr lang="en-US" sz="3099" u="none" strike="noStrike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68655" lvl="1" indent="-334010">
              <a:lnSpc>
                <a:spcPts val="3719"/>
              </a:lnSpc>
              <a:buFont typeface="Arial"/>
              <a:buChar char="•"/>
            </a:pPr>
            <a:r>
              <a:rPr lang="en-US" sz="3050" u="none" strike="noStrike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No Consultant </a:t>
            </a:r>
            <a:r>
              <a:rPr lang="en-US" sz="3050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3050" u="none" strike="noStrike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will need support ticket​</a:t>
            </a:r>
            <a:endParaRPr lang="en-US" sz="3050" u="none" strike="noStrike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marL="668655" lvl="1" indent="-334010" algn="l">
              <a:lnSpc>
                <a:spcPts val="3719"/>
              </a:lnSpc>
              <a:buFont typeface="Arial"/>
              <a:buChar char="•"/>
            </a:pPr>
            <a:r>
              <a:rPr lang="en-US" sz="3099" u="none" strike="noStrike" spc="-123">
                <a:solidFill>
                  <a:srgbClr val="082649"/>
                </a:solidFill>
                <a:latin typeface="Poppins"/>
                <a:ea typeface="Poppins"/>
                <a:cs typeface="Poppins"/>
                <a:sym typeface="Poppins"/>
              </a:rPr>
              <a:t>Questions on deliverables</a:t>
            </a:r>
            <a:endParaRPr lang="en-US" sz="3099" u="none" strike="noStrike" spc="-123">
              <a:solidFill>
                <a:srgbClr val="082649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3719"/>
              </a:lnSpc>
            </a:pPr>
            <a:endParaRPr lang="en-US" sz="3099" u="none" strike="noStrike" spc="-123">
              <a:solidFill>
                <a:srgbClr val="08264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44100" y="5933209"/>
            <a:ext cx="7315200" cy="3325091"/>
          </a:xfrm>
          <a:custGeom>
            <a:avLst/>
            <a:gdLst/>
            <a:ahLst/>
            <a:cxnLst/>
            <a:rect l="l" t="t" r="r" b="b"/>
            <a:pathLst>
              <a:path w="7315200" h="3325091">
                <a:moveTo>
                  <a:pt x="0" y="0"/>
                </a:moveTo>
                <a:lnTo>
                  <a:pt x="7315200" y="0"/>
                </a:lnTo>
                <a:lnTo>
                  <a:pt x="7315200" y="3325091"/>
                </a:lnTo>
                <a:lnTo>
                  <a:pt x="0" y="33250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7052" y="8722440"/>
            <a:ext cx="4361493" cy="535860"/>
          </a:xfrm>
          <a:custGeom>
            <a:avLst/>
            <a:gdLst/>
            <a:ahLst/>
            <a:cxnLst/>
            <a:rect l="l" t="t" r="r" b="b"/>
            <a:pathLst>
              <a:path w="4361493" h="535860">
                <a:moveTo>
                  <a:pt x="0" y="0"/>
                </a:moveTo>
                <a:lnTo>
                  <a:pt x="4361493" y="0"/>
                </a:lnTo>
                <a:lnTo>
                  <a:pt x="4361493" y="535860"/>
                </a:lnTo>
                <a:lnTo>
                  <a:pt x="0" y="535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81271" y="5520094"/>
            <a:ext cx="4380072" cy="41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1"/>
              </a:lnSpc>
              <a:spcBef>
                <a:spcPct val="0"/>
              </a:spcBef>
            </a:pPr>
            <a:r>
              <a:rPr lang="en-US" sz="2826" spc="-113">
                <a:solidFill>
                  <a:srgbClr val="0826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Engagement Management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39560" y="5942734"/>
            <a:ext cx="4653993" cy="41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1"/>
              </a:lnSpc>
              <a:spcBef>
                <a:spcPct val="0"/>
              </a:spcBef>
            </a:pPr>
            <a:r>
              <a:rPr lang="en-US" sz="2826" spc="-113">
                <a:solidFill>
                  <a:srgbClr val="08264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Professional Services Group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051325"/>
            <a:ext cx="8839689" cy="294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16"/>
              </a:lnSpc>
            </a:pPr>
            <a:r>
              <a:rPr lang="en-US" sz="11630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  <a:p>
            <a:pPr algn="l">
              <a:lnSpc>
                <a:spcPts val="10816"/>
              </a:lnSpc>
            </a:pPr>
            <a:r>
              <a:rPr lang="en-US" sz="11630" b="1">
                <a:solidFill>
                  <a:srgbClr val="082649"/>
                </a:solidFill>
                <a:latin typeface="Poppins Bold"/>
                <a:ea typeface="Poppins Bold"/>
                <a:cs typeface="Poppins Bold"/>
                <a:sym typeface="Poppins Bold"/>
              </a:rPr>
              <a:t>Very Much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11A7D7C6AF7C4B84849BBC7AECD042" ma:contentTypeVersion="7" ma:contentTypeDescription="Create a new document." ma:contentTypeScope="" ma:versionID="d1a1c2fab4bc054141fc059f64628e6a">
  <xsd:schema xmlns:xsd="http://www.w3.org/2001/XMLSchema" xmlns:xs="http://www.w3.org/2001/XMLSchema" xmlns:p="http://schemas.microsoft.com/office/2006/metadata/properties" xmlns:ns2="09f0d035-db3a-41e2-9c9f-cd4fb346005c" targetNamespace="http://schemas.microsoft.com/office/2006/metadata/properties" ma:root="true" ma:fieldsID="79197425f45961dcb975a55f67a80289" ns2:_="">
    <xsd:import namespace="09f0d035-db3a-41e2-9c9f-cd4fb34600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0d035-db3a-41e2-9c9f-cd4fb3460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84377A-C38B-4EA0-891B-BEC912FA8DA4}"/>
</file>

<file path=customXml/itemProps2.xml><?xml version="1.0" encoding="utf-8"?>
<ds:datastoreItem xmlns:ds="http://schemas.openxmlformats.org/officeDocument/2006/customXml" ds:itemID="{34DD4F8D-41E7-4D3A-847D-F7B55A560E9E}">
  <ds:schemaRefs>
    <ds:schemaRef ds:uri="c6dc340a-7c91-4274-b2cf-9086e6b71284"/>
    <ds:schemaRef ds:uri="cd7206cd-d979-4761-a191-6f271d209b9a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2341B736-C324-4F8A-94CF-DEC085132CD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6970c53-fc97-4c45-87e9-80615808800c}" enabled="1" method="Standard" siteId="{2c94bed6-d675-4d3d-a53b-7b461fd6acc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 EC - Add-on Projects and Processes Review</dc:title>
  <cp:revision>1</cp:revision>
  <dcterms:created xsi:type="dcterms:W3CDTF">2006-08-16T00:00:00Z</dcterms:created>
  <dcterms:modified xsi:type="dcterms:W3CDTF">2026-09-01T14:07:44Z</dcterms:modified>
  <dc:identifier>DAHQNs74nU0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0x010100B811A7D7C6AF7C4B84849BBC7AECD042</vt:lpwstr>
  </property>
  <property fmtid="{D5CDD505-2E9C-101B-9397-08002B2CF9AE}" pid="3" name="ClassificationContentMarkingFooterLocations">
    <vt:lpwstr>Office Theme:10</vt:lpwstr>
  </property>
  <property fmtid="{D5CDD505-2E9C-101B-9397-08002B2CF9AE}" pid="4" name="ClassificationContentMarkingFooterText">
    <vt:lpwstr>For RealPage Internal Use Only</vt:lpwstr>
  </property>
  <property fmtid="{D5CDD505-2E9C-101B-9397-08002B2CF9AE}" pid="5" name="ClassificationContentMarkingHeaderLocations">
    <vt:lpwstr>Office Theme:9</vt:lpwstr>
  </property>
  <property fmtid="{D5CDD505-2E9C-101B-9397-08002B2CF9AE}" pid="6" name="ClassificationContentMarkingHeaderText">
    <vt:lpwstr>Internal Use</vt:lpwstr>
  </property>
  <property fmtid="{D5CDD505-2E9C-101B-9397-08002B2CF9AE}" pid="7" name="MediaServiceImageTags">
    <vt:lpwstr/>
  </property>
</Properties>
</file>