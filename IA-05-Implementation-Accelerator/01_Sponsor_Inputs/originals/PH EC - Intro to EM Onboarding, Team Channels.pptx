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74" r:id="rId10"/>
    <p:sldId id="262" r:id="rId11"/>
    <p:sldId id="263" r:id="rId12"/>
    <p:sldId id="266" r:id="rId13"/>
    <p:sldId id="264" r:id="rId14"/>
    <p:sldId id="265" r:id="rId15"/>
    <p:sldId id="268" r:id="rId16"/>
    <p:sldId id="267" r:id="rId17"/>
    <p:sldId id="269" r:id="rId18"/>
    <p:sldId id="270" r:id="rId19"/>
    <p:sldId id="271" r:id="rId20"/>
    <p:sldId id="272" r:id="rId21"/>
  </p:sldIdLst>
  <p:sldSz cx="18288000" cy="10287000"/>
  <p:notesSz cx="6858000" cy="9144000"/>
  <p:embeddedFontLst>
    <p:embeddedFont>
      <p:font typeface="Cooper BT Bold" panose="020B0604020202020204" charset="0"/>
      <p:regular r:id="rId22"/>
    </p:embeddedFont>
    <p:embeddedFont>
      <p:font typeface="Cooper BT Light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4522B2-3C7C-D326-E81A-108B287172E3}" v="1" dt="2026-07-23T13:18:34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 Ragudos" userId="S::kat.ragudos@realpage.com::fa2688e3-404f-4469-939d-a0c2d069d1ee" providerId="AD" clId="Web-{679A272A-2704-AD4F-3AD1-13345D7E5BA9}"/>
    <pc:docChg chg="modSld">
      <pc:chgData name="Kat Ragudos" userId="S::kat.ragudos@realpage.com::fa2688e3-404f-4469-939d-a0c2d069d1ee" providerId="AD" clId="Web-{679A272A-2704-AD4F-3AD1-13345D7E5BA9}" dt="2026-07-06T00:27:48.188" v="11" actId="1076"/>
      <pc:docMkLst>
        <pc:docMk/>
      </pc:docMkLst>
      <pc:sldChg chg="modSp">
        <pc:chgData name="Kat Ragudos" userId="S::kat.ragudos@realpage.com::fa2688e3-404f-4469-939d-a0c2d069d1ee" providerId="AD" clId="Web-{679A272A-2704-AD4F-3AD1-13345D7E5BA9}" dt="2026-07-06T00:27:48.188" v="11" actId="1076"/>
        <pc:sldMkLst>
          <pc:docMk/>
          <pc:sldMk cId="0" sldId="256"/>
        </pc:sldMkLst>
        <pc:spChg chg="mod">
          <ac:chgData name="Kat Ragudos" userId="S::kat.ragudos@realpage.com::fa2688e3-404f-4469-939d-a0c2d069d1ee" providerId="AD" clId="Web-{679A272A-2704-AD4F-3AD1-13345D7E5BA9}" dt="2026-07-06T00:27:48.188" v="11" actId="1076"/>
          <ac:spMkLst>
            <pc:docMk/>
            <pc:sldMk cId="0" sldId="256"/>
            <ac:spMk id="6" creationId="{00000000-0000-0000-0000-000000000000}"/>
          </ac:spMkLst>
        </pc:spChg>
      </pc:sldChg>
    </pc:docChg>
  </pc:docChgLst>
  <pc:docChgLst>
    <pc:chgData name="Kat Ragudos" userId="fa2688e3-404f-4469-939d-a0c2d069d1ee" providerId="ADAL" clId="{EB2D5915-29F4-439C-AB78-23AC97C3CD9C}"/>
    <pc:docChg chg="custSel modSld sldOrd">
      <pc:chgData name="Kat Ragudos" userId="fa2688e3-404f-4469-939d-a0c2d069d1ee" providerId="ADAL" clId="{EB2D5915-29F4-439C-AB78-23AC97C3CD9C}" dt="2026-07-06T13:03:43.521" v="14"/>
      <pc:docMkLst>
        <pc:docMk/>
      </pc:docMkLst>
      <pc:sldChg chg="modSp mod ord">
        <pc:chgData name="Kat Ragudos" userId="fa2688e3-404f-4469-939d-a0c2d069d1ee" providerId="ADAL" clId="{EB2D5915-29F4-439C-AB78-23AC97C3CD9C}" dt="2026-07-06T13:03:43.521" v="14"/>
        <pc:sldMkLst>
          <pc:docMk/>
          <pc:sldMk cId="0" sldId="268"/>
        </pc:sldMkLst>
        <pc:spChg chg="mod">
          <ac:chgData name="Kat Ragudos" userId="fa2688e3-404f-4469-939d-a0c2d069d1ee" providerId="ADAL" clId="{EB2D5915-29F4-439C-AB78-23AC97C3CD9C}" dt="2026-07-02T19:00:01.348" v="12" actId="20577"/>
          <ac:spMkLst>
            <pc:docMk/>
            <pc:sldMk cId="0" sldId="268"/>
            <ac:spMk id="6" creationId="{00000000-0000-0000-0000-000000000000}"/>
          </ac:spMkLst>
        </pc:spChg>
      </pc:sldChg>
    </pc:docChg>
  </pc:docChgLst>
  <pc:docChgLst>
    <pc:chgData name="Gabrielle Orito" userId="S::gabrielle.orito@realpage.com::c3b72c5e-e0f6-49f8-bf5b-2d09d3842f49" providerId="AD" clId="Web-{1C4522B2-3C7C-D326-E81A-108B287172E3}"/>
    <pc:docChg chg="modSld">
      <pc:chgData name="Gabrielle Orito" userId="S::gabrielle.orito@realpage.com::c3b72c5e-e0f6-49f8-bf5b-2d09d3842f49" providerId="AD" clId="Web-{1C4522B2-3C7C-D326-E81A-108B287172E3}" dt="2026-07-23T13:18:34.671" v="0" actId="1076"/>
      <pc:docMkLst>
        <pc:docMk/>
      </pc:docMkLst>
      <pc:sldChg chg="modSp">
        <pc:chgData name="Gabrielle Orito" userId="S::gabrielle.orito@realpage.com::c3b72c5e-e0f6-49f8-bf5b-2d09d3842f49" providerId="AD" clId="Web-{1C4522B2-3C7C-D326-E81A-108B287172E3}" dt="2026-07-23T13:18:34.671" v="0" actId="1076"/>
        <pc:sldMkLst>
          <pc:docMk/>
          <pc:sldMk cId="0" sldId="267"/>
        </pc:sldMkLst>
        <pc:spChg chg="mod">
          <ac:chgData name="Gabrielle Orito" userId="S::gabrielle.orito@realpage.com::c3b72c5e-e0f6-49f8-bf5b-2d09d3842f49" providerId="AD" clId="Web-{1C4522B2-3C7C-D326-E81A-108B287172E3}" dt="2026-07-23T13:18:34.671" v="0" actId="1076"/>
          <ac:spMkLst>
            <pc:docMk/>
            <pc:sldMk cId="0" sldId="267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88E7E6-2A59-3559-FCBD-ACBC9853D9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877300" y="63500"/>
            <a:ext cx="5540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719C4-A6A9-D842-A52E-75F4806744D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99450" y="10071100"/>
            <a:ext cx="17145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For RealPage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realpage.sharepoint.com/teams/PHCustomerSuccess/Lists/sample1/All%20Items.aspx" TargetMode="External"/><Relationship Id="rId4" Type="http://schemas.openxmlformats.org/officeDocument/2006/relationships/hyperlink" Target="https://app.smartsheet.com/b/publish?EQBCT=ba3f2803d4794d259c3b3ad260b8b9d1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09264" y="450746"/>
            <a:ext cx="4490357" cy="4114800"/>
          </a:xfrm>
          <a:custGeom>
            <a:avLst/>
            <a:gdLst/>
            <a:ahLst/>
            <a:cxnLst/>
            <a:rect l="l" t="t" r="r" b="b"/>
            <a:pathLst>
              <a:path w="4490357" h="4114800">
                <a:moveTo>
                  <a:pt x="0" y="0"/>
                </a:moveTo>
                <a:lnTo>
                  <a:pt x="4490357" y="0"/>
                </a:lnTo>
                <a:lnTo>
                  <a:pt x="4490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608491">
            <a:off x="4955159" y="1032527"/>
            <a:ext cx="8377681" cy="3092126"/>
          </a:xfrm>
          <a:custGeom>
            <a:avLst/>
            <a:gdLst/>
            <a:ahLst/>
            <a:cxnLst/>
            <a:rect l="l" t="t" r="r" b="b"/>
            <a:pathLst>
              <a:path w="8377681" h="3092126">
                <a:moveTo>
                  <a:pt x="0" y="0"/>
                </a:moveTo>
                <a:lnTo>
                  <a:pt x="8377682" y="0"/>
                </a:lnTo>
                <a:lnTo>
                  <a:pt x="8377682" y="3092126"/>
                </a:lnTo>
                <a:lnTo>
                  <a:pt x="0" y="309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234944" y="3726336"/>
            <a:ext cx="5518535" cy="5610341"/>
          </a:xfrm>
          <a:custGeom>
            <a:avLst/>
            <a:gdLst/>
            <a:ahLst/>
            <a:cxnLst/>
            <a:rect l="l" t="t" r="r" b="b"/>
            <a:pathLst>
              <a:path w="5518535" h="5610341">
                <a:moveTo>
                  <a:pt x="0" y="0"/>
                </a:moveTo>
                <a:lnTo>
                  <a:pt x="5518535" y="0"/>
                </a:lnTo>
                <a:lnTo>
                  <a:pt x="5518535" y="5610341"/>
                </a:lnTo>
                <a:lnTo>
                  <a:pt x="0" y="5610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225946" y="3641027"/>
            <a:ext cx="3396580" cy="4114800"/>
          </a:xfrm>
          <a:custGeom>
            <a:avLst/>
            <a:gdLst/>
            <a:ahLst/>
            <a:cxnLst/>
            <a:rect l="l" t="t" r="r" b="b"/>
            <a:pathLst>
              <a:path w="3396580" h="4114800">
                <a:moveTo>
                  <a:pt x="0" y="0"/>
                </a:moveTo>
                <a:lnTo>
                  <a:pt x="3396580" y="0"/>
                </a:lnTo>
                <a:lnTo>
                  <a:pt x="33965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71475" y="4244417"/>
            <a:ext cx="9672906" cy="621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95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Welcome to the</a:t>
            </a:r>
          </a:p>
          <a:p>
            <a:pPr algn="l">
              <a:lnSpc>
                <a:spcPts val="9690"/>
              </a:lnSpc>
            </a:pPr>
            <a:r>
              <a:rPr lang="en-US" sz="95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Engagement</a:t>
            </a:r>
          </a:p>
          <a:p>
            <a:pPr>
              <a:lnSpc>
                <a:spcPts val="9690"/>
              </a:lnSpc>
            </a:pPr>
            <a:r>
              <a:rPr lang="en-US" sz="95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Management (Add-on)</a:t>
            </a:r>
          </a:p>
          <a:p>
            <a:pPr algn="l">
              <a:lnSpc>
                <a:spcPts val="9690"/>
              </a:lnSpc>
            </a:pPr>
            <a:r>
              <a:rPr lang="en-US" sz="95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Team!</a:t>
            </a:r>
          </a:p>
        </p:txBody>
      </p:sp>
      <p:sp>
        <p:nvSpPr>
          <p:cNvPr id="7" name="Freeform 7"/>
          <p:cNvSpPr/>
          <p:nvPr/>
        </p:nvSpPr>
        <p:spPr>
          <a:xfrm rot="1234784">
            <a:off x="14786399" y="2987721"/>
            <a:ext cx="3074878" cy="4114800"/>
          </a:xfrm>
          <a:custGeom>
            <a:avLst/>
            <a:gdLst/>
            <a:ahLst/>
            <a:cxnLst/>
            <a:rect l="l" t="t" r="r" b="b"/>
            <a:pathLst>
              <a:path w="3074878" h="4114800">
                <a:moveTo>
                  <a:pt x="0" y="0"/>
                </a:moveTo>
                <a:lnTo>
                  <a:pt x="3074877" y="0"/>
                </a:lnTo>
                <a:lnTo>
                  <a:pt x="30748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25665"/>
            <a:ext cx="8115300" cy="91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Agenda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418016"/>
            <a:ext cx="15234096" cy="7051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Introductions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General Position Overview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Job Responsibilities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Expectations with Manager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PTO guidelines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PTO Request Form and Calendar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Confirm job schedule &amp; hours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Recurring 1:1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Annual and Mid-Year Review Process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Onboarding Calendar and Training Plan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Team Review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Navigation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Teams Channels and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59019">
            <a:off x="-705730" y="186777"/>
            <a:ext cx="4451134" cy="3933184"/>
          </a:xfrm>
          <a:custGeom>
            <a:avLst/>
            <a:gdLst/>
            <a:ahLst/>
            <a:cxnLst/>
            <a:rect l="l" t="t" r="r" b="b"/>
            <a:pathLst>
              <a:path w="4451134" h="3933184">
                <a:moveTo>
                  <a:pt x="0" y="0"/>
                </a:moveTo>
                <a:lnTo>
                  <a:pt x="4451134" y="0"/>
                </a:lnTo>
                <a:lnTo>
                  <a:pt x="4451134" y="3933184"/>
                </a:lnTo>
                <a:lnTo>
                  <a:pt x="0" y="39331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296242" y="-1043462"/>
            <a:ext cx="4780127" cy="4780127"/>
          </a:xfrm>
          <a:custGeom>
            <a:avLst/>
            <a:gdLst/>
            <a:ahLst/>
            <a:cxnLst/>
            <a:rect l="l" t="t" r="r" b="b"/>
            <a:pathLst>
              <a:path w="4780127" h="4780127">
                <a:moveTo>
                  <a:pt x="0" y="0"/>
                </a:moveTo>
                <a:lnTo>
                  <a:pt x="4780128" y="0"/>
                </a:lnTo>
                <a:lnTo>
                  <a:pt x="4780128" y="4780127"/>
                </a:lnTo>
                <a:lnTo>
                  <a:pt x="0" y="47801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542541" y="3627180"/>
            <a:ext cx="4919870" cy="4114800"/>
          </a:xfrm>
          <a:custGeom>
            <a:avLst/>
            <a:gdLst/>
            <a:ahLst/>
            <a:cxnLst/>
            <a:rect l="l" t="t" r="r" b="b"/>
            <a:pathLst>
              <a:path w="4919870" h="4114800">
                <a:moveTo>
                  <a:pt x="0" y="0"/>
                </a:moveTo>
                <a:lnTo>
                  <a:pt x="4919870" y="0"/>
                </a:lnTo>
                <a:lnTo>
                  <a:pt x="49198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861013" y="544685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684292" y="-637345"/>
            <a:ext cx="4027052" cy="5091674"/>
          </a:xfrm>
          <a:custGeom>
            <a:avLst/>
            <a:gdLst/>
            <a:ahLst/>
            <a:cxnLst/>
            <a:rect l="l" t="t" r="r" b="b"/>
            <a:pathLst>
              <a:path w="4027052" h="5091674">
                <a:moveTo>
                  <a:pt x="0" y="0"/>
                </a:moveTo>
                <a:lnTo>
                  <a:pt x="4027052" y="0"/>
                </a:lnTo>
                <a:lnTo>
                  <a:pt x="4027052" y="5091674"/>
                </a:lnTo>
                <a:lnTo>
                  <a:pt x="0" y="50916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801497" y="3086100"/>
            <a:ext cx="4562782" cy="4114800"/>
          </a:xfrm>
          <a:custGeom>
            <a:avLst/>
            <a:gdLst/>
            <a:ahLst/>
            <a:cxnLst/>
            <a:rect l="l" t="t" r="r" b="b"/>
            <a:pathLst>
              <a:path w="4562782" h="4114800">
                <a:moveTo>
                  <a:pt x="0" y="0"/>
                </a:moveTo>
                <a:lnTo>
                  <a:pt x="4562783" y="0"/>
                </a:lnTo>
                <a:lnTo>
                  <a:pt x="45627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10595731" y="-378135"/>
            <a:ext cx="4079002" cy="4486902"/>
          </a:xfrm>
          <a:custGeom>
            <a:avLst/>
            <a:gdLst/>
            <a:ahLst/>
            <a:cxnLst/>
            <a:rect l="l" t="t" r="r" b="b"/>
            <a:pathLst>
              <a:path w="4079002" h="4486902">
                <a:moveTo>
                  <a:pt x="4079001" y="0"/>
                </a:moveTo>
                <a:lnTo>
                  <a:pt x="0" y="0"/>
                </a:lnTo>
                <a:lnTo>
                  <a:pt x="0" y="4486902"/>
                </a:lnTo>
                <a:lnTo>
                  <a:pt x="4079001" y="4486902"/>
                </a:lnTo>
                <a:lnTo>
                  <a:pt x="40790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1646421">
            <a:off x="5875340" y="-148908"/>
            <a:ext cx="5971346" cy="4114800"/>
          </a:xfrm>
          <a:custGeom>
            <a:avLst/>
            <a:gdLst/>
            <a:ahLst/>
            <a:cxnLst/>
            <a:rect l="l" t="t" r="r" b="b"/>
            <a:pathLst>
              <a:path w="5971346" h="4114800">
                <a:moveTo>
                  <a:pt x="0" y="0"/>
                </a:moveTo>
                <a:lnTo>
                  <a:pt x="5971346" y="0"/>
                </a:lnTo>
                <a:lnTo>
                  <a:pt x="59713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674732" y="6666594"/>
            <a:ext cx="6073223" cy="3688103"/>
          </a:xfrm>
          <a:custGeom>
            <a:avLst/>
            <a:gdLst/>
            <a:ahLst/>
            <a:cxnLst/>
            <a:rect l="l" t="t" r="r" b="b"/>
            <a:pathLst>
              <a:path w="6073223" h="3688103">
                <a:moveTo>
                  <a:pt x="0" y="0"/>
                </a:moveTo>
                <a:lnTo>
                  <a:pt x="6073224" y="0"/>
                </a:lnTo>
                <a:lnTo>
                  <a:pt x="6073224" y="3688103"/>
                </a:lnTo>
                <a:lnTo>
                  <a:pt x="0" y="36881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3242373">
            <a:off x="11441195" y="750425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19055" y="2239320"/>
            <a:ext cx="4318969" cy="4114800"/>
          </a:xfrm>
          <a:custGeom>
            <a:avLst/>
            <a:gdLst/>
            <a:ahLst/>
            <a:cxnLst/>
            <a:rect l="l" t="t" r="r" b="b"/>
            <a:pathLst>
              <a:path w="4318969" h="4114800">
                <a:moveTo>
                  <a:pt x="0" y="0"/>
                </a:moveTo>
                <a:lnTo>
                  <a:pt x="4318970" y="0"/>
                </a:lnTo>
                <a:lnTo>
                  <a:pt x="43189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3571309" y="5274764"/>
            <a:ext cx="5183605" cy="5079933"/>
          </a:xfrm>
          <a:custGeom>
            <a:avLst/>
            <a:gdLst/>
            <a:ahLst/>
            <a:cxnLst/>
            <a:rect l="l" t="t" r="r" b="b"/>
            <a:pathLst>
              <a:path w="5183605" h="5079933">
                <a:moveTo>
                  <a:pt x="0" y="0"/>
                </a:moveTo>
                <a:lnTo>
                  <a:pt x="5183605" y="0"/>
                </a:lnTo>
                <a:lnTo>
                  <a:pt x="5183605" y="5079933"/>
                </a:lnTo>
                <a:lnTo>
                  <a:pt x="0" y="50799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-1385832" y="7200900"/>
            <a:ext cx="5811338" cy="3814351"/>
          </a:xfrm>
          <a:custGeom>
            <a:avLst/>
            <a:gdLst/>
            <a:ahLst/>
            <a:cxnLst/>
            <a:rect l="l" t="t" r="r" b="b"/>
            <a:pathLst>
              <a:path w="5811338" h="3814351">
                <a:moveTo>
                  <a:pt x="0" y="0"/>
                </a:moveTo>
                <a:lnTo>
                  <a:pt x="5811338" y="0"/>
                </a:lnTo>
                <a:lnTo>
                  <a:pt x="5811338" y="3814351"/>
                </a:lnTo>
                <a:lnTo>
                  <a:pt x="0" y="38143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5486503" y="4232592"/>
            <a:ext cx="7314995" cy="910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Introductions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77029" y="7476029"/>
            <a:ext cx="2810971" cy="2810971"/>
          </a:xfrm>
          <a:custGeom>
            <a:avLst/>
            <a:gdLst/>
            <a:ahLst/>
            <a:cxnLst/>
            <a:rect l="l" t="t" r="r" b="b"/>
            <a:pathLst>
              <a:path w="2810971" h="2810971">
                <a:moveTo>
                  <a:pt x="0" y="0"/>
                </a:moveTo>
                <a:lnTo>
                  <a:pt x="2810971" y="0"/>
                </a:lnTo>
                <a:lnTo>
                  <a:pt x="2810971" y="2810971"/>
                </a:lnTo>
                <a:lnTo>
                  <a:pt x="0" y="28109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1663586"/>
            <a:ext cx="6806600" cy="1934196"/>
          </a:xfrm>
          <a:custGeom>
            <a:avLst/>
            <a:gdLst/>
            <a:ahLst/>
            <a:cxnLst/>
            <a:rect l="l" t="t" r="r" b="b"/>
            <a:pathLst>
              <a:path w="6806600" h="1934196">
                <a:moveTo>
                  <a:pt x="0" y="0"/>
                </a:moveTo>
                <a:lnTo>
                  <a:pt x="6806600" y="0"/>
                </a:lnTo>
                <a:lnTo>
                  <a:pt x="6806600" y="1934197"/>
                </a:lnTo>
                <a:lnTo>
                  <a:pt x="0" y="1934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3854958"/>
            <a:ext cx="6806600" cy="1899163"/>
          </a:xfrm>
          <a:custGeom>
            <a:avLst/>
            <a:gdLst/>
            <a:ahLst/>
            <a:cxnLst/>
            <a:rect l="l" t="t" r="r" b="b"/>
            <a:pathLst>
              <a:path w="6806600" h="1899163">
                <a:moveTo>
                  <a:pt x="0" y="0"/>
                </a:moveTo>
                <a:lnTo>
                  <a:pt x="6806600" y="0"/>
                </a:lnTo>
                <a:lnTo>
                  <a:pt x="6806600" y="1899162"/>
                </a:lnTo>
                <a:lnTo>
                  <a:pt x="0" y="1899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8700" y="6086872"/>
            <a:ext cx="6806600" cy="1963726"/>
          </a:xfrm>
          <a:custGeom>
            <a:avLst/>
            <a:gdLst/>
            <a:ahLst/>
            <a:cxnLst/>
            <a:rect l="l" t="t" r="r" b="b"/>
            <a:pathLst>
              <a:path w="6806600" h="1963726">
                <a:moveTo>
                  <a:pt x="0" y="0"/>
                </a:moveTo>
                <a:lnTo>
                  <a:pt x="6806600" y="0"/>
                </a:lnTo>
                <a:lnTo>
                  <a:pt x="6806600" y="1963726"/>
                </a:lnTo>
                <a:lnTo>
                  <a:pt x="0" y="19637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28700" y="8355398"/>
            <a:ext cx="6806600" cy="1676988"/>
          </a:xfrm>
          <a:custGeom>
            <a:avLst/>
            <a:gdLst/>
            <a:ahLst/>
            <a:cxnLst/>
            <a:rect l="l" t="t" r="r" b="b"/>
            <a:pathLst>
              <a:path w="6806600" h="1676988">
                <a:moveTo>
                  <a:pt x="0" y="0"/>
                </a:moveTo>
                <a:lnTo>
                  <a:pt x="6806600" y="0"/>
                </a:lnTo>
                <a:lnTo>
                  <a:pt x="6806600" y="1676988"/>
                </a:lnTo>
                <a:lnTo>
                  <a:pt x="0" y="16769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479638"/>
            <a:ext cx="8115300" cy="91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Your Leaders</a:t>
            </a:r>
          </a:p>
        </p:txBody>
      </p:sp>
      <p:sp>
        <p:nvSpPr>
          <p:cNvPr id="8" name="Freeform 8"/>
          <p:cNvSpPr/>
          <p:nvPr/>
        </p:nvSpPr>
        <p:spPr>
          <a:xfrm rot="268120">
            <a:off x="13946492" y="2608126"/>
            <a:ext cx="4299643" cy="4299643"/>
          </a:xfrm>
          <a:custGeom>
            <a:avLst/>
            <a:gdLst/>
            <a:ahLst/>
            <a:cxnLst/>
            <a:rect l="l" t="t" r="r" b="b"/>
            <a:pathLst>
              <a:path w="4299643" h="4299643">
                <a:moveTo>
                  <a:pt x="0" y="0"/>
                </a:moveTo>
                <a:lnTo>
                  <a:pt x="4299643" y="0"/>
                </a:lnTo>
                <a:lnTo>
                  <a:pt x="4299643" y="4299643"/>
                </a:lnTo>
                <a:lnTo>
                  <a:pt x="0" y="42996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758286">
            <a:off x="9560108" y="668203"/>
            <a:ext cx="6450998" cy="3096479"/>
          </a:xfrm>
          <a:custGeom>
            <a:avLst/>
            <a:gdLst/>
            <a:ahLst/>
            <a:cxnLst/>
            <a:rect l="l" t="t" r="r" b="b"/>
            <a:pathLst>
              <a:path w="6450998" h="3096479">
                <a:moveTo>
                  <a:pt x="0" y="0"/>
                </a:moveTo>
                <a:lnTo>
                  <a:pt x="6450997" y="0"/>
                </a:lnTo>
                <a:lnTo>
                  <a:pt x="6450997" y="3096478"/>
                </a:lnTo>
                <a:lnTo>
                  <a:pt x="0" y="3096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407618">
            <a:off x="10708555" y="6032937"/>
            <a:ext cx="4901210" cy="3154597"/>
          </a:xfrm>
          <a:custGeom>
            <a:avLst/>
            <a:gdLst/>
            <a:ahLst/>
            <a:cxnLst/>
            <a:rect l="l" t="t" r="r" b="b"/>
            <a:pathLst>
              <a:path w="4901210" h="3154597">
                <a:moveTo>
                  <a:pt x="0" y="0"/>
                </a:moveTo>
                <a:lnTo>
                  <a:pt x="4901210" y="0"/>
                </a:lnTo>
                <a:lnTo>
                  <a:pt x="4901210" y="3154597"/>
                </a:lnTo>
                <a:lnTo>
                  <a:pt x="0" y="3154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797242"/>
            <a:ext cx="8115300" cy="91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Position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795199-1782-3E29-7075-D7F6A4CB6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044700"/>
            <a:ext cx="14097000" cy="797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99361-6904-895B-1734-9595A506E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A3359F78-1790-1625-B104-16585E891B75}"/>
              </a:ext>
            </a:extLst>
          </p:cNvPr>
          <p:cNvSpPr txBox="1"/>
          <p:nvPr/>
        </p:nvSpPr>
        <p:spPr>
          <a:xfrm>
            <a:off x="1028700" y="797242"/>
            <a:ext cx="8115300" cy="91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Position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684458-4745-2F63-7910-03379012B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41500"/>
            <a:ext cx="12268200" cy="81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6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38664" y="4727125"/>
            <a:ext cx="5672030" cy="4114800"/>
          </a:xfrm>
          <a:custGeom>
            <a:avLst/>
            <a:gdLst/>
            <a:ahLst/>
            <a:cxnLst/>
            <a:rect l="l" t="t" r="r" b="b"/>
            <a:pathLst>
              <a:path w="5672030" h="4114800">
                <a:moveTo>
                  <a:pt x="0" y="0"/>
                </a:moveTo>
                <a:lnTo>
                  <a:pt x="5672030" y="0"/>
                </a:lnTo>
                <a:lnTo>
                  <a:pt x="5672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1436510" y="1495483"/>
            <a:ext cx="5672030" cy="4114800"/>
          </a:xfrm>
          <a:custGeom>
            <a:avLst/>
            <a:gdLst/>
            <a:ahLst/>
            <a:cxnLst/>
            <a:rect l="l" t="t" r="r" b="b"/>
            <a:pathLst>
              <a:path w="5672030" h="4114800">
                <a:moveTo>
                  <a:pt x="5672030" y="0"/>
                </a:moveTo>
                <a:lnTo>
                  <a:pt x="0" y="0"/>
                </a:lnTo>
                <a:lnTo>
                  <a:pt x="0" y="4114800"/>
                </a:lnTo>
                <a:lnTo>
                  <a:pt x="5672030" y="4114800"/>
                </a:lnTo>
                <a:lnTo>
                  <a:pt x="5672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898642" y="5904314"/>
            <a:ext cx="3007545" cy="4114800"/>
          </a:xfrm>
          <a:custGeom>
            <a:avLst/>
            <a:gdLst/>
            <a:ahLst/>
            <a:cxnLst/>
            <a:rect l="l" t="t" r="r" b="b"/>
            <a:pathLst>
              <a:path w="3007545" h="4114800">
                <a:moveTo>
                  <a:pt x="0" y="0"/>
                </a:moveTo>
                <a:lnTo>
                  <a:pt x="3007545" y="0"/>
                </a:lnTo>
                <a:lnTo>
                  <a:pt x="30075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494722"/>
            <a:ext cx="8115300" cy="177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Expectations with Manager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515830"/>
            <a:ext cx="8115300" cy="6582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UPDATE &amp; BE ORGANIZED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Project Trackers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Smartsheet trackers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EC Action Item Tracker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EC Lessons Learned</a:t>
            </a:r>
          </a:p>
          <a:p>
            <a:pPr algn="l">
              <a:lnSpc>
                <a:spcPts val="4283"/>
              </a:lnSpc>
            </a:pPr>
            <a:endParaRPr lang="en-US" sz="3399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DOCUMENT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Conversations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Agenda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Recap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Meetings</a:t>
            </a:r>
          </a:p>
          <a:p>
            <a:pPr algn="l">
              <a:lnSpc>
                <a:spcPts val="4283"/>
              </a:lnSpc>
            </a:pPr>
            <a:endParaRPr lang="en-US" sz="3399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38664" y="4727125"/>
            <a:ext cx="5672030" cy="4114800"/>
          </a:xfrm>
          <a:custGeom>
            <a:avLst/>
            <a:gdLst/>
            <a:ahLst/>
            <a:cxnLst/>
            <a:rect l="l" t="t" r="r" b="b"/>
            <a:pathLst>
              <a:path w="5672030" h="4114800">
                <a:moveTo>
                  <a:pt x="0" y="0"/>
                </a:moveTo>
                <a:lnTo>
                  <a:pt x="5672030" y="0"/>
                </a:lnTo>
                <a:lnTo>
                  <a:pt x="5672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876300"/>
            <a:ext cx="8115300" cy="177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Expectations with Manager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9339" y="2933700"/>
            <a:ext cx="9502861" cy="7133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RISK MITIGATION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Possible Escalations/Issues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Client Sentiment/Temperature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Implementation Errors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Upcoming projects</a:t>
            </a:r>
          </a:p>
          <a:p>
            <a:pPr marL="978746" lvl="2" algn="l">
              <a:lnSpc>
                <a:spcPts val="4283"/>
              </a:lnSpc>
            </a:pPr>
            <a:endParaRPr lang="en-US" sz="3399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COMMUNICATE (ASK &amp; RESPOND)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If it takes more than 5 mins ask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Utilize Teams chats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Don’t hesitate to reach out to other teams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Respond to clients emails asap (acknowledgement)</a:t>
            </a:r>
          </a:p>
          <a:p>
            <a:pPr algn="l">
              <a:lnSpc>
                <a:spcPts val="4283"/>
              </a:lnSpc>
            </a:pPr>
            <a:endParaRPr lang="en-US" sz="3399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sp>
        <p:nvSpPr>
          <p:cNvPr id="5" name="Freeform 5"/>
          <p:cNvSpPr/>
          <p:nvPr/>
        </p:nvSpPr>
        <p:spPr>
          <a:xfrm flipH="1">
            <a:off x="11436510" y="1495483"/>
            <a:ext cx="5672030" cy="4114800"/>
          </a:xfrm>
          <a:custGeom>
            <a:avLst/>
            <a:gdLst/>
            <a:ahLst/>
            <a:cxnLst/>
            <a:rect l="l" t="t" r="r" b="b"/>
            <a:pathLst>
              <a:path w="5672030" h="4114800">
                <a:moveTo>
                  <a:pt x="5672030" y="0"/>
                </a:moveTo>
                <a:lnTo>
                  <a:pt x="0" y="0"/>
                </a:lnTo>
                <a:lnTo>
                  <a:pt x="0" y="4114800"/>
                </a:lnTo>
                <a:lnTo>
                  <a:pt x="5672030" y="4114800"/>
                </a:lnTo>
                <a:lnTo>
                  <a:pt x="5672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297122">
            <a:off x="14254484" y="6420666"/>
            <a:ext cx="4098750" cy="3696327"/>
          </a:xfrm>
          <a:custGeom>
            <a:avLst/>
            <a:gdLst/>
            <a:ahLst/>
            <a:cxnLst/>
            <a:rect l="l" t="t" r="r" b="b"/>
            <a:pathLst>
              <a:path w="4098750" h="3696327">
                <a:moveTo>
                  <a:pt x="0" y="0"/>
                </a:moveTo>
                <a:lnTo>
                  <a:pt x="4098750" y="0"/>
                </a:lnTo>
                <a:lnTo>
                  <a:pt x="4098750" y="3696327"/>
                </a:lnTo>
                <a:lnTo>
                  <a:pt x="0" y="3696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38664" y="4727125"/>
            <a:ext cx="5672030" cy="4114800"/>
          </a:xfrm>
          <a:custGeom>
            <a:avLst/>
            <a:gdLst/>
            <a:ahLst/>
            <a:cxnLst/>
            <a:rect l="l" t="t" r="r" b="b"/>
            <a:pathLst>
              <a:path w="5672030" h="4114800">
                <a:moveTo>
                  <a:pt x="0" y="0"/>
                </a:moveTo>
                <a:lnTo>
                  <a:pt x="5672030" y="0"/>
                </a:lnTo>
                <a:lnTo>
                  <a:pt x="5672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1436510" y="1495483"/>
            <a:ext cx="5672030" cy="4114800"/>
          </a:xfrm>
          <a:custGeom>
            <a:avLst/>
            <a:gdLst/>
            <a:ahLst/>
            <a:cxnLst/>
            <a:rect l="l" t="t" r="r" b="b"/>
            <a:pathLst>
              <a:path w="5672030" h="4114800">
                <a:moveTo>
                  <a:pt x="5672030" y="0"/>
                </a:moveTo>
                <a:lnTo>
                  <a:pt x="0" y="0"/>
                </a:lnTo>
                <a:lnTo>
                  <a:pt x="0" y="4114800"/>
                </a:lnTo>
                <a:lnTo>
                  <a:pt x="5672030" y="4114800"/>
                </a:lnTo>
                <a:lnTo>
                  <a:pt x="5672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955564" y="6821051"/>
            <a:ext cx="4332436" cy="3465949"/>
          </a:xfrm>
          <a:custGeom>
            <a:avLst/>
            <a:gdLst/>
            <a:ahLst/>
            <a:cxnLst/>
            <a:rect l="l" t="t" r="r" b="b"/>
            <a:pathLst>
              <a:path w="4332436" h="3465949">
                <a:moveTo>
                  <a:pt x="0" y="0"/>
                </a:moveTo>
                <a:lnTo>
                  <a:pt x="4332436" y="0"/>
                </a:lnTo>
                <a:lnTo>
                  <a:pt x="4332436" y="3465949"/>
                </a:lnTo>
                <a:lnTo>
                  <a:pt x="0" y="3465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494722"/>
            <a:ext cx="8115300" cy="177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Expectations with Manager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515830"/>
            <a:ext cx="8115300" cy="5965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PROBLEM SOLVING MINDSET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You’re not the SME but you can help gather the experts to resolve the issue</a:t>
            </a:r>
          </a:p>
          <a:p>
            <a:pPr algn="l">
              <a:lnSpc>
                <a:spcPts val="4283"/>
              </a:lnSpc>
            </a:pPr>
            <a:endParaRPr lang="en-US" sz="3399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STAY WITHIN YOUR SWIMLANE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Help Organize but call out if you feel like it is already outside your scope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Point them to the right direction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Teach them how to fish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38664" y="4727125"/>
            <a:ext cx="5672030" cy="4114800"/>
          </a:xfrm>
          <a:custGeom>
            <a:avLst/>
            <a:gdLst/>
            <a:ahLst/>
            <a:cxnLst/>
            <a:rect l="l" t="t" r="r" b="b"/>
            <a:pathLst>
              <a:path w="5672030" h="4114800">
                <a:moveTo>
                  <a:pt x="0" y="0"/>
                </a:moveTo>
                <a:lnTo>
                  <a:pt x="5672030" y="0"/>
                </a:lnTo>
                <a:lnTo>
                  <a:pt x="5672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1436510" y="1495483"/>
            <a:ext cx="5672030" cy="4114800"/>
          </a:xfrm>
          <a:custGeom>
            <a:avLst/>
            <a:gdLst/>
            <a:ahLst/>
            <a:cxnLst/>
            <a:rect l="l" t="t" r="r" b="b"/>
            <a:pathLst>
              <a:path w="5672030" h="4114800">
                <a:moveTo>
                  <a:pt x="5672030" y="0"/>
                </a:moveTo>
                <a:lnTo>
                  <a:pt x="0" y="0"/>
                </a:lnTo>
                <a:lnTo>
                  <a:pt x="0" y="4114800"/>
                </a:lnTo>
                <a:lnTo>
                  <a:pt x="5672030" y="4114800"/>
                </a:lnTo>
                <a:lnTo>
                  <a:pt x="5672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822086" y="6598094"/>
            <a:ext cx="3717204" cy="3406310"/>
          </a:xfrm>
          <a:custGeom>
            <a:avLst/>
            <a:gdLst/>
            <a:ahLst/>
            <a:cxnLst/>
            <a:rect l="l" t="t" r="r" b="b"/>
            <a:pathLst>
              <a:path w="3717204" h="3406310">
                <a:moveTo>
                  <a:pt x="0" y="0"/>
                </a:moveTo>
                <a:lnTo>
                  <a:pt x="3717204" y="0"/>
                </a:lnTo>
                <a:lnTo>
                  <a:pt x="3717204" y="3406311"/>
                </a:lnTo>
                <a:lnTo>
                  <a:pt x="0" y="3406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494722"/>
            <a:ext cx="8115300" cy="177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Expectations with Manager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515830"/>
            <a:ext cx="9182100" cy="6582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BE PROACTIVE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Ask to shadow EMs/ECs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Share best practices and lessons learned</a:t>
            </a:r>
          </a:p>
          <a:p>
            <a:pPr algn="l">
              <a:lnSpc>
                <a:spcPts val="4283"/>
              </a:lnSpc>
            </a:pPr>
            <a:endParaRPr lang="en-US" sz="3399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INNOVATE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Suggestions to improve processes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Utilize Lumina, Co-pilot other AI Tools</a:t>
            </a:r>
          </a:p>
          <a:p>
            <a:pPr algn="l">
              <a:lnSpc>
                <a:spcPts val="4283"/>
              </a:lnSpc>
            </a:pPr>
            <a:endParaRPr lang="en-US" sz="3399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TRAINING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Attend trainings even those not specific for EM/ECs (</a:t>
            </a:r>
            <a:r>
              <a:rPr lang="en-US" sz="3399" err="1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Winzday</a:t>
            </a: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SC Milestones </a:t>
            </a:r>
            <a:r>
              <a:rPr lang="en-US" sz="3399" err="1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etc</a:t>
            </a: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38664" y="4727125"/>
            <a:ext cx="5672030" cy="4114800"/>
          </a:xfrm>
          <a:custGeom>
            <a:avLst/>
            <a:gdLst/>
            <a:ahLst/>
            <a:cxnLst/>
            <a:rect l="l" t="t" r="r" b="b"/>
            <a:pathLst>
              <a:path w="5672030" h="4114800">
                <a:moveTo>
                  <a:pt x="0" y="0"/>
                </a:moveTo>
                <a:lnTo>
                  <a:pt x="5672030" y="0"/>
                </a:lnTo>
                <a:lnTo>
                  <a:pt x="5672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1436510" y="1495483"/>
            <a:ext cx="5672030" cy="4114800"/>
          </a:xfrm>
          <a:custGeom>
            <a:avLst/>
            <a:gdLst/>
            <a:ahLst/>
            <a:cxnLst/>
            <a:rect l="l" t="t" r="r" b="b"/>
            <a:pathLst>
              <a:path w="5672030" h="4114800">
                <a:moveTo>
                  <a:pt x="5672030" y="0"/>
                </a:moveTo>
                <a:lnTo>
                  <a:pt x="0" y="0"/>
                </a:lnTo>
                <a:lnTo>
                  <a:pt x="0" y="4114800"/>
                </a:lnTo>
                <a:lnTo>
                  <a:pt x="5672030" y="4114800"/>
                </a:lnTo>
                <a:lnTo>
                  <a:pt x="5672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622087" y="5952161"/>
            <a:ext cx="3665913" cy="4114800"/>
          </a:xfrm>
          <a:custGeom>
            <a:avLst/>
            <a:gdLst/>
            <a:ahLst/>
            <a:cxnLst/>
            <a:rect l="l" t="t" r="r" b="b"/>
            <a:pathLst>
              <a:path w="3665913" h="4114800">
                <a:moveTo>
                  <a:pt x="0" y="0"/>
                </a:moveTo>
                <a:lnTo>
                  <a:pt x="3665913" y="0"/>
                </a:lnTo>
                <a:lnTo>
                  <a:pt x="36659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494722"/>
            <a:ext cx="8115300" cy="177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Expectations with Manager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515830"/>
            <a:ext cx="8115300" cy="603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ACCOUNTABILITY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You are bound to make mistakes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Own up, focus on what you’ve learned and next steps</a:t>
            </a:r>
          </a:p>
          <a:p>
            <a:pPr algn="l">
              <a:lnSpc>
                <a:spcPts val="4283"/>
              </a:lnSpc>
            </a:pPr>
            <a:endParaRPr lang="en-US" sz="3399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BE CREATIVE BUT FOLLOW STRUCTURE AND TIMELINES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Find your style follow our set guidelines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Set proper expectations with clients (timelines)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54874">
            <a:off x="11693412" y="573219"/>
            <a:ext cx="5248329" cy="5143362"/>
          </a:xfrm>
          <a:custGeom>
            <a:avLst/>
            <a:gdLst/>
            <a:ahLst/>
            <a:cxnLst/>
            <a:rect l="l" t="t" r="r" b="b"/>
            <a:pathLst>
              <a:path w="5248329" h="5143362">
                <a:moveTo>
                  <a:pt x="0" y="0"/>
                </a:moveTo>
                <a:lnTo>
                  <a:pt x="5248329" y="0"/>
                </a:lnTo>
                <a:lnTo>
                  <a:pt x="5248329" y="5143362"/>
                </a:lnTo>
                <a:lnTo>
                  <a:pt x="0" y="51433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731123">
            <a:off x="12649086" y="5142543"/>
            <a:ext cx="4633410" cy="4633410"/>
          </a:xfrm>
          <a:custGeom>
            <a:avLst/>
            <a:gdLst/>
            <a:ahLst/>
            <a:cxnLst/>
            <a:rect l="l" t="t" r="r" b="b"/>
            <a:pathLst>
              <a:path w="4633410" h="4633410">
                <a:moveTo>
                  <a:pt x="0" y="0"/>
                </a:moveTo>
                <a:lnTo>
                  <a:pt x="4633410" y="0"/>
                </a:lnTo>
                <a:lnTo>
                  <a:pt x="4633410" y="4633410"/>
                </a:lnTo>
                <a:lnTo>
                  <a:pt x="0" y="46334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621226" y="4634482"/>
            <a:ext cx="2762176" cy="3732671"/>
          </a:xfrm>
          <a:custGeom>
            <a:avLst/>
            <a:gdLst/>
            <a:ahLst/>
            <a:cxnLst/>
            <a:rect l="l" t="t" r="r" b="b"/>
            <a:pathLst>
              <a:path w="2762176" h="3732671">
                <a:moveTo>
                  <a:pt x="0" y="0"/>
                </a:moveTo>
                <a:lnTo>
                  <a:pt x="2762176" y="0"/>
                </a:lnTo>
                <a:lnTo>
                  <a:pt x="2762176" y="3732671"/>
                </a:lnTo>
                <a:lnTo>
                  <a:pt x="0" y="3732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665812"/>
            <a:ext cx="10029178" cy="91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Business Hours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900280"/>
            <a:ext cx="8115300" cy="4927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9PM - 6AM / 10PM - 7AM</a:t>
            </a:r>
          </a:p>
          <a:p>
            <a:pPr algn="l">
              <a:lnSpc>
                <a:spcPts val="4283"/>
              </a:lnSpc>
            </a:pPr>
            <a:endParaRPr lang="en-US" sz="3399" b="1">
              <a:solidFill>
                <a:srgbClr val="0F0F0F"/>
              </a:solidFill>
              <a:latin typeface="Cooper BT Bold"/>
              <a:ea typeface="Cooper BT Bold"/>
              <a:cs typeface="Cooper BT Bold"/>
              <a:sym typeface="Cooper BT Bold"/>
            </a:endParaRP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Onboarding - </a:t>
            </a:r>
            <a:r>
              <a:rPr lang="en-US" sz="3399" b="1">
                <a:solidFill>
                  <a:srgbClr val="0F0F0F"/>
                </a:solidFill>
                <a:latin typeface="Cooper BT Light"/>
                <a:ea typeface="Cooper BT Bold"/>
                <a:cs typeface="Cooper BT Bold"/>
                <a:sym typeface="Cooper BT Light"/>
              </a:rPr>
              <a:t>2</a:t>
            </a: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Weeks</a:t>
            </a:r>
          </a:p>
          <a:p>
            <a:pPr algn="l">
              <a:lnSpc>
                <a:spcPts val="4283"/>
              </a:lnSpc>
            </a:pPr>
            <a:endParaRPr lang="en-US" sz="3399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Shadowing - </a:t>
            </a: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 or more projects</a:t>
            </a:r>
          </a:p>
          <a:p>
            <a:pPr algn="l">
              <a:lnSpc>
                <a:spcPts val="4283"/>
              </a:lnSpc>
            </a:pPr>
            <a:endParaRPr lang="en-US" sz="3399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WIO </a:t>
            </a: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- Mon – Wed (3 months*)</a:t>
            </a:r>
          </a:p>
          <a:p>
            <a:pPr algn="l">
              <a:lnSpc>
                <a:spcPts val="4283"/>
              </a:lnSpc>
            </a:pPr>
            <a:endParaRPr lang="en-US" sz="3399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  <a:p>
            <a:pPr algn="l">
              <a:lnSpc>
                <a:spcPts val="4283"/>
              </a:lnSpc>
            </a:pPr>
            <a:endParaRPr lang="en-US" sz="3399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65743" y="1132705"/>
            <a:ext cx="4573940" cy="4573940"/>
          </a:xfrm>
          <a:custGeom>
            <a:avLst/>
            <a:gdLst/>
            <a:ahLst/>
            <a:cxnLst/>
            <a:rect l="l" t="t" r="r" b="b"/>
            <a:pathLst>
              <a:path w="4573940" h="4573940">
                <a:moveTo>
                  <a:pt x="0" y="0"/>
                </a:moveTo>
                <a:lnTo>
                  <a:pt x="4573940" y="0"/>
                </a:lnTo>
                <a:lnTo>
                  <a:pt x="4573940" y="4573941"/>
                </a:lnTo>
                <a:lnTo>
                  <a:pt x="0" y="4573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752405" y="4727125"/>
            <a:ext cx="4774557" cy="4114800"/>
          </a:xfrm>
          <a:custGeom>
            <a:avLst/>
            <a:gdLst/>
            <a:ahLst/>
            <a:cxnLst/>
            <a:rect l="l" t="t" r="r" b="b"/>
            <a:pathLst>
              <a:path w="4774557" h="4114800">
                <a:moveTo>
                  <a:pt x="0" y="0"/>
                </a:moveTo>
                <a:lnTo>
                  <a:pt x="4774557" y="0"/>
                </a:lnTo>
                <a:lnTo>
                  <a:pt x="47745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094645" y="612325"/>
            <a:ext cx="3164655" cy="4114800"/>
          </a:xfrm>
          <a:custGeom>
            <a:avLst/>
            <a:gdLst/>
            <a:ahLst/>
            <a:cxnLst/>
            <a:rect l="l" t="t" r="r" b="b"/>
            <a:pathLst>
              <a:path w="3164655" h="4114800">
                <a:moveTo>
                  <a:pt x="0" y="0"/>
                </a:moveTo>
                <a:lnTo>
                  <a:pt x="3164655" y="0"/>
                </a:lnTo>
                <a:lnTo>
                  <a:pt x="31646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815597" y="5972092"/>
            <a:ext cx="1645813" cy="1624866"/>
          </a:xfrm>
          <a:custGeom>
            <a:avLst/>
            <a:gdLst/>
            <a:ahLst/>
            <a:cxnLst/>
            <a:rect l="l" t="t" r="r" b="b"/>
            <a:pathLst>
              <a:path w="1645813" h="1624866">
                <a:moveTo>
                  <a:pt x="0" y="0"/>
                </a:moveTo>
                <a:lnTo>
                  <a:pt x="1645813" y="0"/>
                </a:lnTo>
                <a:lnTo>
                  <a:pt x="1645813" y="1624866"/>
                </a:lnTo>
                <a:lnTo>
                  <a:pt x="0" y="16248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14400" y="1136686"/>
            <a:ext cx="8115300" cy="910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Work From Home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4143" y="2126854"/>
            <a:ext cx="8115300" cy="7685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3"/>
              </a:lnSpc>
            </a:pPr>
            <a:r>
              <a:rPr lang="en-US" sz="3399" b="1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Be Productive (Integrity)</a:t>
            </a:r>
          </a:p>
          <a:p>
            <a:pPr algn="l">
              <a:lnSpc>
                <a:spcPts val="4283"/>
              </a:lnSpc>
            </a:pPr>
            <a:endParaRPr lang="en-US" sz="3399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  <a:p>
            <a:pPr algn="l">
              <a:lnSpc>
                <a:spcPts val="4283"/>
              </a:lnSpc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Team Meetings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Listen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Participate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Ask Questions</a:t>
            </a:r>
          </a:p>
          <a:p>
            <a:pPr algn="l">
              <a:lnSpc>
                <a:spcPts val="4283"/>
              </a:lnSpc>
            </a:pPr>
            <a:endParaRPr lang="en-US" sz="3399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  <a:p>
            <a:pPr algn="l">
              <a:lnSpc>
                <a:spcPts val="4283"/>
              </a:lnSpc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Client Meetings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Record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Be Warm and Friendly but keep it Polite and Professional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Turn on Camera (Be Presentable)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Agenda 24 </a:t>
            </a:r>
            <a:r>
              <a:rPr lang="en-US" sz="3399" err="1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hrs</a:t>
            </a: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before meeting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Recap within 24 </a:t>
            </a:r>
            <a:r>
              <a:rPr lang="en-US" sz="3399" err="1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hrs</a:t>
            </a: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after meeting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00106" y="3983717"/>
            <a:ext cx="4975308" cy="4902940"/>
          </a:xfrm>
          <a:custGeom>
            <a:avLst/>
            <a:gdLst/>
            <a:ahLst/>
            <a:cxnLst/>
            <a:rect l="l" t="t" r="r" b="b"/>
            <a:pathLst>
              <a:path w="4975308" h="4902940">
                <a:moveTo>
                  <a:pt x="0" y="0"/>
                </a:moveTo>
                <a:lnTo>
                  <a:pt x="4975308" y="0"/>
                </a:lnTo>
                <a:lnTo>
                  <a:pt x="4975308" y="4902940"/>
                </a:lnTo>
                <a:lnTo>
                  <a:pt x="0" y="4902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980368" y="1400343"/>
            <a:ext cx="4010060" cy="4114800"/>
          </a:xfrm>
          <a:custGeom>
            <a:avLst/>
            <a:gdLst/>
            <a:ahLst/>
            <a:cxnLst/>
            <a:rect l="l" t="t" r="r" b="b"/>
            <a:pathLst>
              <a:path w="4010060" h="4114800">
                <a:moveTo>
                  <a:pt x="0" y="0"/>
                </a:moveTo>
                <a:lnTo>
                  <a:pt x="4010059" y="0"/>
                </a:lnTo>
                <a:lnTo>
                  <a:pt x="4010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359592"/>
            <a:ext cx="8115300" cy="91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PTO Guidelines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506305"/>
            <a:ext cx="8115300" cy="566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5670"/>
              </a:lnSpc>
              <a:buFont typeface="Arial"/>
              <a:buChar char="•"/>
            </a:pPr>
            <a:r>
              <a:rPr lang="en-US" sz="4500" u="sng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  <a:hlinkClick r:id="rId4" tooltip="https://app.smartsheet.com/b/publish?EQBCT=ba3f2803d4794d259c3b3ad260b8b9d1"/>
              </a:rPr>
              <a:t>EM PTO Request Form and Calendar</a:t>
            </a:r>
          </a:p>
          <a:p>
            <a:pPr marL="971550" lvl="1" indent="-485775" algn="l">
              <a:lnSpc>
                <a:spcPts val="5670"/>
              </a:lnSpc>
              <a:buFont typeface="Arial"/>
              <a:buChar char="•"/>
            </a:pPr>
            <a:r>
              <a:rPr lang="en-US" sz="4500" u="sng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  <a:hlinkClick r:id="rId5"/>
              </a:rPr>
              <a:t>PH PSG PTO Process</a:t>
            </a:r>
            <a:r>
              <a:rPr lang="en-US" sz="4500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  <a:hlinkClick r:id="rId5"/>
              </a:rPr>
              <a:t> </a:t>
            </a:r>
            <a:endParaRPr lang="en-US" sz="4500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  <a:p>
            <a:pPr marL="971550" lvl="1" indent="-485775" algn="l">
              <a:lnSpc>
                <a:spcPts val="5670"/>
              </a:lnSpc>
              <a:buFont typeface="Arial"/>
              <a:buChar char="•"/>
            </a:pPr>
            <a:r>
              <a:rPr lang="en-US" sz="4500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OOO Buddy/Endorsements</a:t>
            </a:r>
          </a:p>
          <a:p>
            <a:pPr marL="971550" lvl="1" indent="-485775" algn="l">
              <a:lnSpc>
                <a:spcPts val="5670"/>
              </a:lnSpc>
              <a:buFont typeface="Arial"/>
              <a:buChar char="•"/>
            </a:pPr>
            <a:r>
              <a:rPr lang="en-US" sz="4500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Calendar and Auto-Replies</a:t>
            </a:r>
          </a:p>
          <a:p>
            <a:pPr marL="971550" lvl="1" indent="-485775" algn="l">
              <a:lnSpc>
                <a:spcPts val="5670"/>
              </a:lnSpc>
              <a:buFont typeface="Arial"/>
              <a:buChar char="•"/>
            </a:pPr>
            <a:r>
              <a:rPr lang="en-US" sz="4500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Client and SC Notifications</a:t>
            </a:r>
          </a:p>
          <a:p>
            <a:pPr marL="971550" lvl="1" indent="-485775" algn="l">
              <a:lnSpc>
                <a:spcPts val="5670"/>
              </a:lnSpc>
              <a:buFont typeface="Arial"/>
              <a:buChar char="•"/>
            </a:pPr>
            <a:r>
              <a:rPr lang="en-US" sz="4500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Dayforce</a:t>
            </a:r>
          </a:p>
          <a:p>
            <a:pPr algn="l">
              <a:lnSpc>
                <a:spcPts val="4283"/>
              </a:lnSpc>
            </a:pPr>
            <a:endParaRPr lang="en-US" sz="4500">
              <a:solidFill>
                <a:srgbClr val="0F0F0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09519" y="569379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75871">
            <a:off x="13020214" y="2753261"/>
            <a:ext cx="4901210" cy="3154597"/>
          </a:xfrm>
          <a:custGeom>
            <a:avLst/>
            <a:gdLst/>
            <a:ahLst/>
            <a:cxnLst/>
            <a:rect l="l" t="t" r="r" b="b"/>
            <a:pathLst>
              <a:path w="4901210" h="3154597">
                <a:moveTo>
                  <a:pt x="0" y="0"/>
                </a:moveTo>
                <a:lnTo>
                  <a:pt x="4901209" y="0"/>
                </a:lnTo>
                <a:lnTo>
                  <a:pt x="4901209" y="3154597"/>
                </a:lnTo>
                <a:lnTo>
                  <a:pt x="0" y="3154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994630" y="5521538"/>
            <a:ext cx="5312535" cy="4114800"/>
          </a:xfrm>
          <a:custGeom>
            <a:avLst/>
            <a:gdLst/>
            <a:ahLst/>
            <a:cxnLst/>
            <a:rect l="l" t="t" r="r" b="b"/>
            <a:pathLst>
              <a:path w="5312535" h="4114800">
                <a:moveTo>
                  <a:pt x="0" y="0"/>
                </a:moveTo>
                <a:lnTo>
                  <a:pt x="5312536" y="0"/>
                </a:lnTo>
                <a:lnTo>
                  <a:pt x="53125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247991"/>
            <a:ext cx="8115300" cy="177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Coaching &amp; Team Meetings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2950" y="3534880"/>
            <a:ext cx="11260054" cy="4927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Weekly / Bi-weekly 1:1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Discuss Projects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Raise Questions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Share Observations/Clarifications (Shadowing)</a:t>
            </a:r>
          </a:p>
          <a:p>
            <a:pPr marL="1468119" lvl="2" indent="-489373" algn="l">
              <a:lnSpc>
                <a:spcPts val="4283"/>
              </a:lnSpc>
              <a:buFont typeface="Arial"/>
              <a:buChar char="⚬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Weekly Project Update (Email)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Annual &amp; Mid-Year Performance Review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Bi-Weekly EM Meetings (Mondays 10AM CT)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Bi-Weekly Cluster Meetings (Wednesdays* 10 AM CT)</a:t>
            </a:r>
          </a:p>
          <a:p>
            <a:pPr marL="734059" lvl="1" indent="-367030" algn="l">
              <a:lnSpc>
                <a:spcPts val="4283"/>
              </a:lnSpc>
              <a:buFont typeface="Arial"/>
              <a:buChar char="•"/>
            </a:pPr>
            <a:r>
              <a:rPr lang="en-US" sz="3399">
                <a:solidFill>
                  <a:srgbClr val="0F0F0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PH EC Connect (TBD)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96155" y="1376612"/>
            <a:ext cx="6868420" cy="5257463"/>
          </a:xfrm>
          <a:custGeom>
            <a:avLst/>
            <a:gdLst/>
            <a:ahLst/>
            <a:cxnLst/>
            <a:rect l="l" t="t" r="r" b="b"/>
            <a:pathLst>
              <a:path w="6868420" h="5257463">
                <a:moveTo>
                  <a:pt x="0" y="0"/>
                </a:moveTo>
                <a:lnTo>
                  <a:pt x="6868420" y="0"/>
                </a:lnTo>
                <a:lnTo>
                  <a:pt x="6868420" y="5257464"/>
                </a:lnTo>
                <a:lnTo>
                  <a:pt x="0" y="52574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893465" y="6128538"/>
            <a:ext cx="3940604" cy="3947782"/>
          </a:xfrm>
          <a:custGeom>
            <a:avLst/>
            <a:gdLst/>
            <a:ahLst/>
            <a:cxnLst/>
            <a:rect l="l" t="t" r="r" b="b"/>
            <a:pathLst>
              <a:path w="3940604" h="3947782">
                <a:moveTo>
                  <a:pt x="0" y="0"/>
                </a:moveTo>
                <a:lnTo>
                  <a:pt x="3940604" y="0"/>
                </a:lnTo>
                <a:lnTo>
                  <a:pt x="3940604" y="3947781"/>
                </a:lnTo>
                <a:lnTo>
                  <a:pt x="0" y="39477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357517" y="6339218"/>
            <a:ext cx="3598388" cy="3526420"/>
          </a:xfrm>
          <a:custGeom>
            <a:avLst/>
            <a:gdLst/>
            <a:ahLst/>
            <a:cxnLst/>
            <a:rect l="l" t="t" r="r" b="b"/>
            <a:pathLst>
              <a:path w="3598388" h="3526420">
                <a:moveTo>
                  <a:pt x="0" y="0"/>
                </a:moveTo>
                <a:lnTo>
                  <a:pt x="3598388" y="0"/>
                </a:lnTo>
                <a:lnTo>
                  <a:pt x="3598388" y="3526421"/>
                </a:lnTo>
                <a:lnTo>
                  <a:pt x="0" y="352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494722"/>
            <a:ext cx="8115300" cy="348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Onboarding Calendar</a:t>
            </a:r>
          </a:p>
          <a:p>
            <a:pPr algn="l">
              <a:lnSpc>
                <a:spcPts val="6800"/>
              </a:lnSpc>
            </a:pPr>
            <a:endParaRPr lang="en-US" sz="6800" b="1">
              <a:solidFill>
                <a:srgbClr val="0F0F0F"/>
              </a:solidFill>
              <a:latin typeface="Cooper BT Bold"/>
              <a:ea typeface="Cooper BT Bold"/>
              <a:cs typeface="Cooper BT Bold"/>
              <a:sym typeface="Cooper BT Bold"/>
            </a:endParaRPr>
          </a:p>
          <a:p>
            <a:pPr algn="l">
              <a:lnSpc>
                <a:spcPts val="6800"/>
              </a:lnSpc>
            </a:pPr>
            <a:endParaRPr lang="en-US" sz="6800" b="1">
              <a:solidFill>
                <a:srgbClr val="0F0F0F"/>
              </a:solidFill>
              <a:latin typeface="Cooper BT Bold"/>
              <a:ea typeface="Cooper BT Bold"/>
              <a:cs typeface="Cooper BT Bold"/>
              <a:sym typeface="Cooper B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66800" y="4957378"/>
            <a:ext cx="8115300" cy="91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Teams Review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3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70460" y="1465352"/>
            <a:ext cx="7347080" cy="6291772"/>
          </a:xfrm>
          <a:custGeom>
            <a:avLst/>
            <a:gdLst/>
            <a:ahLst/>
            <a:cxnLst/>
            <a:rect l="l" t="t" r="r" b="b"/>
            <a:pathLst>
              <a:path w="7347080" h="6291772">
                <a:moveTo>
                  <a:pt x="0" y="0"/>
                </a:moveTo>
                <a:lnTo>
                  <a:pt x="7347080" y="0"/>
                </a:lnTo>
                <a:lnTo>
                  <a:pt x="7347080" y="6291772"/>
                </a:lnTo>
                <a:lnTo>
                  <a:pt x="0" y="62917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199716" y="4610569"/>
            <a:ext cx="3674962" cy="115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8"/>
              </a:lnSpc>
            </a:pPr>
            <a:r>
              <a:rPr lang="en-US" sz="8568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Q&amp;A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24083" y="2602014"/>
            <a:ext cx="2642386" cy="182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607"/>
              </a:lnSpc>
            </a:pPr>
            <a:r>
              <a:rPr lang="en-US" sz="13607" b="1">
                <a:solidFill>
                  <a:srgbClr val="0F0F0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11A7D7C6AF7C4B84849BBC7AECD042" ma:contentTypeVersion="7" ma:contentTypeDescription="Create a new document." ma:contentTypeScope="" ma:versionID="d1a1c2fab4bc054141fc059f64628e6a">
  <xsd:schema xmlns:xsd="http://www.w3.org/2001/XMLSchema" xmlns:xs="http://www.w3.org/2001/XMLSchema" xmlns:p="http://schemas.microsoft.com/office/2006/metadata/properties" xmlns:ns2="09f0d035-db3a-41e2-9c9f-cd4fb346005c" targetNamespace="http://schemas.microsoft.com/office/2006/metadata/properties" ma:root="true" ma:fieldsID="79197425f45961dcb975a55f67a80289" ns2:_="">
    <xsd:import namespace="09f0d035-db3a-41e2-9c9f-cd4fb34600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0d035-db3a-41e2-9c9f-cd4fb34600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B34A2A0-D2A1-42BB-8D8C-AACCC2E13BB8}"/>
</file>

<file path=customXml/itemProps2.xml><?xml version="1.0" encoding="utf-8"?>
<ds:datastoreItem xmlns:ds="http://schemas.openxmlformats.org/officeDocument/2006/customXml" ds:itemID="{DBD8A834-7DB3-44D0-9684-477C259D02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930D40-8821-47F7-BB46-20E61E2312BB}">
  <ds:schemaRefs>
    <ds:schemaRef ds:uri="c6dc340a-7c91-4274-b2cf-9086e6b71284"/>
    <ds:schemaRef ds:uri="cd7206cd-d979-4761-a191-6f271d209b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6970c53-fc97-4c45-87e9-80615808800c}" enabled="1" method="Standard" siteId="{2c94bed6-d675-4d3d-a53b-7b461fd6acc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Engagement Management Team!</dc:title>
  <cp:revision>2</cp:revision>
  <dcterms:created xsi:type="dcterms:W3CDTF">2006-08-16T00:00:00Z</dcterms:created>
  <dcterms:modified xsi:type="dcterms:W3CDTF">2026-07-23T13:18:34Z</dcterms:modified>
  <dc:identifier>DAHJ-biHCxg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0x010100B811A7D7C6AF7C4B84849BBC7AECD042</vt:lpwstr>
  </property>
  <property fmtid="{D5CDD505-2E9C-101B-9397-08002B2CF9AE}" pid="3" name="ClassificationContentMarkingFooterLocations">
    <vt:lpwstr>Office Theme:10</vt:lpwstr>
  </property>
  <property fmtid="{D5CDD505-2E9C-101B-9397-08002B2CF9AE}" pid="4" name="ClassificationContentMarkingFooterText">
    <vt:lpwstr>For RealPage Internal Use Only</vt:lpwstr>
  </property>
  <property fmtid="{D5CDD505-2E9C-101B-9397-08002B2CF9AE}" pid="5" name="ClassificationContentMarkingHeaderLocations">
    <vt:lpwstr>Office Theme:9</vt:lpwstr>
  </property>
  <property fmtid="{D5CDD505-2E9C-101B-9397-08002B2CF9AE}" pid="6" name="ClassificationContentMarkingHeaderText">
    <vt:lpwstr>Internal Use</vt:lpwstr>
  </property>
  <property fmtid="{D5CDD505-2E9C-101B-9397-08002B2CF9AE}" pid="7" name="MediaServiceImageTags">
    <vt:lpwstr/>
  </property>
</Properties>
</file>