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8288000" cy="10287000"/>
  <p:notesSz cx="6858000" cy="9144000"/>
  <p:embeddedFontLst>
    <p:embeddedFont>
      <p:font typeface="Blogger" panose="020B0604020202020204" charset="0"/>
      <p:regular r:id="rId24"/>
    </p:embeddedFont>
    <p:embeddedFont>
      <p:font typeface="Blogger Bold" panose="020B0604020202020204" charset="0"/>
      <p:regular r:id="rId25"/>
    </p:embeddedFont>
    <p:embeddedFont>
      <p:font typeface="Fredoka" panose="020B0604020202020204" charset="0"/>
      <p:regular r:id="rId26"/>
    </p:embeddedFont>
    <p:embeddedFont>
      <p:font typeface="Quicksand" panose="020B0604020202020204" charset="0"/>
      <p:regular r:id="rId27"/>
    </p:embeddedFont>
    <p:embeddedFont>
      <p:font typeface="Quicksand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95DC13-FCE6-9920-D274-C11F31B8BF52}" v="6" dt="2026-08-21T17:58:05.4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 Ragudos" userId="S::kat.ragudos@realpage.com::fa2688e3-404f-4469-939d-a0c2d069d1ee" providerId="AD" clId="Web-{0C95DC13-FCE6-9920-D274-C11F31B8BF52}"/>
    <pc:docChg chg="modSld">
      <pc:chgData name="Kat Ragudos" userId="S::kat.ragudos@realpage.com::fa2688e3-404f-4469-939d-a0c2d069d1ee" providerId="AD" clId="Web-{0C95DC13-FCE6-9920-D274-C11F31B8BF52}" dt="2026-08-21T17:58:05.499" v="3" actId="20577"/>
      <pc:docMkLst>
        <pc:docMk/>
      </pc:docMkLst>
      <pc:sldChg chg="modSp">
        <pc:chgData name="Kat Ragudos" userId="S::kat.ragudos@realpage.com::fa2688e3-404f-4469-939d-a0c2d069d1ee" providerId="AD" clId="Web-{0C95DC13-FCE6-9920-D274-C11F31B8BF52}" dt="2026-08-21T17:58:05.499" v="3" actId="20577"/>
        <pc:sldMkLst>
          <pc:docMk/>
          <pc:sldMk cId="0" sldId="269"/>
        </pc:sldMkLst>
        <pc:spChg chg="mod">
          <ac:chgData name="Kat Ragudos" userId="S::kat.ragudos@realpage.com::fa2688e3-404f-4469-939d-a0c2d069d1ee" providerId="AD" clId="Web-{0C95DC13-FCE6-9920-D274-C11F31B8BF52}" dt="2026-08-21T17:58:05.499" v="3" actId="20577"/>
          <ac:spMkLst>
            <pc:docMk/>
            <pc:sldMk cId="0" sldId="269"/>
            <ac:spMk id="26" creationId="{00000000-0000-0000-0000-000000000000}"/>
          </ac:spMkLst>
        </pc:spChg>
      </pc:sldChg>
    </pc:docChg>
  </pc:docChgLst>
  <pc:docChgLst>
    <pc:chgData name="Gabrielle Orito" userId="S::gabrielle.orito@realpage.com::c3b72c5e-e0f6-49f8-bf5b-2d09d3842f49" providerId="AD" clId="Web-{CC709B67-8194-38FB-3791-6BFC34533597}"/>
    <pc:docChg chg="mod modSld modMainMaster">
      <pc:chgData name="Gabrielle Orito" userId="S::gabrielle.orito@realpage.com::c3b72c5e-e0f6-49f8-bf5b-2d09d3842f49" providerId="AD" clId="Web-{CC709B67-8194-38FB-3791-6BFC34533597}" dt="2026-07-27T14:13:05.960" v="2" actId="1076"/>
      <pc:docMkLst>
        <pc:docMk/>
      </pc:docMkLst>
      <pc:sldChg chg="modSp">
        <pc:chgData name="Gabrielle Orito" userId="S::gabrielle.orito@realpage.com::c3b72c5e-e0f6-49f8-bf5b-2d09d3842f49" providerId="AD" clId="Web-{CC709B67-8194-38FB-3791-6BFC34533597}" dt="2026-07-27T14:13:05.960" v="2" actId="1076"/>
        <pc:sldMkLst>
          <pc:docMk/>
          <pc:sldMk cId="0" sldId="263"/>
        </pc:sldMkLst>
        <pc:spChg chg="mod">
          <ac:chgData name="Gabrielle Orito" userId="S::gabrielle.orito@realpage.com::c3b72c5e-e0f6-49f8-bf5b-2d09d3842f49" providerId="AD" clId="Web-{CC709B67-8194-38FB-3791-6BFC34533597}" dt="2026-07-27T14:13:05.960" v="2" actId="1076"/>
          <ac:spMkLst>
            <pc:docMk/>
            <pc:sldMk cId="0" sldId="263"/>
            <ac:spMk id="15" creationId="{00000000-0000-0000-0000-000000000000}"/>
          </ac:spMkLst>
        </pc:spChg>
      </pc:sldChg>
      <pc:sldMasterChg chg="addSp">
        <pc:chgData name="Gabrielle Orito" userId="S::gabrielle.orito@realpage.com::c3b72c5e-e0f6-49f8-bf5b-2d09d3842f49" providerId="AD" clId="Web-{CC709B67-8194-38FB-3791-6BFC34533597}" dt="2026-07-27T14:12:16.677" v="0" actId="33475"/>
        <pc:sldMasterMkLst>
          <pc:docMk/>
          <pc:sldMasterMk cId="0" sldId="2147483648"/>
        </pc:sldMasterMkLst>
        <pc:spChg chg="add">
          <ac:chgData name="Gabrielle Orito" userId="S::gabrielle.orito@realpage.com::c3b72c5e-e0f6-49f8-bf5b-2d09d3842f49" providerId="AD" clId="Web-{CC709B67-8194-38FB-3791-6BFC34533597}" dt="2026-07-27T14:12:16.677" v="0" actId="33475"/>
          <ac:spMkLst>
            <pc:docMk/>
            <pc:sldMasterMk cId="0" sldId="2147483648"/>
            <ac:spMk id="9" creationId="{49E3B32D-BE01-7313-4CF2-76081E34D59C}"/>
          </ac:spMkLst>
        </pc:spChg>
        <pc:spChg chg="add">
          <ac:chgData name="Gabrielle Orito" userId="S::gabrielle.orito@realpage.com::c3b72c5e-e0f6-49f8-bf5b-2d09d3842f49" providerId="AD" clId="Web-{CC709B67-8194-38FB-3791-6BFC34533597}" dt="2026-07-27T14:12:16.677" v="0" actId="33475"/>
          <ac:spMkLst>
            <pc:docMk/>
            <pc:sldMasterMk cId="0" sldId="2147483648"/>
            <ac:spMk id="10" creationId="{FD2BFB04-473E-9AEB-55CF-959A23D75609}"/>
          </ac:spMkLst>
        </pc:spChg>
      </pc:sldMasterChg>
    </pc:docChg>
  </pc:docChgLst>
  <pc:docChgLst>
    <pc:chgData name="Maria Cristina Alvarado" userId="S::mariacristina.alvarado@realpage.com::d9132ba1-f0ef-4885-8a20-5e95bdad85d7" providerId="AD" clId="Web-{059B634E-63FD-607D-084F-55E2AC4C0F2F}"/>
    <pc:docChg chg="modSld">
      <pc:chgData name="Maria Cristina Alvarado" userId="S::mariacristina.alvarado@realpage.com::d9132ba1-f0ef-4885-8a20-5e95bdad85d7" providerId="AD" clId="Web-{059B634E-63FD-607D-084F-55E2AC4C0F2F}" dt="2026-07-27T20:38:31.500" v="28" actId="1076"/>
      <pc:docMkLst>
        <pc:docMk/>
      </pc:docMkLst>
      <pc:sldChg chg="modSp">
        <pc:chgData name="Maria Cristina Alvarado" userId="S::mariacristina.alvarado@realpage.com::d9132ba1-f0ef-4885-8a20-5e95bdad85d7" providerId="AD" clId="Web-{059B634E-63FD-607D-084F-55E2AC4C0F2F}" dt="2026-07-27T20:25:28.434" v="12" actId="20577"/>
        <pc:sldMkLst>
          <pc:docMk/>
          <pc:sldMk cId="0" sldId="257"/>
        </pc:sldMkLst>
        <pc:spChg chg="mod">
          <ac:chgData name="Maria Cristina Alvarado" userId="S::mariacristina.alvarado@realpage.com::d9132ba1-f0ef-4885-8a20-5e95bdad85d7" providerId="AD" clId="Web-{059B634E-63FD-607D-084F-55E2AC4C0F2F}" dt="2026-07-27T20:25:28.434" v="12" actId="20577"/>
          <ac:spMkLst>
            <pc:docMk/>
            <pc:sldMk cId="0" sldId="257"/>
            <ac:spMk id="5" creationId="{00000000-0000-0000-0000-000000000000}"/>
          </ac:spMkLst>
        </pc:spChg>
      </pc:sldChg>
      <pc:sldChg chg="modSp">
        <pc:chgData name="Maria Cristina Alvarado" userId="S::mariacristina.alvarado@realpage.com::d9132ba1-f0ef-4885-8a20-5e95bdad85d7" providerId="AD" clId="Web-{059B634E-63FD-607D-084F-55E2AC4C0F2F}" dt="2026-07-27T20:28:09.263" v="14" actId="1076"/>
        <pc:sldMkLst>
          <pc:docMk/>
          <pc:sldMk cId="0" sldId="265"/>
        </pc:sldMkLst>
        <pc:spChg chg="mod">
          <ac:chgData name="Maria Cristina Alvarado" userId="S::mariacristina.alvarado@realpage.com::d9132ba1-f0ef-4885-8a20-5e95bdad85d7" providerId="AD" clId="Web-{059B634E-63FD-607D-084F-55E2AC4C0F2F}" dt="2026-07-27T20:28:09.263" v="14" actId="1076"/>
          <ac:spMkLst>
            <pc:docMk/>
            <pc:sldMk cId="0" sldId="265"/>
            <ac:spMk id="12" creationId="{00000000-0000-0000-0000-000000000000}"/>
          </ac:spMkLst>
        </pc:spChg>
        <pc:spChg chg="mod">
          <ac:chgData name="Maria Cristina Alvarado" userId="S::mariacristina.alvarado@realpage.com::d9132ba1-f0ef-4885-8a20-5e95bdad85d7" providerId="AD" clId="Web-{059B634E-63FD-607D-084F-55E2AC4C0F2F}" dt="2026-07-27T20:28:03.295" v="13" actId="1076"/>
          <ac:spMkLst>
            <pc:docMk/>
            <pc:sldMk cId="0" sldId="265"/>
            <ac:spMk id="14" creationId="{00000000-0000-0000-0000-000000000000}"/>
          </ac:spMkLst>
        </pc:spChg>
      </pc:sldChg>
      <pc:sldChg chg="modSp">
        <pc:chgData name="Maria Cristina Alvarado" userId="S::mariacristina.alvarado@realpage.com::d9132ba1-f0ef-4885-8a20-5e95bdad85d7" providerId="AD" clId="Web-{059B634E-63FD-607D-084F-55E2AC4C0F2F}" dt="2026-07-27T20:28:40.904" v="15" actId="1076"/>
        <pc:sldMkLst>
          <pc:docMk/>
          <pc:sldMk cId="0" sldId="267"/>
        </pc:sldMkLst>
        <pc:spChg chg="mod">
          <ac:chgData name="Maria Cristina Alvarado" userId="S::mariacristina.alvarado@realpage.com::d9132ba1-f0ef-4885-8a20-5e95bdad85d7" providerId="AD" clId="Web-{059B634E-63FD-607D-084F-55E2AC4C0F2F}" dt="2026-07-27T20:28:40.904" v="15" actId="1076"/>
          <ac:spMkLst>
            <pc:docMk/>
            <pc:sldMk cId="0" sldId="267"/>
            <ac:spMk id="12" creationId="{00000000-0000-0000-0000-000000000000}"/>
          </ac:spMkLst>
        </pc:spChg>
      </pc:sldChg>
      <pc:sldChg chg="modSp">
        <pc:chgData name="Maria Cristina Alvarado" userId="S::mariacristina.alvarado@realpage.com::d9132ba1-f0ef-4885-8a20-5e95bdad85d7" providerId="AD" clId="Web-{059B634E-63FD-607D-084F-55E2AC4C0F2F}" dt="2026-07-27T20:38:31.500" v="28" actId="1076"/>
        <pc:sldMkLst>
          <pc:docMk/>
          <pc:sldMk cId="0" sldId="269"/>
        </pc:sldMkLst>
        <pc:spChg chg="mod">
          <ac:chgData name="Maria Cristina Alvarado" userId="S::mariacristina.alvarado@realpage.com::d9132ba1-f0ef-4885-8a20-5e95bdad85d7" providerId="AD" clId="Web-{059B634E-63FD-607D-084F-55E2AC4C0F2F}" dt="2026-07-27T20:38:26.531" v="27" actId="1076"/>
          <ac:spMkLst>
            <pc:docMk/>
            <pc:sldMk cId="0" sldId="269"/>
            <ac:spMk id="25" creationId="{00000000-0000-0000-0000-000000000000}"/>
          </ac:spMkLst>
        </pc:spChg>
        <pc:spChg chg="mod">
          <ac:chgData name="Maria Cristina Alvarado" userId="S::mariacristina.alvarado@realpage.com::d9132ba1-f0ef-4885-8a20-5e95bdad85d7" providerId="AD" clId="Web-{059B634E-63FD-607D-084F-55E2AC4C0F2F}" dt="2026-07-27T20:38:21.125" v="26" actId="14100"/>
          <ac:spMkLst>
            <pc:docMk/>
            <pc:sldMk cId="0" sldId="269"/>
            <ac:spMk id="26" creationId="{00000000-0000-0000-0000-000000000000}"/>
          </ac:spMkLst>
        </pc:spChg>
        <pc:spChg chg="mod">
          <ac:chgData name="Maria Cristina Alvarado" userId="S::mariacristina.alvarado@realpage.com::d9132ba1-f0ef-4885-8a20-5e95bdad85d7" providerId="AD" clId="Web-{059B634E-63FD-607D-084F-55E2AC4C0F2F}" dt="2026-07-27T20:38:31.500" v="28" actId="1076"/>
          <ac:spMkLst>
            <pc:docMk/>
            <pc:sldMk cId="0" sldId="269"/>
            <ac:spMk id="3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9" name="TextBox 8">
            <a:extLst>
              <a:ext uri="{FF2B5EF4-FFF2-40B4-BE49-F238E27FC236}">
                <a16:creationId xmlns:a16="http://schemas.microsoft.com/office/drawing/2014/main" id="{49E3B32D-BE01-7313-4CF2-76081E34D59C}"/>
              </a:ext>
            </a:extLst>
          </p:cNvPr>
          <p:cNvSpPr txBox="1"/>
          <p:nvPr>
            <p:extLst>
              <p:ext uri="{1162E1C5-73C7-4A58-AE30-91384D911F3F}">
                <p184:classification xmlns:p184="http://schemas.microsoft.com/office/powerpoint/2018/4/main" val="hdr"/>
              </p:ext>
            </p:extLst>
          </p:nvPr>
        </p:nvSpPr>
        <p:spPr>
          <a:xfrm>
            <a:off x="8877300" y="63500"/>
            <a:ext cx="5540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 Use</a:t>
            </a:r>
          </a:p>
        </p:txBody>
      </p:sp>
      <p:sp>
        <p:nvSpPr>
          <p:cNvPr id="10" name="TextBox 9">
            <a:extLst>
              <a:ext uri="{FF2B5EF4-FFF2-40B4-BE49-F238E27FC236}">
                <a16:creationId xmlns:a16="http://schemas.microsoft.com/office/drawing/2014/main" id="{FD2BFB04-473E-9AEB-55CF-959A23D75609}"/>
              </a:ext>
            </a:extLst>
          </p:cNvPr>
          <p:cNvSpPr txBox="1"/>
          <p:nvPr>
            <p:extLst>
              <p:ext uri="{1162E1C5-73C7-4A58-AE30-91384D911F3F}">
                <p184:classification xmlns:p184="http://schemas.microsoft.com/office/powerpoint/2018/4/main" val="ftr"/>
              </p:ext>
            </p:extLst>
          </p:nvPr>
        </p:nvSpPr>
        <p:spPr>
          <a:xfrm>
            <a:off x="8299450" y="10071100"/>
            <a:ext cx="17145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For RealPage Internal Use Only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12" Type="http://schemas.openxmlformats.org/officeDocument/2006/relationships/image" Target="../media/image22.pn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svg"/><Relationship Id="rId9" Type="http://schemas.openxmlformats.org/officeDocument/2006/relationships/image" Target="../media/image19.svg"/></Relationships>
</file>

<file path=ppt/slides/_rels/slide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1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 Id="rId6" Type="http://schemas.openxmlformats.org/officeDocument/2006/relationships/image" Target="../media/image39.jpeg"/><Relationship Id="rId5" Type="http://schemas.openxmlformats.org/officeDocument/2006/relationships/image" Target="../media/image38.png"/><Relationship Id="rId4" Type="http://schemas.openxmlformats.org/officeDocument/2006/relationships/image" Target="../media/image37.svg"/></Relationships>
</file>

<file path=ppt/slides/_rels/slide1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hyperlink" Target="https://realpage.sharepoint.com/teams/PHCustomerSuccess/Lists/sample1/All%20Items.aspx" TargetMode="External"/><Relationship Id="rId2" Type="http://schemas.openxmlformats.org/officeDocument/2006/relationships/image" Target="../media/image41.svg"/><Relationship Id="rId1" Type="http://schemas.openxmlformats.org/officeDocument/2006/relationships/slideLayout" Target="../slideLayouts/slideLayout7.xml"/><Relationship Id="rId6" Type="http://schemas.openxmlformats.org/officeDocument/2006/relationships/hyperlink" Target="https://app.smartsheet.com/b/publish?EQBCT=ba3f2803d4794d259c3b3ad260b8b9d1" TargetMode="External"/><Relationship Id="rId5" Type="http://schemas.openxmlformats.org/officeDocument/2006/relationships/image" Target="../media/image44.png"/><Relationship Id="rId4" Type="http://schemas.openxmlformats.org/officeDocument/2006/relationships/image" Target="../media/image43.svg"/></Relationships>
</file>

<file path=ppt/slides/_rels/slide1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41.svg"/><Relationship Id="rId1" Type="http://schemas.openxmlformats.org/officeDocument/2006/relationships/slideLayout" Target="../slideLayouts/slideLayout7.xml"/><Relationship Id="rId5" Type="http://schemas.openxmlformats.org/officeDocument/2006/relationships/image" Target="../media/image45.svg"/><Relationship Id="rId4" Type="http://schemas.openxmlformats.org/officeDocument/2006/relationships/image" Target="../media/image43.svg"/></Relationships>
</file>

<file path=ppt/slides/_rels/slide1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47.jpeg"/><Relationship Id="rId1" Type="http://schemas.openxmlformats.org/officeDocument/2006/relationships/slideLayout" Target="../slideLayouts/slideLayout7.xml"/><Relationship Id="rId5" Type="http://schemas.openxmlformats.org/officeDocument/2006/relationships/image" Target="../media/image37.svg"/><Relationship Id="rId4" Type="http://schemas.openxmlformats.org/officeDocument/2006/relationships/image" Target="../media/image48.svg"/></Relationships>
</file>

<file path=ppt/slides/_rels/slide19.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50.svg"/><Relationship Id="rId7" Type="http://schemas.openxmlformats.org/officeDocument/2006/relationships/image" Target="../media/image53.svg"/><Relationship Id="rId2" Type="http://schemas.openxmlformats.org/officeDocument/2006/relationships/image" Target="../media/image49.svg"/><Relationship Id="rId1" Type="http://schemas.openxmlformats.org/officeDocument/2006/relationships/slideLayout" Target="../slideLayouts/slideLayout7.xml"/><Relationship Id="rId6" Type="http://schemas.openxmlformats.org/officeDocument/2006/relationships/image" Target="../media/image52.svg"/><Relationship Id="rId5" Type="http://schemas.openxmlformats.org/officeDocument/2006/relationships/image" Target="../media/image51.svg"/><Relationship Id="rId10" Type="http://schemas.openxmlformats.org/officeDocument/2006/relationships/image" Target="../media/image56.svg"/><Relationship Id="rId4" Type="http://schemas.openxmlformats.org/officeDocument/2006/relationships/image" Target="../media/image11.svg"/><Relationship Id="rId9" Type="http://schemas.openxmlformats.org/officeDocument/2006/relationships/image" Target="../media/image5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V="1">
            <a:off x="303528" y="-204506"/>
            <a:ext cx="3538760" cy="4145816"/>
          </a:xfrm>
          <a:custGeom>
            <a:avLst/>
            <a:gdLst/>
            <a:ahLst/>
            <a:cxnLst/>
            <a:rect l="l" t="t" r="r" b="b"/>
            <a:pathLst>
              <a:path w="3538760" h="4145816">
                <a:moveTo>
                  <a:pt x="0" y="4145815"/>
                </a:moveTo>
                <a:lnTo>
                  <a:pt x="3538760" y="4145815"/>
                </a:lnTo>
                <a:lnTo>
                  <a:pt x="3538760" y="0"/>
                </a:lnTo>
                <a:lnTo>
                  <a:pt x="0" y="0"/>
                </a:lnTo>
                <a:lnTo>
                  <a:pt x="0" y="4145815"/>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07675" y="2440579"/>
            <a:ext cx="6234231" cy="5599473"/>
          </a:xfrm>
          <a:custGeom>
            <a:avLst/>
            <a:gdLst/>
            <a:ahLst/>
            <a:cxnLst/>
            <a:rect l="l" t="t" r="r" b="b"/>
            <a:pathLst>
              <a:path w="6234231" h="5599473">
                <a:moveTo>
                  <a:pt x="0" y="0"/>
                </a:moveTo>
                <a:lnTo>
                  <a:pt x="6234231" y="0"/>
                </a:lnTo>
                <a:lnTo>
                  <a:pt x="6234231" y="5599473"/>
                </a:lnTo>
                <a:lnTo>
                  <a:pt x="0" y="55994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2996961" y="6172200"/>
            <a:ext cx="5291039" cy="4114800"/>
          </a:xfrm>
          <a:custGeom>
            <a:avLst/>
            <a:gdLst/>
            <a:ahLst/>
            <a:cxnLst/>
            <a:rect l="l" t="t" r="r" b="b"/>
            <a:pathLst>
              <a:path w="5291039" h="4114800">
                <a:moveTo>
                  <a:pt x="0" y="0"/>
                </a:moveTo>
                <a:lnTo>
                  <a:pt x="5291039" y="0"/>
                </a:lnTo>
                <a:lnTo>
                  <a:pt x="5291039"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5400000">
            <a:off x="31016" y="6732599"/>
            <a:ext cx="3554401" cy="3554401"/>
          </a:xfrm>
          <a:custGeom>
            <a:avLst/>
            <a:gdLst/>
            <a:ahLst/>
            <a:cxnLst/>
            <a:rect l="l" t="t" r="r" b="b"/>
            <a:pathLst>
              <a:path w="3554401" h="3554401">
                <a:moveTo>
                  <a:pt x="0" y="0"/>
                </a:moveTo>
                <a:lnTo>
                  <a:pt x="3554400" y="0"/>
                </a:lnTo>
                <a:lnTo>
                  <a:pt x="3554400" y="3554401"/>
                </a:lnTo>
                <a:lnTo>
                  <a:pt x="0" y="355440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flipH="1">
            <a:off x="13713597" y="0"/>
            <a:ext cx="4574403" cy="4574403"/>
          </a:xfrm>
          <a:custGeom>
            <a:avLst/>
            <a:gdLst/>
            <a:ahLst/>
            <a:cxnLst/>
            <a:rect l="l" t="t" r="r" b="b"/>
            <a:pathLst>
              <a:path w="4574403" h="4574403">
                <a:moveTo>
                  <a:pt x="4574403" y="0"/>
                </a:moveTo>
                <a:lnTo>
                  <a:pt x="0" y="0"/>
                </a:lnTo>
                <a:lnTo>
                  <a:pt x="0" y="4574403"/>
                </a:lnTo>
                <a:lnTo>
                  <a:pt x="4574403" y="4574403"/>
                </a:lnTo>
                <a:lnTo>
                  <a:pt x="4574403"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7822164" y="2545343"/>
            <a:ext cx="6371063" cy="782759"/>
          </a:xfrm>
          <a:custGeom>
            <a:avLst/>
            <a:gdLst/>
            <a:ahLst/>
            <a:cxnLst/>
            <a:rect l="l" t="t" r="r" b="b"/>
            <a:pathLst>
              <a:path w="6371063" h="782759">
                <a:moveTo>
                  <a:pt x="0" y="0"/>
                </a:moveTo>
                <a:lnTo>
                  <a:pt x="6371064" y="0"/>
                </a:lnTo>
                <a:lnTo>
                  <a:pt x="6371064" y="782759"/>
                </a:lnTo>
                <a:lnTo>
                  <a:pt x="0" y="78275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7295816" y="3628105"/>
            <a:ext cx="10992184" cy="2422525"/>
          </a:xfrm>
          <a:prstGeom prst="rect">
            <a:avLst/>
          </a:prstGeom>
        </p:spPr>
        <p:txBody>
          <a:bodyPr lIns="0" tIns="0" rIns="0" bIns="0" rtlCol="0" anchor="t">
            <a:spAutoFit/>
          </a:bodyPr>
          <a:lstStyle/>
          <a:p>
            <a:pPr marL="0" lvl="0" indent="0" algn="l">
              <a:lnSpc>
                <a:spcPts val="9799"/>
              </a:lnSpc>
            </a:pPr>
            <a:r>
              <a:rPr lang="en-US" sz="6999">
                <a:solidFill>
                  <a:srgbClr val="082649"/>
                </a:solidFill>
                <a:latin typeface="Fredoka"/>
                <a:ea typeface="Fredoka"/>
                <a:cs typeface="Fredoka"/>
                <a:sym typeface="Fredoka"/>
              </a:rPr>
              <a:t>Welcome to Engagement Management (Add-On)</a:t>
            </a:r>
          </a:p>
        </p:txBody>
      </p:sp>
      <p:sp>
        <p:nvSpPr>
          <p:cNvPr id="9" name="TextBox 9"/>
          <p:cNvSpPr txBox="1"/>
          <p:nvPr/>
        </p:nvSpPr>
        <p:spPr>
          <a:xfrm>
            <a:off x="7822164" y="6355430"/>
            <a:ext cx="8570692" cy="661035"/>
          </a:xfrm>
          <a:prstGeom prst="rect">
            <a:avLst/>
          </a:prstGeom>
        </p:spPr>
        <p:txBody>
          <a:bodyPr lIns="0" tIns="0" rIns="0" bIns="0" rtlCol="0" anchor="t">
            <a:spAutoFit/>
          </a:bodyPr>
          <a:lstStyle/>
          <a:p>
            <a:pPr marL="0" lvl="0" indent="0" algn="l">
              <a:lnSpc>
                <a:spcPts val="5040"/>
              </a:lnSpc>
              <a:spcBef>
                <a:spcPct val="0"/>
              </a:spcBef>
            </a:pPr>
            <a:r>
              <a:rPr lang="en-US" sz="3600" spc="719">
                <a:solidFill>
                  <a:srgbClr val="082649"/>
                </a:solidFill>
                <a:latin typeface="Blogger"/>
                <a:ea typeface="Blogger"/>
                <a:cs typeface="Blogger"/>
                <a:sym typeface="Blogger"/>
              </a:rPr>
              <a:t>Professional Services Group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a:off x="0" y="61722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4329410" y="6172200"/>
            <a:ext cx="3958590" cy="4114800"/>
          </a:xfrm>
          <a:custGeom>
            <a:avLst/>
            <a:gdLst/>
            <a:ahLst/>
            <a:cxnLst/>
            <a:rect l="l" t="t" r="r" b="b"/>
            <a:pathLst>
              <a:path w="3958590" h="4114800">
                <a:moveTo>
                  <a:pt x="3958590" y="0"/>
                </a:moveTo>
                <a:lnTo>
                  <a:pt x="0" y="0"/>
                </a:lnTo>
                <a:lnTo>
                  <a:pt x="0" y="4114800"/>
                </a:lnTo>
                <a:lnTo>
                  <a:pt x="3958590" y="4114800"/>
                </a:lnTo>
                <a:lnTo>
                  <a:pt x="395859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6308705" y="4318335"/>
            <a:ext cx="2644817" cy="2495745"/>
          </a:xfrm>
          <a:custGeom>
            <a:avLst/>
            <a:gdLst/>
            <a:ahLst/>
            <a:cxnLst/>
            <a:rect l="l" t="t" r="r" b="b"/>
            <a:pathLst>
              <a:path w="2644817" h="2495745">
                <a:moveTo>
                  <a:pt x="0" y="0"/>
                </a:moveTo>
                <a:lnTo>
                  <a:pt x="2644817" y="0"/>
                </a:lnTo>
                <a:lnTo>
                  <a:pt x="2644817" y="2495745"/>
                </a:lnTo>
                <a:lnTo>
                  <a:pt x="0" y="249574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241086" y="1715397"/>
            <a:ext cx="13401077" cy="7107715"/>
          </a:xfrm>
          <a:prstGeom prst="rect">
            <a:avLst/>
          </a:prstGeom>
        </p:spPr>
        <p:txBody>
          <a:bodyPr lIns="0" tIns="0" rIns="0" bIns="0" rtlCol="0" anchor="t">
            <a:spAutoFit/>
          </a:bodyPr>
          <a:lstStyle/>
          <a:p>
            <a:pPr algn="ctr">
              <a:lnSpc>
                <a:spcPts val="4298"/>
              </a:lnSpc>
            </a:pPr>
            <a:r>
              <a:rPr lang="en-US" sz="2500" dirty="0">
                <a:solidFill>
                  <a:srgbClr val="FFFFFF"/>
                </a:solidFill>
                <a:latin typeface="Quicksand"/>
                <a:ea typeface="Quicksand"/>
                <a:cs typeface="Quicksand"/>
                <a:sym typeface="Quicksand"/>
              </a:rPr>
              <a:t>RealPage is a leading global provider of AI-enabled software platforms for the real estate industry, founded in 1998 </a:t>
            </a:r>
            <a:r>
              <a:rPr lang="en-US" sz="2500">
                <a:solidFill>
                  <a:srgbClr val="FFFFFF"/>
                </a:solidFill>
                <a:latin typeface="Quicksand"/>
                <a:ea typeface="Quicksand"/>
                <a:cs typeface="Quicksand"/>
                <a:sym typeface="Quicksand"/>
              </a:rPr>
              <a:t>and headquartered</a:t>
            </a:r>
            <a:r>
              <a:rPr lang="en-US" sz="2500" dirty="0">
                <a:solidFill>
                  <a:srgbClr val="FFFFFF"/>
                </a:solidFill>
                <a:latin typeface="Quicksand"/>
                <a:ea typeface="Quicksand"/>
                <a:cs typeface="Quicksand"/>
                <a:sym typeface="Quicksand"/>
              </a:rPr>
              <a:t> in Richardson, Texas. It offers cloud-based </a:t>
            </a:r>
            <a:r>
              <a:rPr lang="en-US" sz="2500">
                <a:solidFill>
                  <a:srgbClr val="FFFFFF"/>
                </a:solidFill>
                <a:latin typeface="Quicksand"/>
                <a:ea typeface="Quicksand"/>
                <a:cs typeface="Quicksand"/>
                <a:sym typeface="Quicksand"/>
              </a:rPr>
              <a:t>property management software for leasing, operations, and notably</a:t>
            </a:r>
            <a:r>
              <a:rPr lang="en-US" sz="2500" dirty="0">
                <a:solidFill>
                  <a:srgbClr val="FFFFFF"/>
                </a:solidFill>
                <a:latin typeface="Quicksand"/>
                <a:ea typeface="Quicksand"/>
                <a:cs typeface="Quicksand"/>
                <a:sym typeface="Quicksand"/>
              </a:rPr>
              <a:t>, algorithmic rent setting, serving over 24 million rental units worldwide. ​</a:t>
            </a:r>
          </a:p>
          <a:p>
            <a:pPr algn="ctr">
              <a:lnSpc>
                <a:spcPts val="4298"/>
              </a:lnSpc>
            </a:pPr>
            <a:endParaRPr lang="en-US" sz="2528">
              <a:solidFill>
                <a:srgbClr val="FFFFFF"/>
              </a:solidFill>
              <a:latin typeface="Quicksand"/>
              <a:ea typeface="Quicksand"/>
              <a:cs typeface="Quicksand"/>
              <a:sym typeface="Quicksand"/>
            </a:endParaRPr>
          </a:p>
          <a:p>
            <a:pPr algn="ctr">
              <a:lnSpc>
                <a:spcPts val="4298"/>
              </a:lnSpc>
            </a:pPr>
            <a:r>
              <a:rPr lang="en-US" sz="2500" dirty="0">
                <a:solidFill>
                  <a:srgbClr val="FFFFFF"/>
                </a:solidFill>
                <a:latin typeface="Quicksand"/>
                <a:ea typeface="Quicksand"/>
                <a:cs typeface="Quicksand"/>
                <a:sym typeface="Quicksand"/>
              </a:rPr>
              <a:t>Our suite of solutions benefits owners and managers of various rental property types, including conventional, affordable, military, student, single-family, senior and vacation housing. We also provide commercial and mixed use property management solutions. We’ve evolved our products from the desktop to the cloud, with many available both online and for mobile devices. Our products manage everything from marketing to pricing and other property operations, such as: Property Management, Sales &amp;Marketing, Applicant Screening, Revenue Management, Spend Management, Utility Management, Renters Insurance, Resident Services, and Contact Center.​</a:t>
            </a:r>
            <a:endParaRPr lang="en-US" sz="2500" dirty="0">
              <a:solidFill>
                <a:srgbClr val="FFFFFF"/>
              </a:solidFill>
              <a:latin typeface="Quicksand"/>
              <a:ea typeface="Quicksand"/>
              <a:cs typeface="Quicksand"/>
            </a:endParaRPr>
          </a:p>
        </p:txBody>
      </p:sp>
      <p:sp>
        <p:nvSpPr>
          <p:cNvPr id="6" name="Freeform 6"/>
          <p:cNvSpPr/>
          <p:nvPr/>
        </p:nvSpPr>
        <p:spPr>
          <a:xfrm>
            <a:off x="14581093" y="9594455"/>
            <a:ext cx="3455225" cy="424514"/>
          </a:xfrm>
          <a:custGeom>
            <a:avLst/>
            <a:gdLst/>
            <a:ahLst/>
            <a:cxnLst/>
            <a:rect l="l" t="t" r="r" b="b"/>
            <a:pathLst>
              <a:path w="3455225" h="424514">
                <a:moveTo>
                  <a:pt x="0" y="0"/>
                </a:moveTo>
                <a:lnTo>
                  <a:pt x="3455224" y="0"/>
                </a:lnTo>
                <a:lnTo>
                  <a:pt x="3455224" y="424514"/>
                </a:lnTo>
                <a:lnTo>
                  <a:pt x="0" y="42451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4264337" y="283847"/>
            <a:ext cx="9759326" cy="1303021"/>
          </a:xfrm>
          <a:prstGeom prst="rect">
            <a:avLst/>
          </a:prstGeom>
        </p:spPr>
        <p:txBody>
          <a:bodyPr lIns="0" tIns="0" rIns="0" bIns="0" rtlCol="0" anchor="t">
            <a:spAutoFit/>
          </a:bodyPr>
          <a:lstStyle/>
          <a:p>
            <a:pPr marL="0" lvl="0" indent="0" algn="ctr">
              <a:lnSpc>
                <a:spcPts val="10079"/>
              </a:lnSpc>
              <a:spcBef>
                <a:spcPct val="0"/>
              </a:spcBef>
            </a:pPr>
            <a:r>
              <a:rPr lang="en-US" sz="7199" b="1">
                <a:solidFill>
                  <a:srgbClr val="FFFFFF"/>
                </a:solidFill>
                <a:latin typeface="Blogger Bold"/>
                <a:ea typeface="Blogger Bold"/>
                <a:cs typeface="Blogger Bold"/>
                <a:sym typeface="Blogger Bold"/>
              </a:rPr>
              <a:t>Welcome to RealPage!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106930"/>
            <a:ext cx="981698" cy="98169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 name="TextBox 4"/>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1</a:t>
              </a:r>
            </a:p>
          </p:txBody>
        </p:sp>
      </p:grpSp>
      <p:grpSp>
        <p:nvGrpSpPr>
          <p:cNvPr id="5" name="Group 5"/>
          <p:cNvGrpSpPr/>
          <p:nvPr/>
        </p:nvGrpSpPr>
        <p:grpSpPr>
          <a:xfrm>
            <a:off x="1028700" y="3380613"/>
            <a:ext cx="981698" cy="98169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9C37"/>
            </a:solidFill>
          </p:spPr>
        </p:sp>
        <p:sp>
          <p:nvSpPr>
            <p:cNvPr id="7" name="TextBox 7"/>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2</a:t>
              </a:r>
            </a:p>
          </p:txBody>
        </p:sp>
      </p:grpSp>
      <p:grpSp>
        <p:nvGrpSpPr>
          <p:cNvPr id="8" name="Group 8"/>
          <p:cNvGrpSpPr/>
          <p:nvPr/>
        </p:nvGrpSpPr>
        <p:grpSpPr>
          <a:xfrm>
            <a:off x="1028700" y="5927979"/>
            <a:ext cx="981698" cy="98169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9C37"/>
            </a:solidFill>
          </p:spPr>
        </p:sp>
        <p:sp>
          <p:nvSpPr>
            <p:cNvPr id="10" name="TextBox 10"/>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4</a:t>
              </a:r>
            </a:p>
          </p:txBody>
        </p:sp>
      </p:grpSp>
      <p:grpSp>
        <p:nvGrpSpPr>
          <p:cNvPr id="11" name="Group 11"/>
          <p:cNvGrpSpPr/>
          <p:nvPr/>
        </p:nvGrpSpPr>
        <p:grpSpPr>
          <a:xfrm>
            <a:off x="1028700" y="4654296"/>
            <a:ext cx="981698" cy="98169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3" name="TextBox 13"/>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3</a:t>
              </a:r>
            </a:p>
          </p:txBody>
        </p:sp>
      </p:grpSp>
      <p:grpSp>
        <p:nvGrpSpPr>
          <p:cNvPr id="14" name="Group 14"/>
          <p:cNvGrpSpPr/>
          <p:nvPr/>
        </p:nvGrpSpPr>
        <p:grpSpPr>
          <a:xfrm>
            <a:off x="1028700" y="7201662"/>
            <a:ext cx="981698" cy="98169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6" name="TextBox 16"/>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5</a:t>
              </a:r>
            </a:p>
          </p:txBody>
        </p:sp>
      </p:grpSp>
      <p:grpSp>
        <p:nvGrpSpPr>
          <p:cNvPr id="17" name="Group 17"/>
          <p:cNvGrpSpPr/>
          <p:nvPr/>
        </p:nvGrpSpPr>
        <p:grpSpPr>
          <a:xfrm>
            <a:off x="9661264" y="2324411"/>
            <a:ext cx="981698" cy="98169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7</a:t>
              </a:r>
            </a:p>
          </p:txBody>
        </p:sp>
      </p:grpSp>
      <p:grpSp>
        <p:nvGrpSpPr>
          <p:cNvPr id="20" name="Group 20"/>
          <p:cNvGrpSpPr/>
          <p:nvPr/>
        </p:nvGrpSpPr>
        <p:grpSpPr>
          <a:xfrm>
            <a:off x="9685979" y="3698055"/>
            <a:ext cx="981698" cy="98169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9C37"/>
            </a:solidFill>
          </p:spPr>
        </p:sp>
        <p:sp>
          <p:nvSpPr>
            <p:cNvPr id="22" name="TextBox 22"/>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8</a:t>
              </a:r>
            </a:p>
          </p:txBody>
        </p:sp>
      </p:grpSp>
      <p:grpSp>
        <p:nvGrpSpPr>
          <p:cNvPr id="23" name="Group 23"/>
          <p:cNvGrpSpPr/>
          <p:nvPr/>
        </p:nvGrpSpPr>
        <p:grpSpPr>
          <a:xfrm>
            <a:off x="1028700" y="8478635"/>
            <a:ext cx="981698" cy="98169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9C37"/>
            </a:solidFill>
          </p:spPr>
        </p:sp>
        <p:sp>
          <p:nvSpPr>
            <p:cNvPr id="25" name="TextBox 25"/>
            <p:cNvSpPr txBox="1"/>
            <p:nvPr/>
          </p:nvSpPr>
          <p:spPr>
            <a:xfrm>
              <a:off x="76200" y="-9525"/>
              <a:ext cx="660400" cy="746125"/>
            </a:xfrm>
            <a:prstGeom prst="rect">
              <a:avLst/>
            </a:prstGeom>
          </p:spPr>
          <p:txBody>
            <a:bodyPr lIns="50800" tIns="50800" rIns="50800" bIns="50800" rtlCol="0" anchor="ctr"/>
            <a:lstStyle/>
            <a:p>
              <a:pPr algn="ctr">
                <a:lnSpc>
                  <a:spcPts val="3600"/>
                </a:lnSpc>
              </a:pPr>
              <a:r>
                <a:rPr lang="en-US" sz="2400" b="1">
                  <a:solidFill>
                    <a:srgbClr val="082649"/>
                  </a:solidFill>
                  <a:latin typeface="Quicksand Bold"/>
                  <a:ea typeface="Quicksand Bold"/>
                  <a:cs typeface="Quicksand Bold"/>
                  <a:sym typeface="Quicksand Bold"/>
                </a:rPr>
                <a:t>6</a:t>
              </a:r>
            </a:p>
          </p:txBody>
        </p:sp>
      </p:grpSp>
      <p:sp>
        <p:nvSpPr>
          <p:cNvPr id="26" name="Freeform 26"/>
          <p:cNvSpPr/>
          <p:nvPr/>
        </p:nvSpPr>
        <p:spPr>
          <a:xfrm flipH="1">
            <a:off x="14292127" y="6291127"/>
            <a:ext cx="3995873" cy="3995873"/>
          </a:xfrm>
          <a:custGeom>
            <a:avLst/>
            <a:gdLst/>
            <a:ahLst/>
            <a:cxnLst/>
            <a:rect l="l" t="t" r="r" b="b"/>
            <a:pathLst>
              <a:path w="3995873" h="3995873">
                <a:moveTo>
                  <a:pt x="3995873" y="0"/>
                </a:moveTo>
                <a:lnTo>
                  <a:pt x="0" y="0"/>
                </a:lnTo>
                <a:lnTo>
                  <a:pt x="0" y="3995873"/>
                </a:lnTo>
                <a:lnTo>
                  <a:pt x="3995873" y="3995873"/>
                </a:lnTo>
                <a:lnTo>
                  <a:pt x="3995873"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TextBox 27"/>
          <p:cNvSpPr txBox="1"/>
          <p:nvPr/>
        </p:nvSpPr>
        <p:spPr>
          <a:xfrm>
            <a:off x="492763" y="299085"/>
            <a:ext cx="9571906" cy="1303020"/>
          </a:xfrm>
          <a:prstGeom prst="rect">
            <a:avLst/>
          </a:prstGeom>
        </p:spPr>
        <p:txBody>
          <a:bodyPr lIns="0" tIns="0" rIns="0" bIns="0" rtlCol="0" anchor="t">
            <a:spAutoFit/>
          </a:bodyPr>
          <a:lstStyle/>
          <a:p>
            <a:pPr marL="0" lvl="0" indent="0" algn="l">
              <a:lnSpc>
                <a:spcPts val="10080"/>
              </a:lnSpc>
              <a:spcBef>
                <a:spcPct val="0"/>
              </a:spcBef>
            </a:pPr>
            <a:r>
              <a:rPr lang="en-US" sz="7200" b="1">
                <a:solidFill>
                  <a:srgbClr val="FFFFFF"/>
                </a:solidFill>
                <a:latin typeface="Blogger Bold"/>
                <a:ea typeface="Blogger Bold"/>
                <a:cs typeface="Blogger Bold"/>
                <a:sym typeface="Blogger Bold"/>
              </a:rPr>
              <a:t>Agenda Overview</a:t>
            </a:r>
          </a:p>
        </p:txBody>
      </p:sp>
      <p:sp>
        <p:nvSpPr>
          <p:cNvPr id="28" name="TextBox 28"/>
          <p:cNvSpPr txBox="1"/>
          <p:nvPr/>
        </p:nvSpPr>
        <p:spPr>
          <a:xfrm>
            <a:off x="2562265" y="2267261"/>
            <a:ext cx="6546548" cy="603885"/>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Introductions</a:t>
            </a:r>
          </a:p>
        </p:txBody>
      </p:sp>
      <p:sp>
        <p:nvSpPr>
          <p:cNvPr id="29" name="TextBox 29"/>
          <p:cNvSpPr txBox="1"/>
          <p:nvPr/>
        </p:nvSpPr>
        <p:spPr>
          <a:xfrm>
            <a:off x="2562265" y="3540944"/>
            <a:ext cx="6546548" cy="603885"/>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General Position Overview</a:t>
            </a:r>
          </a:p>
        </p:txBody>
      </p:sp>
      <p:sp>
        <p:nvSpPr>
          <p:cNvPr id="30" name="TextBox 30"/>
          <p:cNvSpPr txBox="1"/>
          <p:nvPr/>
        </p:nvSpPr>
        <p:spPr>
          <a:xfrm>
            <a:off x="2562265" y="6088311"/>
            <a:ext cx="6546548" cy="603885"/>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Job Schedule &amp; Hours</a:t>
            </a:r>
          </a:p>
        </p:txBody>
      </p:sp>
      <p:sp>
        <p:nvSpPr>
          <p:cNvPr id="31" name="TextBox 31"/>
          <p:cNvSpPr txBox="1"/>
          <p:nvPr/>
        </p:nvSpPr>
        <p:spPr>
          <a:xfrm>
            <a:off x="2562265" y="4814627"/>
            <a:ext cx="6546548" cy="603885"/>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PTO Guidelines</a:t>
            </a:r>
          </a:p>
        </p:txBody>
      </p:sp>
      <p:sp>
        <p:nvSpPr>
          <p:cNvPr id="32" name="TextBox 32"/>
          <p:cNvSpPr txBox="1"/>
          <p:nvPr/>
        </p:nvSpPr>
        <p:spPr>
          <a:xfrm>
            <a:off x="2562265" y="7361994"/>
            <a:ext cx="6546548" cy="603885"/>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Recurring 1:1</a:t>
            </a:r>
          </a:p>
        </p:txBody>
      </p:sp>
      <p:sp>
        <p:nvSpPr>
          <p:cNvPr id="33" name="TextBox 33"/>
          <p:cNvSpPr txBox="1"/>
          <p:nvPr/>
        </p:nvSpPr>
        <p:spPr>
          <a:xfrm>
            <a:off x="11195412" y="2267261"/>
            <a:ext cx="6521250" cy="1242060"/>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Onboarding Calendar and Training Plan</a:t>
            </a:r>
          </a:p>
        </p:txBody>
      </p:sp>
      <p:sp>
        <p:nvSpPr>
          <p:cNvPr id="34" name="TextBox 34"/>
          <p:cNvSpPr txBox="1"/>
          <p:nvPr/>
        </p:nvSpPr>
        <p:spPr>
          <a:xfrm>
            <a:off x="11220127" y="3858387"/>
            <a:ext cx="6521250" cy="603885"/>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Team Review</a:t>
            </a:r>
          </a:p>
        </p:txBody>
      </p:sp>
      <p:sp>
        <p:nvSpPr>
          <p:cNvPr id="35" name="TextBox 35"/>
          <p:cNvSpPr txBox="1"/>
          <p:nvPr/>
        </p:nvSpPr>
        <p:spPr>
          <a:xfrm>
            <a:off x="2562265" y="8638967"/>
            <a:ext cx="8139931" cy="603885"/>
          </a:xfrm>
          <a:prstGeom prst="rect">
            <a:avLst/>
          </a:prstGeom>
        </p:spPr>
        <p:txBody>
          <a:bodyPr lIns="0" tIns="0" rIns="0" bIns="0" rtlCol="0" anchor="t">
            <a:spAutoFit/>
          </a:bodyPr>
          <a:lstStyle/>
          <a:p>
            <a:pPr marL="0" lvl="0" indent="0" algn="l">
              <a:lnSpc>
                <a:spcPts val="5040"/>
              </a:lnSpc>
            </a:pPr>
            <a:r>
              <a:rPr lang="en-US" sz="3600">
                <a:solidFill>
                  <a:srgbClr val="FFFFFF"/>
                </a:solidFill>
                <a:latin typeface="Quicksand"/>
                <a:ea typeface="Quicksand"/>
                <a:cs typeface="Quicksand"/>
                <a:sym typeface="Quicksand"/>
              </a:rPr>
              <a:t>Annual and Mid-Year Review Process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grpSp>
        <p:nvGrpSpPr>
          <p:cNvPr id="2" name="Group 2"/>
          <p:cNvGrpSpPr/>
          <p:nvPr/>
        </p:nvGrpSpPr>
        <p:grpSpPr>
          <a:xfrm>
            <a:off x="771287" y="3407981"/>
            <a:ext cx="16230600" cy="6879019"/>
            <a:chOff x="0" y="0"/>
            <a:chExt cx="4274726" cy="1811758"/>
          </a:xfrm>
        </p:grpSpPr>
        <p:sp>
          <p:nvSpPr>
            <p:cNvPr id="3" name="Freeform 3"/>
            <p:cNvSpPr/>
            <p:nvPr/>
          </p:nvSpPr>
          <p:spPr>
            <a:xfrm>
              <a:off x="0" y="0"/>
              <a:ext cx="4274726" cy="1811758"/>
            </a:xfrm>
            <a:custGeom>
              <a:avLst/>
              <a:gdLst/>
              <a:ahLst/>
              <a:cxnLst/>
              <a:rect l="l" t="t" r="r" b="b"/>
              <a:pathLst>
                <a:path w="4274726" h="1811758">
                  <a:moveTo>
                    <a:pt x="1425679" y="19070"/>
                  </a:moveTo>
                  <a:cubicBezTo>
                    <a:pt x="1644125" y="7556"/>
                    <a:pt x="1893983" y="0"/>
                    <a:pt x="2138514" y="0"/>
                  </a:cubicBezTo>
                  <a:cubicBezTo>
                    <a:pt x="2383053" y="0"/>
                    <a:pt x="2618360" y="6476"/>
                    <a:pt x="2835204" y="17990"/>
                  </a:cubicBezTo>
                  <a:cubicBezTo>
                    <a:pt x="2839824" y="18350"/>
                    <a:pt x="2844435" y="18350"/>
                    <a:pt x="2849047" y="18710"/>
                  </a:cubicBezTo>
                  <a:cubicBezTo>
                    <a:pt x="3663391" y="64765"/>
                    <a:pt x="4263192" y="186379"/>
                    <a:pt x="4274726" y="350692"/>
                  </a:cubicBezTo>
                  <a:lnTo>
                    <a:pt x="4274726" y="1811758"/>
                  </a:lnTo>
                  <a:lnTo>
                    <a:pt x="0" y="1811758"/>
                  </a:lnTo>
                  <a:lnTo>
                    <a:pt x="0" y="351776"/>
                  </a:lnTo>
                  <a:cubicBezTo>
                    <a:pt x="11535" y="185660"/>
                    <a:pt x="602107" y="64045"/>
                    <a:pt x="1425679" y="19070"/>
                  </a:cubicBezTo>
                  <a:close/>
                </a:path>
              </a:pathLst>
            </a:custGeom>
            <a:solidFill>
              <a:srgbClr val="FFFFFF"/>
            </a:solidFill>
          </p:spPr>
        </p:sp>
        <p:sp>
          <p:nvSpPr>
            <p:cNvPr id="4" name="TextBox 4"/>
            <p:cNvSpPr txBox="1"/>
            <p:nvPr/>
          </p:nvSpPr>
          <p:spPr>
            <a:xfrm>
              <a:off x="0" y="69850"/>
              <a:ext cx="4274726" cy="1741908"/>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0" y="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flipH="1" flipV="1">
            <a:off x="14173200" y="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2760531" y="-1623137"/>
            <a:ext cx="3869446" cy="2406092"/>
          </a:xfrm>
          <a:custGeom>
            <a:avLst/>
            <a:gdLst/>
            <a:ahLst/>
            <a:cxnLst/>
            <a:rect l="l" t="t" r="r" b="b"/>
            <a:pathLst>
              <a:path w="3869446" h="2406092">
                <a:moveTo>
                  <a:pt x="0" y="0"/>
                </a:moveTo>
                <a:lnTo>
                  <a:pt x="3869445" y="0"/>
                </a:lnTo>
                <a:lnTo>
                  <a:pt x="3869445" y="2406092"/>
                </a:lnTo>
                <a:lnTo>
                  <a:pt x="0" y="240609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4936076" y="4306802"/>
            <a:ext cx="3799790" cy="2735849"/>
          </a:xfrm>
          <a:custGeom>
            <a:avLst/>
            <a:gdLst/>
            <a:ahLst/>
            <a:cxnLst/>
            <a:rect l="l" t="t" r="r" b="b"/>
            <a:pathLst>
              <a:path w="3799790" h="2735849">
                <a:moveTo>
                  <a:pt x="0" y="0"/>
                </a:moveTo>
                <a:lnTo>
                  <a:pt x="3799791" y="0"/>
                </a:lnTo>
                <a:lnTo>
                  <a:pt x="3799791" y="2735849"/>
                </a:lnTo>
                <a:lnTo>
                  <a:pt x="0" y="2735849"/>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5386729" y="4386544"/>
            <a:ext cx="2656108" cy="265610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7204" t="-19349" r="-322317" b="-18991"/>
              </a:stretch>
            </a:blipFill>
          </p:spPr>
        </p:sp>
      </p:grpSp>
      <p:sp>
        <p:nvSpPr>
          <p:cNvPr id="11" name="Freeform 11"/>
          <p:cNvSpPr/>
          <p:nvPr/>
        </p:nvSpPr>
        <p:spPr>
          <a:xfrm>
            <a:off x="1275874" y="3991541"/>
            <a:ext cx="3012903" cy="3366372"/>
          </a:xfrm>
          <a:custGeom>
            <a:avLst/>
            <a:gdLst/>
            <a:ahLst/>
            <a:cxnLst/>
            <a:rect l="l" t="t" r="r" b="b"/>
            <a:pathLst>
              <a:path w="3012903" h="3366372">
                <a:moveTo>
                  <a:pt x="0" y="0"/>
                </a:moveTo>
                <a:lnTo>
                  <a:pt x="3012902" y="0"/>
                </a:lnTo>
                <a:lnTo>
                  <a:pt x="3012902" y="3366372"/>
                </a:lnTo>
                <a:lnTo>
                  <a:pt x="0" y="3366372"/>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12" name="Group 12"/>
          <p:cNvGrpSpPr/>
          <p:nvPr/>
        </p:nvGrpSpPr>
        <p:grpSpPr>
          <a:xfrm>
            <a:off x="1454271" y="4386544"/>
            <a:ext cx="2656108" cy="265610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20504" t="-22782" r="-319876" b="-21580"/>
              </a:stretch>
            </a:blipFill>
          </p:spPr>
        </p:sp>
      </p:grpSp>
      <p:sp>
        <p:nvSpPr>
          <p:cNvPr id="14" name="Freeform 14"/>
          <p:cNvSpPr/>
          <p:nvPr/>
        </p:nvSpPr>
        <p:spPr>
          <a:xfrm rot="4151842">
            <a:off x="13285514" y="3907112"/>
            <a:ext cx="3012903" cy="3366372"/>
          </a:xfrm>
          <a:custGeom>
            <a:avLst/>
            <a:gdLst/>
            <a:ahLst/>
            <a:cxnLst/>
            <a:rect l="l" t="t" r="r" b="b"/>
            <a:pathLst>
              <a:path w="3012903" h="3366372">
                <a:moveTo>
                  <a:pt x="0" y="0"/>
                </a:moveTo>
                <a:lnTo>
                  <a:pt x="3012902" y="0"/>
                </a:lnTo>
                <a:lnTo>
                  <a:pt x="3012902" y="3366372"/>
                </a:lnTo>
                <a:lnTo>
                  <a:pt x="0" y="3366372"/>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5" name="Group 15"/>
          <p:cNvGrpSpPr/>
          <p:nvPr/>
        </p:nvGrpSpPr>
        <p:grpSpPr>
          <a:xfrm>
            <a:off x="13367200" y="4386544"/>
            <a:ext cx="2656108" cy="265610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17508" t="-21725" r="-15535" b="-18471"/>
              </a:stretch>
            </a:blipFill>
          </p:spPr>
        </p:sp>
      </p:grpSp>
      <p:sp>
        <p:nvSpPr>
          <p:cNvPr id="17" name="Freeform 17"/>
          <p:cNvSpPr/>
          <p:nvPr/>
        </p:nvSpPr>
        <p:spPr>
          <a:xfrm>
            <a:off x="8945649" y="3991582"/>
            <a:ext cx="3394341" cy="3446031"/>
          </a:xfrm>
          <a:custGeom>
            <a:avLst/>
            <a:gdLst/>
            <a:ahLst/>
            <a:cxnLst/>
            <a:rect l="l" t="t" r="r" b="b"/>
            <a:pathLst>
              <a:path w="3394341" h="3446031">
                <a:moveTo>
                  <a:pt x="0" y="0"/>
                </a:moveTo>
                <a:lnTo>
                  <a:pt x="3394340" y="0"/>
                </a:lnTo>
                <a:lnTo>
                  <a:pt x="3394340" y="3446031"/>
                </a:lnTo>
                <a:lnTo>
                  <a:pt x="0" y="3446031"/>
                </a:lnTo>
                <a:lnTo>
                  <a:pt x="0" y="0"/>
                </a:lnTo>
                <a:close/>
              </a:path>
            </a:pathLst>
          </a:custGeom>
          <a:blipFill>
            <a:blip>
              <a:extLst>
                <a:ext uri="{96DAC541-7B7A-43D3-8B79-37D633B846F1}">
                  <asvg:svgBlip xmlns:asvg="http://schemas.microsoft.com/office/drawing/2016/SVG/main" r:embed="rId11"/>
                </a:ext>
              </a:extLst>
            </a:blip>
            <a:stretch>
              <a:fillRect/>
            </a:stretch>
          </a:blipFill>
        </p:spPr>
      </p:sp>
      <p:grpSp>
        <p:nvGrpSpPr>
          <p:cNvPr id="18" name="Group 18"/>
          <p:cNvGrpSpPr/>
          <p:nvPr/>
        </p:nvGrpSpPr>
        <p:grpSpPr>
          <a:xfrm>
            <a:off x="9314765" y="4386544"/>
            <a:ext cx="2656108" cy="265610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18525" t="-19365" r="-303363" b="-21971"/>
              </a:stretch>
            </a:blipFill>
          </p:spPr>
        </p:sp>
      </p:grpSp>
      <p:sp>
        <p:nvSpPr>
          <p:cNvPr id="20" name="TextBox 20"/>
          <p:cNvSpPr txBox="1"/>
          <p:nvPr/>
        </p:nvSpPr>
        <p:spPr>
          <a:xfrm>
            <a:off x="4936076" y="754380"/>
            <a:ext cx="7901022" cy="1303020"/>
          </a:xfrm>
          <a:prstGeom prst="rect">
            <a:avLst/>
          </a:prstGeom>
        </p:spPr>
        <p:txBody>
          <a:bodyPr lIns="0" tIns="0" rIns="0" bIns="0" rtlCol="0" anchor="t">
            <a:spAutoFit/>
          </a:bodyPr>
          <a:lstStyle/>
          <a:p>
            <a:pPr marL="0" lvl="0" indent="0" algn="ctr">
              <a:lnSpc>
                <a:spcPts val="10080"/>
              </a:lnSpc>
              <a:spcBef>
                <a:spcPct val="0"/>
              </a:spcBef>
            </a:pPr>
            <a:r>
              <a:rPr lang="en-US" sz="7200" b="1">
                <a:solidFill>
                  <a:srgbClr val="FFFFFF"/>
                </a:solidFill>
                <a:latin typeface="Blogger Bold"/>
                <a:ea typeface="Blogger Bold"/>
                <a:cs typeface="Blogger Bold"/>
                <a:sym typeface="Blogger Bold"/>
              </a:rPr>
              <a:t>Our Leaders</a:t>
            </a:r>
          </a:p>
        </p:txBody>
      </p:sp>
      <p:grpSp>
        <p:nvGrpSpPr>
          <p:cNvPr id="21" name="Group 21"/>
          <p:cNvGrpSpPr/>
          <p:nvPr/>
        </p:nvGrpSpPr>
        <p:grpSpPr>
          <a:xfrm>
            <a:off x="931897" y="7409918"/>
            <a:ext cx="3928944" cy="1429240"/>
            <a:chOff x="0" y="0"/>
            <a:chExt cx="5238592" cy="1905653"/>
          </a:xfrm>
        </p:grpSpPr>
        <p:sp>
          <p:nvSpPr>
            <p:cNvPr id="22" name="TextBox 22"/>
            <p:cNvSpPr txBox="1"/>
            <p:nvPr/>
          </p:nvSpPr>
          <p:spPr>
            <a:xfrm>
              <a:off x="0" y="-66675"/>
              <a:ext cx="5238592" cy="632248"/>
            </a:xfrm>
            <a:prstGeom prst="rect">
              <a:avLst/>
            </a:prstGeom>
          </p:spPr>
          <p:txBody>
            <a:bodyPr lIns="0" tIns="0" rIns="0" bIns="0" rtlCol="0" anchor="t">
              <a:spAutoFit/>
            </a:bodyPr>
            <a:lstStyle/>
            <a:p>
              <a:pPr marL="0" lvl="0" indent="0" algn="ctr">
                <a:lnSpc>
                  <a:spcPts val="3919"/>
                </a:lnSpc>
                <a:spcBef>
                  <a:spcPct val="0"/>
                </a:spcBef>
              </a:pPr>
              <a:r>
                <a:rPr lang="en-US" sz="2799" b="1">
                  <a:solidFill>
                    <a:srgbClr val="082649"/>
                  </a:solidFill>
                  <a:latin typeface="Quicksand Bold"/>
                  <a:ea typeface="Quicksand Bold"/>
                  <a:cs typeface="Quicksand Bold"/>
                  <a:sym typeface="Quicksand Bold"/>
                </a:rPr>
                <a:t>Blake Goodwin</a:t>
              </a:r>
            </a:p>
          </p:txBody>
        </p:sp>
        <p:sp>
          <p:nvSpPr>
            <p:cNvPr id="23" name="TextBox 23"/>
            <p:cNvSpPr txBox="1"/>
            <p:nvPr/>
          </p:nvSpPr>
          <p:spPr>
            <a:xfrm>
              <a:off x="0" y="812183"/>
              <a:ext cx="5238592" cy="1093470"/>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082649"/>
                  </a:solidFill>
                  <a:latin typeface="Quicksand"/>
                  <a:ea typeface="Quicksand"/>
                  <a:cs typeface="Quicksand"/>
                  <a:sym typeface="Quicksand"/>
                </a:rPr>
                <a:t>Vice President, Delivery Leadership</a:t>
              </a:r>
            </a:p>
          </p:txBody>
        </p:sp>
      </p:grpSp>
      <p:grpSp>
        <p:nvGrpSpPr>
          <p:cNvPr id="24" name="Group 24"/>
          <p:cNvGrpSpPr/>
          <p:nvPr/>
        </p:nvGrpSpPr>
        <p:grpSpPr>
          <a:xfrm>
            <a:off x="4750311" y="7409918"/>
            <a:ext cx="3928944" cy="1429240"/>
            <a:chOff x="0" y="0"/>
            <a:chExt cx="5238592" cy="1905653"/>
          </a:xfrm>
        </p:grpSpPr>
        <p:sp>
          <p:nvSpPr>
            <p:cNvPr id="25" name="TextBox 25"/>
            <p:cNvSpPr txBox="1"/>
            <p:nvPr/>
          </p:nvSpPr>
          <p:spPr>
            <a:xfrm>
              <a:off x="0" y="-66675"/>
              <a:ext cx="5238592" cy="632248"/>
            </a:xfrm>
            <a:prstGeom prst="rect">
              <a:avLst/>
            </a:prstGeom>
          </p:spPr>
          <p:txBody>
            <a:bodyPr lIns="0" tIns="0" rIns="0" bIns="0" rtlCol="0" anchor="t">
              <a:spAutoFit/>
            </a:bodyPr>
            <a:lstStyle/>
            <a:p>
              <a:pPr marL="0" lvl="0" indent="0" algn="ctr">
                <a:lnSpc>
                  <a:spcPts val="3919"/>
                </a:lnSpc>
                <a:spcBef>
                  <a:spcPct val="0"/>
                </a:spcBef>
              </a:pPr>
              <a:r>
                <a:rPr lang="en-US" sz="2799" b="1">
                  <a:solidFill>
                    <a:srgbClr val="082649"/>
                  </a:solidFill>
                  <a:latin typeface="Quicksand Bold"/>
                  <a:ea typeface="Quicksand Bold"/>
                  <a:cs typeface="Quicksand Bold"/>
                  <a:sym typeface="Quicksand Bold"/>
                </a:rPr>
                <a:t>Sarah Jackson</a:t>
              </a:r>
            </a:p>
          </p:txBody>
        </p:sp>
        <p:sp>
          <p:nvSpPr>
            <p:cNvPr id="26" name="TextBox 26"/>
            <p:cNvSpPr txBox="1"/>
            <p:nvPr/>
          </p:nvSpPr>
          <p:spPr>
            <a:xfrm>
              <a:off x="0" y="812183"/>
              <a:ext cx="5238592" cy="1093470"/>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082649"/>
                  </a:solidFill>
                  <a:latin typeface="Quicksand"/>
                  <a:ea typeface="Quicksand"/>
                  <a:cs typeface="Quicksand"/>
                  <a:sym typeface="Quicksand"/>
                </a:rPr>
                <a:t>Director, Engagement Management</a:t>
              </a:r>
            </a:p>
          </p:txBody>
        </p:sp>
      </p:grpSp>
      <p:grpSp>
        <p:nvGrpSpPr>
          <p:cNvPr id="27" name="Group 27"/>
          <p:cNvGrpSpPr/>
          <p:nvPr/>
        </p:nvGrpSpPr>
        <p:grpSpPr>
          <a:xfrm>
            <a:off x="8735867" y="7437613"/>
            <a:ext cx="3928944" cy="1010140"/>
            <a:chOff x="0" y="0"/>
            <a:chExt cx="5238592" cy="1346853"/>
          </a:xfrm>
        </p:grpSpPr>
        <p:sp>
          <p:nvSpPr>
            <p:cNvPr id="28" name="TextBox 28"/>
            <p:cNvSpPr txBox="1"/>
            <p:nvPr/>
          </p:nvSpPr>
          <p:spPr>
            <a:xfrm>
              <a:off x="0" y="-66675"/>
              <a:ext cx="5238592" cy="632248"/>
            </a:xfrm>
            <a:prstGeom prst="rect">
              <a:avLst/>
            </a:prstGeom>
          </p:spPr>
          <p:txBody>
            <a:bodyPr lIns="0" tIns="0" rIns="0" bIns="0" rtlCol="0" anchor="t">
              <a:spAutoFit/>
            </a:bodyPr>
            <a:lstStyle/>
            <a:p>
              <a:pPr marL="0" lvl="0" indent="0" algn="ctr">
                <a:lnSpc>
                  <a:spcPts val="3919"/>
                </a:lnSpc>
                <a:spcBef>
                  <a:spcPct val="0"/>
                </a:spcBef>
              </a:pPr>
              <a:r>
                <a:rPr lang="en-US" sz="2799" b="1">
                  <a:solidFill>
                    <a:srgbClr val="082649"/>
                  </a:solidFill>
                  <a:latin typeface="Quicksand Bold"/>
                  <a:ea typeface="Quicksand Bold"/>
                  <a:cs typeface="Quicksand Bold"/>
                  <a:sym typeface="Quicksand Bold"/>
                </a:rPr>
                <a:t>Becky Tiner</a:t>
              </a:r>
            </a:p>
          </p:txBody>
        </p:sp>
        <p:sp>
          <p:nvSpPr>
            <p:cNvPr id="29" name="TextBox 29"/>
            <p:cNvSpPr txBox="1"/>
            <p:nvPr/>
          </p:nvSpPr>
          <p:spPr>
            <a:xfrm>
              <a:off x="0" y="812183"/>
              <a:ext cx="5238592" cy="534670"/>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082649"/>
                  </a:solidFill>
                  <a:latin typeface="Quicksand"/>
                  <a:ea typeface="Quicksand"/>
                  <a:cs typeface="Quicksand"/>
                  <a:sym typeface="Quicksand"/>
                </a:rPr>
                <a:t>Senior Manager</a:t>
              </a:r>
            </a:p>
          </p:txBody>
        </p:sp>
      </p:grpSp>
      <p:grpSp>
        <p:nvGrpSpPr>
          <p:cNvPr id="30" name="Group 30"/>
          <p:cNvGrpSpPr/>
          <p:nvPr/>
        </p:nvGrpSpPr>
        <p:grpSpPr>
          <a:xfrm>
            <a:off x="12760531" y="7409918"/>
            <a:ext cx="3928944" cy="1429240"/>
            <a:chOff x="0" y="0"/>
            <a:chExt cx="5238592" cy="1905653"/>
          </a:xfrm>
        </p:grpSpPr>
        <p:sp>
          <p:nvSpPr>
            <p:cNvPr id="31" name="TextBox 31"/>
            <p:cNvSpPr txBox="1"/>
            <p:nvPr/>
          </p:nvSpPr>
          <p:spPr>
            <a:xfrm>
              <a:off x="0" y="-66675"/>
              <a:ext cx="5238592" cy="632248"/>
            </a:xfrm>
            <a:prstGeom prst="rect">
              <a:avLst/>
            </a:prstGeom>
          </p:spPr>
          <p:txBody>
            <a:bodyPr lIns="0" tIns="0" rIns="0" bIns="0" rtlCol="0" anchor="t">
              <a:spAutoFit/>
            </a:bodyPr>
            <a:lstStyle/>
            <a:p>
              <a:pPr marL="0" lvl="0" indent="0" algn="ctr">
                <a:lnSpc>
                  <a:spcPts val="3919"/>
                </a:lnSpc>
                <a:spcBef>
                  <a:spcPct val="0"/>
                </a:spcBef>
              </a:pPr>
              <a:r>
                <a:rPr lang="en-US" sz="2799" b="1">
                  <a:solidFill>
                    <a:srgbClr val="082649"/>
                  </a:solidFill>
                  <a:latin typeface="Quicksand Bold"/>
                  <a:ea typeface="Quicksand Bold"/>
                  <a:cs typeface="Quicksand Bold"/>
                  <a:sym typeface="Quicksand Bold"/>
                </a:rPr>
                <a:t>Kat Ragudos</a:t>
              </a:r>
            </a:p>
          </p:txBody>
        </p:sp>
        <p:sp>
          <p:nvSpPr>
            <p:cNvPr id="32" name="TextBox 32"/>
            <p:cNvSpPr txBox="1"/>
            <p:nvPr/>
          </p:nvSpPr>
          <p:spPr>
            <a:xfrm>
              <a:off x="0" y="812183"/>
              <a:ext cx="5238592" cy="1093470"/>
            </a:xfrm>
            <a:prstGeom prst="rect">
              <a:avLst/>
            </a:prstGeom>
          </p:spPr>
          <p:txBody>
            <a:bodyPr lIns="0" tIns="0" rIns="0" bIns="0" rtlCol="0" anchor="t">
              <a:spAutoFit/>
            </a:bodyPr>
            <a:lstStyle/>
            <a:p>
              <a:pPr marL="0" lvl="0" indent="0" algn="ctr">
                <a:lnSpc>
                  <a:spcPts val="3359"/>
                </a:lnSpc>
                <a:spcBef>
                  <a:spcPct val="0"/>
                </a:spcBef>
              </a:pPr>
              <a:r>
                <a:rPr lang="en-US" sz="2400">
                  <a:solidFill>
                    <a:srgbClr val="082649"/>
                  </a:solidFill>
                  <a:latin typeface="Quicksand"/>
                  <a:ea typeface="Quicksand"/>
                  <a:cs typeface="Quicksand"/>
                  <a:sym typeface="Quicksand"/>
                </a:rPr>
                <a:t>Team Leader, Engagement Management</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rot="-5400000">
            <a:off x="13320713" y="5319713"/>
            <a:ext cx="4967287" cy="4967287"/>
          </a:xfrm>
          <a:custGeom>
            <a:avLst/>
            <a:gdLst/>
            <a:ahLst/>
            <a:cxnLst/>
            <a:rect l="l" t="t" r="r" b="b"/>
            <a:pathLst>
              <a:path w="4967287" h="4967287">
                <a:moveTo>
                  <a:pt x="0" y="0"/>
                </a:moveTo>
                <a:lnTo>
                  <a:pt x="4967287" y="0"/>
                </a:lnTo>
                <a:lnTo>
                  <a:pt x="4967287" y="4967287"/>
                </a:lnTo>
                <a:lnTo>
                  <a:pt x="0" y="496728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92763" y="3474100"/>
            <a:ext cx="16220176" cy="4765676"/>
          </a:xfrm>
          <a:prstGeom prst="rect">
            <a:avLst/>
          </a:prstGeom>
        </p:spPr>
        <p:txBody>
          <a:bodyPr lIns="0" tIns="0" rIns="0" bIns="0" rtlCol="0" anchor="t">
            <a:spAutoFit/>
          </a:bodyPr>
          <a:lstStyle/>
          <a:p>
            <a:pPr algn="l">
              <a:lnSpc>
                <a:spcPts val="4759"/>
              </a:lnSpc>
            </a:pPr>
            <a:r>
              <a:rPr lang="en-US" sz="2799" b="1">
                <a:solidFill>
                  <a:srgbClr val="FFFFFF"/>
                </a:solidFill>
                <a:latin typeface="Quicksand Bold"/>
                <a:ea typeface="Quicksand Bold"/>
                <a:cs typeface="Quicksand Bold"/>
                <a:sym typeface="Quicksand Bold"/>
              </a:rPr>
              <a:t>Project Coordination &amp; Administrative Support</a:t>
            </a:r>
          </a:p>
          <a:p>
            <a:pPr marL="604518" lvl="1" indent="-302259" algn="l">
              <a:lnSpc>
                <a:spcPts val="4759"/>
              </a:lnSpc>
              <a:buFont typeface="Arial"/>
              <a:buChar char="•"/>
            </a:pPr>
            <a:r>
              <a:rPr lang="en-US" sz="2799">
                <a:solidFill>
                  <a:srgbClr val="FFFFFF"/>
                </a:solidFill>
                <a:latin typeface="Quicksand"/>
                <a:ea typeface="Quicksand"/>
                <a:cs typeface="Quicksand"/>
                <a:sym typeface="Quicksand"/>
              </a:rPr>
              <a:t>I’ll help coordinate project activities and ensure key tasks are tracked and completed on time.</a:t>
            </a:r>
          </a:p>
          <a:p>
            <a:pPr marL="604518" lvl="1" indent="-302259" algn="l">
              <a:lnSpc>
                <a:spcPts val="4759"/>
              </a:lnSpc>
              <a:buFont typeface="Arial"/>
              <a:buChar char="•"/>
            </a:pPr>
            <a:r>
              <a:rPr lang="en-US" sz="2799">
                <a:solidFill>
                  <a:srgbClr val="FFFFFF"/>
                </a:solidFill>
                <a:latin typeface="Quicksand"/>
                <a:ea typeface="Quicksand"/>
                <a:cs typeface="Quicksand"/>
                <a:sym typeface="Quicksand"/>
              </a:rPr>
              <a:t>I’ll assist with managing documentation, project records, and implementation deliverables.</a:t>
            </a:r>
          </a:p>
          <a:p>
            <a:pPr marL="604518" lvl="1" indent="-302259" algn="l">
              <a:lnSpc>
                <a:spcPts val="4759"/>
              </a:lnSpc>
              <a:buFont typeface="Arial"/>
              <a:buChar char="•"/>
            </a:pPr>
            <a:r>
              <a:rPr lang="en-US" sz="2799">
                <a:solidFill>
                  <a:srgbClr val="FFFFFF"/>
                </a:solidFill>
                <a:latin typeface="Quicksand"/>
                <a:ea typeface="Quicksand"/>
                <a:cs typeface="Quicksand"/>
                <a:sym typeface="Quicksand"/>
              </a:rPr>
              <a:t>I’ll help keep your project organized by monitoring action items and follow-ups.</a:t>
            </a:r>
          </a:p>
          <a:p>
            <a:pPr algn="l">
              <a:lnSpc>
                <a:spcPts val="4759"/>
              </a:lnSpc>
            </a:pPr>
            <a:r>
              <a:rPr lang="en-US" sz="2799" b="1">
                <a:solidFill>
                  <a:srgbClr val="FFFFFF"/>
                </a:solidFill>
                <a:latin typeface="Quicksand Bold"/>
                <a:ea typeface="Quicksand Bold"/>
                <a:cs typeface="Quicksand Bold"/>
                <a:sym typeface="Quicksand Bold"/>
              </a:rPr>
              <a:t>As Your Scheduling &amp; Logistics Partner</a:t>
            </a:r>
          </a:p>
          <a:p>
            <a:pPr marL="604518" lvl="1" indent="-302259" algn="l">
              <a:lnSpc>
                <a:spcPts val="4759"/>
              </a:lnSpc>
              <a:buFont typeface="Arial"/>
              <a:buChar char="•"/>
            </a:pPr>
            <a:r>
              <a:rPr lang="en-US" sz="2799">
                <a:solidFill>
                  <a:srgbClr val="FFFFFF"/>
                </a:solidFill>
                <a:latin typeface="Quicksand"/>
                <a:ea typeface="Quicksand"/>
                <a:cs typeface="Quicksand"/>
                <a:sym typeface="Quicksand"/>
              </a:rPr>
              <a:t>I’ll coordinate meetings, project calls, and stakeholder communications</a:t>
            </a:r>
          </a:p>
          <a:p>
            <a:pPr marL="604518" lvl="1" indent="-302259" algn="l">
              <a:lnSpc>
                <a:spcPts val="4759"/>
              </a:lnSpc>
              <a:buFont typeface="Arial"/>
              <a:buChar char="•"/>
            </a:pPr>
            <a:r>
              <a:rPr lang="en-US" sz="2799">
                <a:solidFill>
                  <a:srgbClr val="FFFFFF"/>
                </a:solidFill>
                <a:latin typeface="Quicksand"/>
                <a:ea typeface="Quicksand"/>
                <a:cs typeface="Quicksand"/>
                <a:sym typeface="Quicksand"/>
              </a:rPr>
              <a:t>I’ll distribute meeting invitations, agendas, and meeting notes to keep everyone aligned.</a:t>
            </a:r>
          </a:p>
          <a:p>
            <a:pPr marL="604518" lvl="1" indent="-302259" algn="l">
              <a:lnSpc>
                <a:spcPts val="4759"/>
              </a:lnSpc>
              <a:buFont typeface="Arial"/>
              <a:buChar char="•"/>
            </a:pPr>
            <a:r>
              <a:rPr lang="en-US" sz="2799">
                <a:solidFill>
                  <a:srgbClr val="FFFFFF"/>
                </a:solidFill>
                <a:latin typeface="Quicksand"/>
                <a:ea typeface="Quicksand"/>
                <a:cs typeface="Quicksand"/>
                <a:sym typeface="Quicksand"/>
              </a:rPr>
              <a:t>I’ll help manage implementation schedules and support milestone planning activities</a:t>
            </a:r>
          </a:p>
        </p:txBody>
      </p:sp>
      <p:sp>
        <p:nvSpPr>
          <p:cNvPr id="4" name="Freeform 4"/>
          <p:cNvSpPr/>
          <p:nvPr/>
        </p:nvSpPr>
        <p:spPr>
          <a:xfrm>
            <a:off x="14177823" y="-497825"/>
            <a:ext cx="5414211" cy="4114800"/>
          </a:xfrm>
          <a:custGeom>
            <a:avLst/>
            <a:gdLst/>
            <a:ahLst/>
            <a:cxnLst/>
            <a:rect l="l" t="t" r="r" b="b"/>
            <a:pathLst>
              <a:path w="5414211" h="4114800">
                <a:moveTo>
                  <a:pt x="0" y="0"/>
                </a:moveTo>
                <a:lnTo>
                  <a:pt x="5414210" y="0"/>
                </a:lnTo>
                <a:lnTo>
                  <a:pt x="541421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696205" y="-753762"/>
            <a:ext cx="4377447" cy="4114800"/>
          </a:xfrm>
          <a:custGeom>
            <a:avLst/>
            <a:gdLst/>
            <a:ahLst/>
            <a:cxnLst/>
            <a:rect l="l" t="t" r="r" b="b"/>
            <a:pathLst>
              <a:path w="4377447" h="4114800">
                <a:moveTo>
                  <a:pt x="0" y="0"/>
                </a:moveTo>
                <a:lnTo>
                  <a:pt x="4377446" y="0"/>
                </a:lnTo>
                <a:lnTo>
                  <a:pt x="4377446"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2763" y="618"/>
            <a:ext cx="10685457" cy="1303020"/>
          </a:xfrm>
          <a:prstGeom prst="rect">
            <a:avLst/>
          </a:prstGeom>
        </p:spPr>
        <p:txBody>
          <a:bodyPr lIns="0" tIns="0" rIns="0" bIns="0" rtlCol="0" anchor="t">
            <a:spAutoFit/>
          </a:bodyPr>
          <a:lstStyle/>
          <a:p>
            <a:pPr marL="0" lvl="0" indent="0" algn="l">
              <a:lnSpc>
                <a:spcPts val="10080"/>
              </a:lnSpc>
              <a:spcBef>
                <a:spcPct val="0"/>
              </a:spcBef>
            </a:pPr>
            <a:r>
              <a:rPr lang="en-US" sz="7200" b="1">
                <a:solidFill>
                  <a:srgbClr val="FFFFFF"/>
                </a:solidFill>
                <a:latin typeface="Blogger Bold"/>
                <a:ea typeface="Blogger Bold"/>
                <a:cs typeface="Blogger Bold"/>
                <a:sym typeface="Blogger Bold"/>
              </a:rPr>
              <a:t>Position Overview</a:t>
            </a:r>
          </a:p>
        </p:txBody>
      </p:sp>
      <p:sp>
        <p:nvSpPr>
          <p:cNvPr id="7" name="TextBox 7"/>
          <p:cNvSpPr txBox="1"/>
          <p:nvPr/>
        </p:nvSpPr>
        <p:spPr>
          <a:xfrm>
            <a:off x="492763" y="1179813"/>
            <a:ext cx="15800695" cy="1000125"/>
          </a:xfrm>
          <a:prstGeom prst="rect">
            <a:avLst/>
          </a:prstGeom>
        </p:spPr>
        <p:txBody>
          <a:bodyPr lIns="0" tIns="0" rIns="0" bIns="0" rtlCol="0" anchor="t">
            <a:spAutoFit/>
          </a:bodyPr>
          <a:lstStyle/>
          <a:p>
            <a:pPr algn="l">
              <a:lnSpc>
                <a:spcPts val="4079"/>
              </a:lnSpc>
            </a:pPr>
            <a:r>
              <a:rPr lang="en-US" sz="2400" b="1">
                <a:solidFill>
                  <a:srgbClr val="FFFFFF"/>
                </a:solidFill>
                <a:latin typeface="Quicksand Bold"/>
                <a:ea typeface="Quicksand Bold"/>
                <a:cs typeface="Quicksand Bold"/>
                <a:sym typeface="Quicksand Bold"/>
              </a:rPr>
              <a:t>Engagement Coordinator Partnership</a:t>
            </a:r>
          </a:p>
          <a:p>
            <a:pPr marL="0" lvl="0" indent="0" algn="l">
              <a:lnSpc>
                <a:spcPts val="4079"/>
              </a:lnSpc>
            </a:pPr>
            <a:r>
              <a:rPr lang="en-US" sz="2400">
                <a:solidFill>
                  <a:srgbClr val="FFFFFF"/>
                </a:solidFill>
                <a:latin typeface="Quicksand"/>
                <a:ea typeface="Quicksand"/>
                <a:cs typeface="Quicksand"/>
                <a:sym typeface="Quicksand"/>
              </a:rPr>
              <a:t>Providing Coordination, communication and administrative support throughout your implementation journey</a:t>
            </a:r>
          </a:p>
        </p:txBody>
      </p:sp>
      <p:sp>
        <p:nvSpPr>
          <p:cNvPr id="8" name="TextBox 8"/>
          <p:cNvSpPr txBox="1"/>
          <p:nvPr/>
        </p:nvSpPr>
        <p:spPr>
          <a:xfrm>
            <a:off x="492763" y="2574924"/>
            <a:ext cx="9476216" cy="580391"/>
          </a:xfrm>
          <a:prstGeom prst="rect">
            <a:avLst/>
          </a:prstGeom>
        </p:spPr>
        <p:txBody>
          <a:bodyPr lIns="0" tIns="0" rIns="0" bIns="0" rtlCol="0" anchor="t">
            <a:spAutoFit/>
          </a:bodyPr>
          <a:lstStyle/>
          <a:p>
            <a:pPr marL="0" lvl="0" indent="0" algn="l">
              <a:lnSpc>
                <a:spcPts val="4759"/>
              </a:lnSpc>
              <a:spcBef>
                <a:spcPct val="0"/>
              </a:spcBef>
            </a:pPr>
            <a:r>
              <a:rPr lang="en-US" sz="3399" b="1">
                <a:solidFill>
                  <a:srgbClr val="FFFFFF"/>
                </a:solidFill>
                <a:latin typeface="Quicksand Bold"/>
                <a:ea typeface="Quicksand Bold"/>
                <a:cs typeface="Quicksand Bold"/>
                <a:sym typeface="Quicksand Bold"/>
              </a:rPr>
              <a:t>Key Responsibilities: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rot="-5400000">
            <a:off x="13320713" y="5319713"/>
            <a:ext cx="4967287" cy="4967287"/>
          </a:xfrm>
          <a:custGeom>
            <a:avLst/>
            <a:gdLst/>
            <a:ahLst/>
            <a:cxnLst/>
            <a:rect l="l" t="t" r="r" b="b"/>
            <a:pathLst>
              <a:path w="4967287" h="4967287">
                <a:moveTo>
                  <a:pt x="0" y="0"/>
                </a:moveTo>
                <a:lnTo>
                  <a:pt x="4967287" y="0"/>
                </a:lnTo>
                <a:lnTo>
                  <a:pt x="4967287" y="4967287"/>
                </a:lnTo>
                <a:lnTo>
                  <a:pt x="0" y="496728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4177823" y="-497825"/>
            <a:ext cx="5414211" cy="4114800"/>
          </a:xfrm>
          <a:custGeom>
            <a:avLst/>
            <a:gdLst/>
            <a:ahLst/>
            <a:cxnLst/>
            <a:rect l="l" t="t" r="r" b="b"/>
            <a:pathLst>
              <a:path w="5414211" h="4114800">
                <a:moveTo>
                  <a:pt x="0" y="0"/>
                </a:moveTo>
                <a:lnTo>
                  <a:pt x="5414210" y="0"/>
                </a:lnTo>
                <a:lnTo>
                  <a:pt x="541421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4696205" y="-753762"/>
            <a:ext cx="4377447" cy="4114800"/>
          </a:xfrm>
          <a:custGeom>
            <a:avLst/>
            <a:gdLst/>
            <a:ahLst/>
            <a:cxnLst/>
            <a:rect l="l" t="t" r="r" b="b"/>
            <a:pathLst>
              <a:path w="4377447" h="4114800">
                <a:moveTo>
                  <a:pt x="0" y="0"/>
                </a:moveTo>
                <a:lnTo>
                  <a:pt x="4377446" y="0"/>
                </a:lnTo>
                <a:lnTo>
                  <a:pt x="4377446"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492763" y="618"/>
            <a:ext cx="10685457" cy="1303020"/>
          </a:xfrm>
          <a:prstGeom prst="rect">
            <a:avLst/>
          </a:prstGeom>
        </p:spPr>
        <p:txBody>
          <a:bodyPr lIns="0" tIns="0" rIns="0" bIns="0" rtlCol="0" anchor="t">
            <a:spAutoFit/>
          </a:bodyPr>
          <a:lstStyle/>
          <a:p>
            <a:pPr marL="0" lvl="0" indent="0" algn="l">
              <a:lnSpc>
                <a:spcPts val="10080"/>
              </a:lnSpc>
              <a:spcBef>
                <a:spcPct val="0"/>
              </a:spcBef>
            </a:pPr>
            <a:r>
              <a:rPr lang="en-US" sz="7200" b="1">
                <a:solidFill>
                  <a:srgbClr val="FFFFFF"/>
                </a:solidFill>
                <a:latin typeface="Blogger Bold"/>
                <a:ea typeface="Blogger Bold"/>
                <a:cs typeface="Blogger Bold"/>
                <a:sym typeface="Blogger Bold"/>
              </a:rPr>
              <a:t>Position Overview</a:t>
            </a:r>
          </a:p>
        </p:txBody>
      </p:sp>
      <p:sp>
        <p:nvSpPr>
          <p:cNvPr id="6" name="TextBox 6"/>
          <p:cNvSpPr txBox="1"/>
          <p:nvPr/>
        </p:nvSpPr>
        <p:spPr>
          <a:xfrm>
            <a:off x="492763" y="1179813"/>
            <a:ext cx="15800695" cy="1000125"/>
          </a:xfrm>
          <a:prstGeom prst="rect">
            <a:avLst/>
          </a:prstGeom>
        </p:spPr>
        <p:txBody>
          <a:bodyPr lIns="0" tIns="0" rIns="0" bIns="0" rtlCol="0" anchor="t">
            <a:spAutoFit/>
          </a:bodyPr>
          <a:lstStyle/>
          <a:p>
            <a:pPr algn="l">
              <a:lnSpc>
                <a:spcPts val="4079"/>
              </a:lnSpc>
            </a:pPr>
            <a:r>
              <a:rPr lang="en-US" sz="2400" b="1">
                <a:solidFill>
                  <a:srgbClr val="FFFFFF"/>
                </a:solidFill>
                <a:latin typeface="Quicksand Bold"/>
                <a:ea typeface="Quicksand Bold"/>
                <a:cs typeface="Quicksand Bold"/>
                <a:sym typeface="Quicksand Bold"/>
              </a:rPr>
              <a:t>Engagement Coordinator Partnership</a:t>
            </a:r>
          </a:p>
          <a:p>
            <a:pPr marL="0" lvl="0" indent="0" algn="l">
              <a:lnSpc>
                <a:spcPts val="4079"/>
              </a:lnSpc>
            </a:pPr>
            <a:r>
              <a:rPr lang="en-US" sz="2400">
                <a:solidFill>
                  <a:srgbClr val="FFFFFF"/>
                </a:solidFill>
                <a:latin typeface="Quicksand"/>
                <a:ea typeface="Quicksand"/>
                <a:cs typeface="Quicksand"/>
                <a:sym typeface="Quicksand"/>
              </a:rPr>
              <a:t>Providing Coordination, communication and administrative support throughout your implementation journey</a:t>
            </a:r>
          </a:p>
        </p:txBody>
      </p:sp>
      <p:sp>
        <p:nvSpPr>
          <p:cNvPr id="7" name="TextBox 7"/>
          <p:cNvSpPr txBox="1"/>
          <p:nvPr/>
        </p:nvSpPr>
        <p:spPr>
          <a:xfrm>
            <a:off x="492763" y="2576186"/>
            <a:ext cx="9476216" cy="580391"/>
          </a:xfrm>
          <a:prstGeom prst="rect">
            <a:avLst/>
          </a:prstGeom>
        </p:spPr>
        <p:txBody>
          <a:bodyPr lIns="0" tIns="0" rIns="0" bIns="0" rtlCol="0" anchor="t">
            <a:spAutoFit/>
          </a:bodyPr>
          <a:lstStyle/>
          <a:p>
            <a:pPr marL="0" lvl="0" indent="0" algn="l">
              <a:lnSpc>
                <a:spcPts val="4759"/>
              </a:lnSpc>
              <a:spcBef>
                <a:spcPct val="0"/>
              </a:spcBef>
            </a:pPr>
            <a:r>
              <a:rPr lang="en-US" sz="3399" b="1">
                <a:solidFill>
                  <a:srgbClr val="FFFFFF"/>
                </a:solidFill>
                <a:latin typeface="Quicksand Bold"/>
                <a:ea typeface="Quicksand Bold"/>
                <a:cs typeface="Quicksand Bold"/>
                <a:sym typeface="Quicksand Bold"/>
              </a:rPr>
              <a:t>Key Responsibilities:</a:t>
            </a:r>
          </a:p>
        </p:txBody>
      </p:sp>
      <p:sp>
        <p:nvSpPr>
          <p:cNvPr id="8" name="TextBox 8"/>
          <p:cNvSpPr txBox="1"/>
          <p:nvPr/>
        </p:nvSpPr>
        <p:spPr>
          <a:xfrm>
            <a:off x="492763" y="3486150"/>
            <a:ext cx="15585837" cy="5772150"/>
          </a:xfrm>
          <a:prstGeom prst="rect">
            <a:avLst/>
          </a:prstGeom>
        </p:spPr>
        <p:txBody>
          <a:bodyPr lIns="0" tIns="0" rIns="0" bIns="0" rtlCol="0" anchor="t">
            <a:spAutoFit/>
          </a:bodyPr>
          <a:lstStyle/>
          <a:p>
            <a:pPr algn="l">
              <a:lnSpc>
                <a:spcPts val="4590"/>
              </a:lnSpc>
            </a:pPr>
            <a:r>
              <a:rPr lang="en-US" sz="2700" b="1">
                <a:solidFill>
                  <a:srgbClr val="FFFFFF"/>
                </a:solidFill>
                <a:latin typeface="Quicksand Bold"/>
                <a:ea typeface="Quicksand Bold"/>
                <a:cs typeface="Quicksand Bold"/>
                <a:sym typeface="Quicksand Bold"/>
              </a:rPr>
              <a:t>As Your Communication Coordinator</a:t>
            </a:r>
          </a:p>
          <a:p>
            <a:pPr marL="582930" lvl="1" indent="-291465" algn="l">
              <a:lnSpc>
                <a:spcPts val="4590"/>
              </a:lnSpc>
              <a:buFont typeface="Arial"/>
              <a:buChar char="•"/>
            </a:pPr>
            <a:r>
              <a:rPr lang="en-US" sz="2700">
                <a:solidFill>
                  <a:srgbClr val="FFFFFF"/>
                </a:solidFill>
                <a:latin typeface="Quicksand"/>
                <a:ea typeface="Quicksand"/>
                <a:cs typeface="Quicksand"/>
                <a:sym typeface="Quicksand"/>
              </a:rPr>
              <a:t>I’ll serve as a day-to-day point of contact for project-related coordination needs.</a:t>
            </a:r>
          </a:p>
          <a:p>
            <a:pPr marL="582930" lvl="1" indent="-291465" algn="l">
              <a:lnSpc>
                <a:spcPts val="4590"/>
              </a:lnSpc>
              <a:buFont typeface="Arial"/>
              <a:buChar char="•"/>
            </a:pPr>
            <a:r>
              <a:rPr lang="en-US" sz="2700">
                <a:solidFill>
                  <a:srgbClr val="FFFFFF"/>
                </a:solidFill>
                <a:latin typeface="Quicksand"/>
                <a:ea typeface="Quicksand"/>
                <a:cs typeface="Quicksand"/>
                <a:sym typeface="Quicksand"/>
              </a:rPr>
              <a:t>I’ll facilitate communications between your team and the RealPage implementation team.</a:t>
            </a:r>
          </a:p>
          <a:p>
            <a:pPr marL="582930" lvl="1" indent="-291465" algn="l">
              <a:lnSpc>
                <a:spcPts val="4590"/>
              </a:lnSpc>
              <a:buFont typeface="Arial"/>
              <a:buChar char="•"/>
            </a:pPr>
            <a:r>
              <a:rPr lang="en-US" sz="2700">
                <a:solidFill>
                  <a:srgbClr val="FFFFFF"/>
                </a:solidFill>
                <a:latin typeface="Quicksand"/>
                <a:ea typeface="Quicksand"/>
                <a:cs typeface="Quicksand"/>
                <a:sym typeface="Quicksand"/>
              </a:rPr>
              <a:t>I’ll ensure questions, requests, and outstanding items are routed to the appropriate resources for resolution.</a:t>
            </a:r>
          </a:p>
          <a:p>
            <a:pPr algn="l">
              <a:lnSpc>
                <a:spcPts val="4590"/>
              </a:lnSpc>
            </a:pPr>
            <a:r>
              <a:rPr lang="en-US" sz="2700" b="1">
                <a:solidFill>
                  <a:srgbClr val="FFFFFF"/>
                </a:solidFill>
                <a:latin typeface="Quicksand Bold"/>
                <a:ea typeface="Quicksand Bold"/>
                <a:cs typeface="Quicksand Bold"/>
                <a:sym typeface="Quicksand Bold"/>
              </a:rPr>
              <a:t>As Your Project Support Resource</a:t>
            </a:r>
          </a:p>
          <a:p>
            <a:pPr marL="582930" lvl="1" indent="-291465" algn="l">
              <a:lnSpc>
                <a:spcPts val="4590"/>
              </a:lnSpc>
              <a:buFont typeface="Arial"/>
              <a:buChar char="•"/>
            </a:pPr>
            <a:r>
              <a:rPr lang="en-US" sz="2700">
                <a:solidFill>
                  <a:srgbClr val="FFFFFF"/>
                </a:solidFill>
                <a:latin typeface="Quicksand"/>
                <a:ea typeface="Quicksand"/>
                <a:cs typeface="Quicksand"/>
                <a:sym typeface="Quicksand"/>
              </a:rPr>
              <a:t>I’ll help track project progress and maintain implementation documentation.</a:t>
            </a:r>
          </a:p>
          <a:p>
            <a:pPr marL="582930" lvl="1" indent="-291465" algn="l">
              <a:lnSpc>
                <a:spcPts val="4590"/>
              </a:lnSpc>
              <a:buFont typeface="Arial"/>
              <a:buChar char="•"/>
            </a:pPr>
            <a:r>
              <a:rPr lang="en-US" sz="2700">
                <a:solidFill>
                  <a:srgbClr val="FFFFFF"/>
                </a:solidFill>
                <a:latin typeface="Quicksand"/>
                <a:ea typeface="Quicksand"/>
                <a:cs typeface="Quicksand"/>
                <a:sym typeface="Quicksand"/>
              </a:rPr>
              <a:t>I’ll provide status updates on open tasks, dependencies, and upcoming activities.</a:t>
            </a:r>
          </a:p>
          <a:p>
            <a:pPr marL="582930" lvl="1" indent="-291465" algn="l">
              <a:lnSpc>
                <a:spcPts val="4590"/>
              </a:lnSpc>
              <a:buFont typeface="Arial"/>
              <a:buChar char="•"/>
            </a:pPr>
            <a:r>
              <a:rPr lang="en-US" sz="2700">
                <a:solidFill>
                  <a:srgbClr val="FFFFFF"/>
                </a:solidFill>
                <a:latin typeface="Quicksand"/>
                <a:ea typeface="Quicksand"/>
                <a:cs typeface="Quicksand"/>
                <a:sym typeface="Quicksand"/>
              </a:rPr>
              <a:t>I’ll assist the Engagement manager in ensuring a smooth and successful implementation experience.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a:off x="6341493" y="1559575"/>
            <a:ext cx="4712704" cy="7480482"/>
          </a:xfrm>
          <a:custGeom>
            <a:avLst/>
            <a:gdLst/>
            <a:ahLst/>
            <a:cxnLst/>
            <a:rect l="l" t="t" r="r" b="b"/>
            <a:pathLst>
              <a:path w="4712704" h="7480482">
                <a:moveTo>
                  <a:pt x="0" y="0"/>
                </a:moveTo>
                <a:lnTo>
                  <a:pt x="4712703" y="0"/>
                </a:lnTo>
                <a:lnTo>
                  <a:pt x="4712703" y="7480482"/>
                </a:lnTo>
                <a:lnTo>
                  <a:pt x="0" y="7480482"/>
                </a:lnTo>
                <a:lnTo>
                  <a:pt x="0" y="0"/>
                </a:lnTo>
                <a:close/>
              </a:path>
            </a:pathLst>
          </a:custGeom>
          <a:blipFill>
            <a:blip r:embed="rId2"/>
            <a:stretch>
              <a:fillRect/>
            </a:stretch>
          </a:blipFill>
        </p:spPr>
      </p:sp>
      <p:sp>
        <p:nvSpPr>
          <p:cNvPr id="3" name="Freeform 3"/>
          <p:cNvSpPr/>
          <p:nvPr/>
        </p:nvSpPr>
        <p:spPr>
          <a:xfrm>
            <a:off x="178785" y="4443547"/>
            <a:ext cx="5836596" cy="4114800"/>
          </a:xfrm>
          <a:custGeom>
            <a:avLst/>
            <a:gdLst/>
            <a:ahLst/>
            <a:cxnLst/>
            <a:rect l="l" t="t" r="r" b="b"/>
            <a:pathLst>
              <a:path w="5836596" h="4114800">
                <a:moveTo>
                  <a:pt x="0" y="0"/>
                </a:moveTo>
                <a:lnTo>
                  <a:pt x="5836595" y="0"/>
                </a:lnTo>
                <a:lnTo>
                  <a:pt x="5836595"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6203" y="1403259"/>
            <a:ext cx="5985174" cy="4189622"/>
          </a:xfrm>
          <a:custGeom>
            <a:avLst/>
            <a:gdLst/>
            <a:ahLst/>
            <a:cxnLst/>
            <a:rect l="l" t="t" r="r" b="b"/>
            <a:pathLst>
              <a:path w="5985174" h="4189622">
                <a:moveTo>
                  <a:pt x="0" y="0"/>
                </a:moveTo>
                <a:lnTo>
                  <a:pt x="5985174" y="0"/>
                </a:lnTo>
                <a:lnTo>
                  <a:pt x="5985174" y="4189622"/>
                </a:lnTo>
                <a:lnTo>
                  <a:pt x="0" y="418962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2022204">
            <a:off x="2888112" y="2206609"/>
            <a:ext cx="4126439" cy="1568047"/>
          </a:xfrm>
          <a:custGeom>
            <a:avLst/>
            <a:gdLst/>
            <a:ahLst/>
            <a:cxnLst/>
            <a:rect l="l" t="t" r="r" b="b"/>
            <a:pathLst>
              <a:path w="4126439" h="1568047">
                <a:moveTo>
                  <a:pt x="0" y="0"/>
                </a:moveTo>
                <a:lnTo>
                  <a:pt x="4126439" y="0"/>
                </a:lnTo>
                <a:lnTo>
                  <a:pt x="4126439" y="1568047"/>
                </a:lnTo>
                <a:lnTo>
                  <a:pt x="0" y="156804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492763" y="256555"/>
            <a:ext cx="7103737" cy="1303020"/>
          </a:xfrm>
          <a:prstGeom prst="rect">
            <a:avLst/>
          </a:prstGeom>
        </p:spPr>
        <p:txBody>
          <a:bodyPr lIns="0" tIns="0" rIns="0" bIns="0" rtlCol="0" anchor="t">
            <a:spAutoFit/>
          </a:bodyPr>
          <a:lstStyle/>
          <a:p>
            <a:pPr marL="0" lvl="0" indent="0" algn="l">
              <a:lnSpc>
                <a:spcPts val="10080"/>
              </a:lnSpc>
              <a:spcBef>
                <a:spcPct val="0"/>
              </a:spcBef>
            </a:pPr>
            <a:r>
              <a:rPr lang="en-US" sz="7200" b="1">
                <a:solidFill>
                  <a:srgbClr val="FFFFFF"/>
                </a:solidFill>
                <a:latin typeface="Blogger Bold"/>
                <a:ea typeface="Blogger Bold"/>
                <a:cs typeface="Blogger Bold"/>
                <a:sym typeface="Blogger Bold"/>
              </a:rPr>
              <a:t>Position Overview</a:t>
            </a:r>
          </a:p>
        </p:txBody>
      </p:sp>
      <p:sp>
        <p:nvSpPr>
          <p:cNvPr id="7" name="Freeform 7"/>
          <p:cNvSpPr/>
          <p:nvPr/>
        </p:nvSpPr>
        <p:spPr>
          <a:xfrm rot="8870250">
            <a:off x="11856938" y="7048786"/>
            <a:ext cx="4126439" cy="1568047"/>
          </a:xfrm>
          <a:custGeom>
            <a:avLst/>
            <a:gdLst/>
            <a:ahLst/>
            <a:cxnLst/>
            <a:rect l="l" t="t" r="r" b="b"/>
            <a:pathLst>
              <a:path w="4126439" h="1568047">
                <a:moveTo>
                  <a:pt x="0" y="0"/>
                </a:moveTo>
                <a:lnTo>
                  <a:pt x="4126439" y="0"/>
                </a:lnTo>
                <a:lnTo>
                  <a:pt x="4126439" y="1568047"/>
                </a:lnTo>
                <a:lnTo>
                  <a:pt x="0" y="156804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449011" y="8367361"/>
            <a:ext cx="2263574" cy="1227455"/>
          </a:xfrm>
          <a:prstGeom prst="rect">
            <a:avLst/>
          </a:prstGeom>
        </p:spPr>
        <p:txBody>
          <a:bodyPr lIns="0" tIns="0" rIns="0" bIns="0" rtlCol="0" anchor="t">
            <a:spAutoFit/>
          </a:bodyPr>
          <a:lstStyle/>
          <a:p>
            <a:pPr marL="0" lvl="0" indent="0" algn="l">
              <a:lnSpc>
                <a:spcPts val="9520"/>
              </a:lnSpc>
              <a:spcBef>
                <a:spcPct val="0"/>
              </a:spcBef>
            </a:pPr>
            <a:r>
              <a:rPr lang="en-US" sz="6800">
                <a:solidFill>
                  <a:srgbClr val="FFFFFF"/>
                </a:solidFill>
                <a:latin typeface="Blogger"/>
                <a:ea typeface="Blogger"/>
                <a:cs typeface="Blogger"/>
                <a:sym typeface="Blogger"/>
              </a:rPr>
              <a:t>Client</a:t>
            </a:r>
          </a:p>
        </p:txBody>
      </p:sp>
      <p:sp>
        <p:nvSpPr>
          <p:cNvPr id="9" name="TextBox 9"/>
          <p:cNvSpPr txBox="1"/>
          <p:nvPr/>
        </p:nvSpPr>
        <p:spPr>
          <a:xfrm>
            <a:off x="11283506" y="5559550"/>
            <a:ext cx="7371682" cy="1118869"/>
          </a:xfrm>
          <a:prstGeom prst="rect">
            <a:avLst/>
          </a:prstGeom>
        </p:spPr>
        <p:txBody>
          <a:bodyPr lIns="0" tIns="0" rIns="0" bIns="0" rtlCol="0" anchor="t">
            <a:spAutoFit/>
          </a:bodyPr>
          <a:lstStyle/>
          <a:p>
            <a:pPr marL="0" lvl="0" indent="0" algn="l">
              <a:lnSpc>
                <a:spcPts val="8680"/>
              </a:lnSpc>
              <a:spcBef>
                <a:spcPct val="0"/>
              </a:spcBef>
            </a:pPr>
            <a:r>
              <a:rPr lang="en-US" sz="6200">
                <a:solidFill>
                  <a:srgbClr val="FFFFFF"/>
                </a:solidFill>
                <a:latin typeface="Blogger"/>
                <a:ea typeface="Blogger"/>
                <a:cs typeface="Blogger"/>
                <a:sym typeface="Blogger"/>
              </a:rPr>
              <a:t>Implementation Team</a:t>
            </a:r>
          </a:p>
        </p:txBody>
      </p:sp>
      <p:sp>
        <p:nvSpPr>
          <p:cNvPr id="10" name="TextBox 10"/>
          <p:cNvSpPr txBox="1"/>
          <p:nvPr/>
        </p:nvSpPr>
        <p:spPr>
          <a:xfrm>
            <a:off x="4951331" y="9011482"/>
            <a:ext cx="8017037" cy="1118869"/>
          </a:xfrm>
          <a:prstGeom prst="rect">
            <a:avLst/>
          </a:prstGeom>
        </p:spPr>
        <p:txBody>
          <a:bodyPr lIns="0" tIns="0" rIns="0" bIns="0" rtlCol="0" anchor="t">
            <a:spAutoFit/>
          </a:bodyPr>
          <a:lstStyle/>
          <a:p>
            <a:pPr marL="0" lvl="0" indent="0" algn="l">
              <a:lnSpc>
                <a:spcPts val="8680"/>
              </a:lnSpc>
              <a:spcBef>
                <a:spcPct val="0"/>
              </a:spcBef>
            </a:pPr>
            <a:r>
              <a:rPr lang="en-US" sz="6200">
                <a:solidFill>
                  <a:srgbClr val="FFFFFF"/>
                </a:solidFill>
                <a:latin typeface="Blogger"/>
                <a:ea typeface="Blogger"/>
                <a:cs typeface="Blogger"/>
                <a:sym typeface="Blogger"/>
              </a:rPr>
              <a:t>Engagement Coordinator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a:off x="13320713" y="5319713"/>
            <a:ext cx="4967287" cy="4967287"/>
          </a:xfrm>
          <a:custGeom>
            <a:avLst/>
            <a:gdLst/>
            <a:ahLst/>
            <a:cxnLst/>
            <a:rect l="l" t="t" r="r" b="b"/>
            <a:pathLst>
              <a:path w="4967287" h="4967287">
                <a:moveTo>
                  <a:pt x="4967287" y="0"/>
                </a:moveTo>
                <a:lnTo>
                  <a:pt x="0" y="0"/>
                </a:lnTo>
                <a:lnTo>
                  <a:pt x="0" y="4967287"/>
                </a:lnTo>
                <a:lnTo>
                  <a:pt x="4967287" y="4967287"/>
                </a:lnTo>
                <a:lnTo>
                  <a:pt x="4967287"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39697" y="-169786"/>
            <a:ext cx="4702712" cy="4702712"/>
          </a:xfrm>
          <a:custGeom>
            <a:avLst/>
            <a:gdLst/>
            <a:ahLst/>
            <a:cxnLst/>
            <a:rect l="l" t="t" r="r" b="b"/>
            <a:pathLst>
              <a:path w="4702712" h="4702712">
                <a:moveTo>
                  <a:pt x="0" y="0"/>
                </a:moveTo>
                <a:lnTo>
                  <a:pt x="4702712" y="0"/>
                </a:lnTo>
                <a:lnTo>
                  <a:pt x="4702712" y="4702713"/>
                </a:lnTo>
                <a:lnTo>
                  <a:pt x="0" y="4702713"/>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9351214" y="5240115"/>
            <a:ext cx="5303006" cy="3275348"/>
            <a:chOff x="0" y="0"/>
            <a:chExt cx="1396677" cy="862643"/>
          </a:xfrm>
        </p:grpSpPr>
        <p:sp>
          <p:nvSpPr>
            <p:cNvPr id="5" name="Freeform 5"/>
            <p:cNvSpPr/>
            <p:nvPr/>
          </p:nvSpPr>
          <p:spPr>
            <a:xfrm>
              <a:off x="0" y="0"/>
              <a:ext cx="1396677" cy="862643"/>
            </a:xfrm>
            <a:custGeom>
              <a:avLst/>
              <a:gdLst/>
              <a:ahLst/>
              <a:cxnLst/>
              <a:rect l="l" t="t" r="r" b="b"/>
              <a:pathLst>
                <a:path w="1396677" h="862643">
                  <a:moveTo>
                    <a:pt x="74455" y="0"/>
                  </a:moveTo>
                  <a:lnTo>
                    <a:pt x="1322221" y="0"/>
                  </a:lnTo>
                  <a:cubicBezTo>
                    <a:pt x="1363342" y="0"/>
                    <a:pt x="1396677" y="33335"/>
                    <a:pt x="1396677" y="74455"/>
                  </a:cubicBezTo>
                  <a:lnTo>
                    <a:pt x="1396677" y="788188"/>
                  </a:lnTo>
                  <a:cubicBezTo>
                    <a:pt x="1396677" y="829308"/>
                    <a:pt x="1363342" y="862643"/>
                    <a:pt x="1322221" y="862643"/>
                  </a:cubicBezTo>
                  <a:lnTo>
                    <a:pt x="74455" y="862643"/>
                  </a:lnTo>
                  <a:cubicBezTo>
                    <a:pt x="33335" y="862643"/>
                    <a:pt x="0" y="829308"/>
                    <a:pt x="0" y="788188"/>
                  </a:cubicBezTo>
                  <a:lnTo>
                    <a:pt x="0" y="74455"/>
                  </a:lnTo>
                  <a:cubicBezTo>
                    <a:pt x="0" y="33335"/>
                    <a:pt x="33335" y="0"/>
                    <a:pt x="74455" y="0"/>
                  </a:cubicBezTo>
                  <a:close/>
                </a:path>
              </a:pathLst>
            </a:custGeom>
            <a:solidFill>
              <a:srgbClr val="FFFFFF"/>
            </a:solidFill>
          </p:spPr>
        </p:sp>
        <p:sp>
          <p:nvSpPr>
            <p:cNvPr id="6" name="TextBox 6"/>
            <p:cNvSpPr txBox="1"/>
            <p:nvPr/>
          </p:nvSpPr>
          <p:spPr>
            <a:xfrm>
              <a:off x="0" y="-85725"/>
              <a:ext cx="1396677" cy="948368"/>
            </a:xfrm>
            <a:prstGeom prst="rect">
              <a:avLst/>
            </a:prstGeom>
          </p:spPr>
          <p:txBody>
            <a:bodyPr lIns="50800" tIns="50800" rIns="50800" bIns="50800" rtlCol="0" anchor="ctr"/>
            <a:lstStyle/>
            <a:p>
              <a:pPr algn="ctr">
                <a:lnSpc>
                  <a:spcPts val="3600"/>
                </a:lnSpc>
              </a:pPr>
              <a:endParaRPr/>
            </a:p>
          </p:txBody>
        </p:sp>
      </p:grpSp>
      <p:grpSp>
        <p:nvGrpSpPr>
          <p:cNvPr id="7" name="Group 7"/>
          <p:cNvGrpSpPr/>
          <p:nvPr/>
        </p:nvGrpSpPr>
        <p:grpSpPr>
          <a:xfrm>
            <a:off x="3633779" y="3050244"/>
            <a:ext cx="5303006" cy="5465219"/>
            <a:chOff x="0" y="0"/>
            <a:chExt cx="1396677" cy="1439399"/>
          </a:xfrm>
        </p:grpSpPr>
        <p:sp>
          <p:nvSpPr>
            <p:cNvPr id="8" name="Freeform 8"/>
            <p:cNvSpPr/>
            <p:nvPr/>
          </p:nvSpPr>
          <p:spPr>
            <a:xfrm>
              <a:off x="0" y="0"/>
              <a:ext cx="1396677" cy="1439399"/>
            </a:xfrm>
            <a:custGeom>
              <a:avLst/>
              <a:gdLst/>
              <a:ahLst/>
              <a:cxnLst/>
              <a:rect l="l" t="t" r="r" b="b"/>
              <a:pathLst>
                <a:path w="1396677" h="1439399">
                  <a:moveTo>
                    <a:pt x="74455" y="0"/>
                  </a:moveTo>
                  <a:lnTo>
                    <a:pt x="1322221" y="0"/>
                  </a:lnTo>
                  <a:cubicBezTo>
                    <a:pt x="1363342" y="0"/>
                    <a:pt x="1396677" y="33335"/>
                    <a:pt x="1396677" y="74455"/>
                  </a:cubicBezTo>
                  <a:lnTo>
                    <a:pt x="1396677" y="1364944"/>
                  </a:lnTo>
                  <a:cubicBezTo>
                    <a:pt x="1396677" y="1406064"/>
                    <a:pt x="1363342" y="1439399"/>
                    <a:pt x="1322221" y="1439399"/>
                  </a:cubicBezTo>
                  <a:lnTo>
                    <a:pt x="74455" y="1439399"/>
                  </a:lnTo>
                  <a:cubicBezTo>
                    <a:pt x="33335" y="1439399"/>
                    <a:pt x="0" y="1406064"/>
                    <a:pt x="0" y="1364944"/>
                  </a:cubicBezTo>
                  <a:lnTo>
                    <a:pt x="0" y="74455"/>
                  </a:lnTo>
                  <a:cubicBezTo>
                    <a:pt x="0" y="33335"/>
                    <a:pt x="33335" y="0"/>
                    <a:pt x="74455" y="0"/>
                  </a:cubicBezTo>
                  <a:close/>
                </a:path>
              </a:pathLst>
            </a:custGeom>
            <a:solidFill>
              <a:srgbClr val="FFFFFF"/>
            </a:solidFill>
          </p:spPr>
        </p:sp>
        <p:sp>
          <p:nvSpPr>
            <p:cNvPr id="9" name="TextBox 9"/>
            <p:cNvSpPr txBox="1"/>
            <p:nvPr/>
          </p:nvSpPr>
          <p:spPr>
            <a:xfrm>
              <a:off x="0" y="-85725"/>
              <a:ext cx="1396677" cy="1525124"/>
            </a:xfrm>
            <a:prstGeom prst="rect">
              <a:avLst/>
            </a:prstGeom>
          </p:spPr>
          <p:txBody>
            <a:bodyPr lIns="50800" tIns="50800" rIns="50800" bIns="50800" rtlCol="0" anchor="ctr"/>
            <a:lstStyle/>
            <a:p>
              <a:pPr algn="ctr">
                <a:lnSpc>
                  <a:spcPts val="3600"/>
                </a:lnSpc>
              </a:pPr>
              <a:endParaRPr/>
            </a:p>
          </p:txBody>
        </p:sp>
      </p:grpSp>
      <p:sp>
        <p:nvSpPr>
          <p:cNvPr id="10" name="Freeform 10"/>
          <p:cNvSpPr/>
          <p:nvPr/>
        </p:nvSpPr>
        <p:spPr>
          <a:xfrm>
            <a:off x="9351214" y="3050244"/>
            <a:ext cx="5075430" cy="1692267"/>
          </a:xfrm>
          <a:custGeom>
            <a:avLst/>
            <a:gdLst/>
            <a:ahLst/>
            <a:cxnLst/>
            <a:rect l="l" t="t" r="r" b="b"/>
            <a:pathLst>
              <a:path w="5075430" h="1692267">
                <a:moveTo>
                  <a:pt x="0" y="0"/>
                </a:moveTo>
                <a:lnTo>
                  <a:pt x="5075430" y="0"/>
                </a:lnTo>
                <a:lnTo>
                  <a:pt x="5075430" y="1692267"/>
                </a:lnTo>
                <a:lnTo>
                  <a:pt x="0" y="169226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92741" y="461378"/>
            <a:ext cx="14702519" cy="1303020"/>
          </a:xfrm>
          <a:prstGeom prst="rect">
            <a:avLst/>
          </a:prstGeom>
        </p:spPr>
        <p:txBody>
          <a:bodyPr lIns="0" tIns="0" rIns="0" bIns="0" rtlCol="0" anchor="t">
            <a:spAutoFit/>
          </a:bodyPr>
          <a:lstStyle/>
          <a:p>
            <a:pPr marL="0" lvl="0" indent="0" algn="ctr">
              <a:lnSpc>
                <a:spcPts val="10080"/>
              </a:lnSpc>
              <a:spcBef>
                <a:spcPct val="0"/>
              </a:spcBef>
            </a:pPr>
            <a:r>
              <a:rPr lang="en-US" sz="7200" b="1">
                <a:solidFill>
                  <a:srgbClr val="FFFFFF"/>
                </a:solidFill>
                <a:latin typeface="Blogger Bold"/>
                <a:ea typeface="Blogger Bold"/>
                <a:cs typeface="Blogger Bold"/>
                <a:sym typeface="Blogger Bold"/>
              </a:rPr>
              <a:t>Expectations with Manager</a:t>
            </a:r>
          </a:p>
        </p:txBody>
      </p:sp>
      <p:sp>
        <p:nvSpPr>
          <p:cNvPr id="12" name="TextBox 12"/>
          <p:cNvSpPr txBox="1"/>
          <p:nvPr/>
        </p:nvSpPr>
        <p:spPr>
          <a:xfrm>
            <a:off x="9578791" y="5939794"/>
            <a:ext cx="4847853" cy="2178050"/>
          </a:xfrm>
          <a:prstGeom prst="rect">
            <a:avLst/>
          </a:prstGeom>
        </p:spPr>
        <p:txBody>
          <a:bodyPr lIns="0" tIns="0" rIns="0" bIns="0" rtlCol="0" anchor="t">
            <a:spAutoFit/>
          </a:bodyPr>
          <a:lstStyle/>
          <a:p>
            <a:pPr marL="561339" lvl="1" indent="-280669" algn="l">
              <a:lnSpc>
                <a:spcPts val="4419"/>
              </a:lnSpc>
              <a:buFont typeface="Arial"/>
              <a:buChar char="•"/>
            </a:pPr>
            <a:r>
              <a:rPr lang="en-US" sz="2599">
                <a:solidFill>
                  <a:srgbClr val="082649"/>
                </a:solidFill>
                <a:latin typeface="Quicksand"/>
                <a:ea typeface="Quicksand"/>
                <a:cs typeface="Quicksand"/>
                <a:sym typeface="Quicksand"/>
              </a:rPr>
              <a:t>Conversations</a:t>
            </a:r>
          </a:p>
          <a:p>
            <a:pPr marL="561339" lvl="1" indent="-280669" algn="l">
              <a:lnSpc>
                <a:spcPts val="4419"/>
              </a:lnSpc>
              <a:buFont typeface="Arial"/>
              <a:buChar char="•"/>
            </a:pPr>
            <a:r>
              <a:rPr lang="en-US" sz="2599">
                <a:solidFill>
                  <a:srgbClr val="082649"/>
                </a:solidFill>
                <a:latin typeface="Quicksand"/>
                <a:ea typeface="Quicksand"/>
                <a:cs typeface="Quicksand"/>
                <a:sym typeface="Quicksand"/>
              </a:rPr>
              <a:t>Agenda</a:t>
            </a:r>
          </a:p>
          <a:p>
            <a:pPr marL="561339" lvl="1" indent="-280669" algn="l">
              <a:lnSpc>
                <a:spcPts val="4419"/>
              </a:lnSpc>
              <a:buFont typeface="Arial"/>
              <a:buChar char="•"/>
            </a:pPr>
            <a:r>
              <a:rPr lang="en-US" sz="2599">
                <a:solidFill>
                  <a:srgbClr val="082649"/>
                </a:solidFill>
                <a:latin typeface="Quicksand"/>
                <a:ea typeface="Quicksand"/>
                <a:cs typeface="Quicksand"/>
                <a:sym typeface="Quicksand"/>
              </a:rPr>
              <a:t>Recap</a:t>
            </a:r>
          </a:p>
          <a:p>
            <a:pPr marL="561339" lvl="1" indent="-280669" algn="l">
              <a:lnSpc>
                <a:spcPts val="4419"/>
              </a:lnSpc>
              <a:buFont typeface="Arial"/>
              <a:buChar char="•"/>
            </a:pPr>
            <a:r>
              <a:rPr lang="en-US" sz="2599">
                <a:solidFill>
                  <a:srgbClr val="082649"/>
                </a:solidFill>
                <a:latin typeface="Quicksand"/>
                <a:ea typeface="Quicksand"/>
                <a:cs typeface="Quicksand"/>
                <a:sym typeface="Quicksand"/>
              </a:rPr>
              <a:t>Meetings</a:t>
            </a:r>
          </a:p>
        </p:txBody>
      </p:sp>
      <p:sp>
        <p:nvSpPr>
          <p:cNvPr id="13" name="TextBox 13"/>
          <p:cNvSpPr txBox="1"/>
          <p:nvPr/>
        </p:nvSpPr>
        <p:spPr>
          <a:xfrm>
            <a:off x="9578791" y="5325688"/>
            <a:ext cx="4847853" cy="577851"/>
          </a:xfrm>
          <a:prstGeom prst="rect">
            <a:avLst/>
          </a:prstGeom>
        </p:spPr>
        <p:txBody>
          <a:bodyPr lIns="0" tIns="0" rIns="0" bIns="0" rtlCol="0" anchor="t">
            <a:spAutoFit/>
          </a:bodyPr>
          <a:lstStyle/>
          <a:p>
            <a:pPr marL="0" lvl="0" indent="0" algn="ctr">
              <a:lnSpc>
                <a:spcPts val="4929"/>
              </a:lnSpc>
            </a:pPr>
            <a:r>
              <a:rPr lang="en-US" sz="2899" b="1">
                <a:solidFill>
                  <a:srgbClr val="082649"/>
                </a:solidFill>
                <a:latin typeface="Quicksand Bold"/>
                <a:ea typeface="Quicksand Bold"/>
                <a:cs typeface="Quicksand Bold"/>
                <a:sym typeface="Quicksand Bold"/>
              </a:rPr>
              <a:t>DOCUMENT</a:t>
            </a:r>
          </a:p>
        </p:txBody>
      </p:sp>
      <p:sp>
        <p:nvSpPr>
          <p:cNvPr id="14" name="TextBox 14"/>
          <p:cNvSpPr txBox="1"/>
          <p:nvPr/>
        </p:nvSpPr>
        <p:spPr>
          <a:xfrm>
            <a:off x="3861356" y="4784094"/>
            <a:ext cx="4847853" cy="2435226"/>
          </a:xfrm>
          <a:prstGeom prst="rect">
            <a:avLst/>
          </a:prstGeom>
        </p:spPr>
        <p:txBody>
          <a:bodyPr lIns="0" tIns="0" rIns="0" bIns="0" rtlCol="0" anchor="t">
            <a:spAutoFit/>
          </a:bodyPr>
          <a:lstStyle/>
          <a:p>
            <a:pPr marL="626107" lvl="1" indent="-313054" algn="l">
              <a:lnSpc>
                <a:spcPts val="4929"/>
              </a:lnSpc>
              <a:buFont typeface="Arial"/>
              <a:buChar char="•"/>
            </a:pPr>
            <a:r>
              <a:rPr lang="en-US" sz="2899">
                <a:solidFill>
                  <a:srgbClr val="082649"/>
                </a:solidFill>
                <a:latin typeface="Quicksand"/>
                <a:ea typeface="Quicksand"/>
                <a:cs typeface="Quicksand"/>
                <a:sym typeface="Quicksand"/>
              </a:rPr>
              <a:t>Project Trackers</a:t>
            </a:r>
          </a:p>
          <a:p>
            <a:pPr marL="626107" lvl="1" indent="-313054" algn="l">
              <a:lnSpc>
                <a:spcPts val="4929"/>
              </a:lnSpc>
              <a:buFont typeface="Arial"/>
              <a:buChar char="•"/>
            </a:pPr>
            <a:r>
              <a:rPr lang="en-US" sz="2899">
                <a:solidFill>
                  <a:srgbClr val="082649"/>
                </a:solidFill>
                <a:latin typeface="Quicksand"/>
                <a:ea typeface="Quicksand"/>
                <a:cs typeface="Quicksand"/>
                <a:sym typeface="Quicksand"/>
              </a:rPr>
              <a:t>Smartsheet Trackers</a:t>
            </a:r>
          </a:p>
          <a:p>
            <a:pPr marL="626107" lvl="1" indent="-313054" algn="l">
              <a:lnSpc>
                <a:spcPts val="4929"/>
              </a:lnSpc>
              <a:buFont typeface="Arial"/>
              <a:buChar char="•"/>
            </a:pPr>
            <a:r>
              <a:rPr lang="en-US" sz="2899">
                <a:solidFill>
                  <a:srgbClr val="082649"/>
                </a:solidFill>
                <a:latin typeface="Quicksand"/>
                <a:ea typeface="Quicksand"/>
                <a:cs typeface="Quicksand"/>
                <a:sym typeface="Quicksand"/>
              </a:rPr>
              <a:t>EC Action Item Tracker</a:t>
            </a:r>
          </a:p>
          <a:p>
            <a:pPr marL="626107" lvl="1" indent="-313054" algn="l">
              <a:lnSpc>
                <a:spcPts val="4929"/>
              </a:lnSpc>
              <a:buFont typeface="Arial"/>
              <a:buChar char="•"/>
            </a:pPr>
            <a:r>
              <a:rPr lang="en-US" sz="2899">
                <a:solidFill>
                  <a:srgbClr val="082649"/>
                </a:solidFill>
                <a:latin typeface="Quicksand"/>
                <a:ea typeface="Quicksand"/>
                <a:cs typeface="Quicksand"/>
                <a:sym typeface="Quicksand"/>
              </a:rPr>
              <a:t>EC Lessons Learned</a:t>
            </a:r>
          </a:p>
        </p:txBody>
      </p:sp>
      <p:sp>
        <p:nvSpPr>
          <p:cNvPr id="15" name="TextBox 15"/>
          <p:cNvSpPr txBox="1"/>
          <p:nvPr/>
        </p:nvSpPr>
        <p:spPr>
          <a:xfrm>
            <a:off x="3861356" y="3601102"/>
            <a:ext cx="4847853" cy="590551"/>
          </a:xfrm>
          <a:prstGeom prst="rect">
            <a:avLst/>
          </a:prstGeom>
        </p:spPr>
        <p:txBody>
          <a:bodyPr lIns="0" tIns="0" rIns="0" bIns="0" rtlCol="0" anchor="t">
            <a:spAutoFit/>
          </a:bodyPr>
          <a:lstStyle/>
          <a:p>
            <a:pPr marL="0" lvl="0" indent="0" algn="ctr">
              <a:lnSpc>
                <a:spcPts val="5099"/>
              </a:lnSpc>
            </a:pPr>
            <a:r>
              <a:rPr lang="en-US" sz="2999" b="1">
                <a:solidFill>
                  <a:srgbClr val="082649"/>
                </a:solidFill>
                <a:latin typeface="Quicksand Bold"/>
                <a:ea typeface="Quicksand Bold"/>
                <a:cs typeface="Quicksand Bold"/>
                <a:sym typeface="Quicksand Bold"/>
              </a:rPr>
              <a:t>UPDATE &amp; BE ORGANIZED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a:off x="13320713" y="5319713"/>
            <a:ext cx="4967287" cy="4967287"/>
          </a:xfrm>
          <a:custGeom>
            <a:avLst/>
            <a:gdLst/>
            <a:ahLst/>
            <a:cxnLst/>
            <a:rect l="l" t="t" r="r" b="b"/>
            <a:pathLst>
              <a:path w="4967287" h="4967287">
                <a:moveTo>
                  <a:pt x="4967287" y="0"/>
                </a:moveTo>
                <a:lnTo>
                  <a:pt x="0" y="0"/>
                </a:lnTo>
                <a:lnTo>
                  <a:pt x="0" y="4967287"/>
                </a:lnTo>
                <a:lnTo>
                  <a:pt x="4967287" y="4967287"/>
                </a:lnTo>
                <a:lnTo>
                  <a:pt x="4967287"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39697" y="-169786"/>
            <a:ext cx="4702712" cy="4702712"/>
          </a:xfrm>
          <a:custGeom>
            <a:avLst/>
            <a:gdLst/>
            <a:ahLst/>
            <a:cxnLst/>
            <a:rect l="l" t="t" r="r" b="b"/>
            <a:pathLst>
              <a:path w="4702712" h="4702712">
                <a:moveTo>
                  <a:pt x="0" y="0"/>
                </a:moveTo>
                <a:lnTo>
                  <a:pt x="4702712" y="0"/>
                </a:lnTo>
                <a:lnTo>
                  <a:pt x="4702712" y="4702713"/>
                </a:lnTo>
                <a:lnTo>
                  <a:pt x="0" y="4702713"/>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9351214" y="5240115"/>
            <a:ext cx="5303006" cy="3275348"/>
            <a:chOff x="0" y="0"/>
            <a:chExt cx="1396677" cy="862643"/>
          </a:xfrm>
        </p:grpSpPr>
        <p:sp>
          <p:nvSpPr>
            <p:cNvPr id="5" name="Freeform 5"/>
            <p:cNvSpPr/>
            <p:nvPr/>
          </p:nvSpPr>
          <p:spPr>
            <a:xfrm>
              <a:off x="0" y="0"/>
              <a:ext cx="1396677" cy="862643"/>
            </a:xfrm>
            <a:custGeom>
              <a:avLst/>
              <a:gdLst/>
              <a:ahLst/>
              <a:cxnLst/>
              <a:rect l="l" t="t" r="r" b="b"/>
              <a:pathLst>
                <a:path w="1396677" h="862643">
                  <a:moveTo>
                    <a:pt x="74455" y="0"/>
                  </a:moveTo>
                  <a:lnTo>
                    <a:pt x="1322221" y="0"/>
                  </a:lnTo>
                  <a:cubicBezTo>
                    <a:pt x="1363342" y="0"/>
                    <a:pt x="1396677" y="33335"/>
                    <a:pt x="1396677" y="74455"/>
                  </a:cubicBezTo>
                  <a:lnTo>
                    <a:pt x="1396677" y="788188"/>
                  </a:lnTo>
                  <a:cubicBezTo>
                    <a:pt x="1396677" y="829308"/>
                    <a:pt x="1363342" y="862643"/>
                    <a:pt x="1322221" y="862643"/>
                  </a:cubicBezTo>
                  <a:lnTo>
                    <a:pt x="74455" y="862643"/>
                  </a:lnTo>
                  <a:cubicBezTo>
                    <a:pt x="33335" y="862643"/>
                    <a:pt x="0" y="829308"/>
                    <a:pt x="0" y="788188"/>
                  </a:cubicBezTo>
                  <a:lnTo>
                    <a:pt x="0" y="74455"/>
                  </a:lnTo>
                  <a:cubicBezTo>
                    <a:pt x="0" y="33335"/>
                    <a:pt x="33335" y="0"/>
                    <a:pt x="74455" y="0"/>
                  </a:cubicBezTo>
                  <a:close/>
                </a:path>
              </a:pathLst>
            </a:custGeom>
            <a:solidFill>
              <a:srgbClr val="FFFFFF"/>
            </a:solidFill>
          </p:spPr>
        </p:sp>
        <p:sp>
          <p:nvSpPr>
            <p:cNvPr id="6" name="TextBox 6"/>
            <p:cNvSpPr txBox="1"/>
            <p:nvPr/>
          </p:nvSpPr>
          <p:spPr>
            <a:xfrm>
              <a:off x="0" y="-85725"/>
              <a:ext cx="1396677" cy="948368"/>
            </a:xfrm>
            <a:prstGeom prst="rect">
              <a:avLst/>
            </a:prstGeom>
          </p:spPr>
          <p:txBody>
            <a:bodyPr lIns="50800" tIns="50800" rIns="50800" bIns="50800" rtlCol="0" anchor="ctr"/>
            <a:lstStyle/>
            <a:p>
              <a:pPr algn="ctr">
                <a:lnSpc>
                  <a:spcPts val="3600"/>
                </a:lnSpc>
              </a:pPr>
              <a:endParaRPr/>
            </a:p>
          </p:txBody>
        </p:sp>
      </p:grpSp>
      <p:grpSp>
        <p:nvGrpSpPr>
          <p:cNvPr id="7" name="Group 7"/>
          <p:cNvGrpSpPr/>
          <p:nvPr/>
        </p:nvGrpSpPr>
        <p:grpSpPr>
          <a:xfrm>
            <a:off x="3633779" y="2965884"/>
            <a:ext cx="5303006" cy="5465219"/>
            <a:chOff x="0" y="0"/>
            <a:chExt cx="1396677" cy="1439399"/>
          </a:xfrm>
        </p:grpSpPr>
        <p:sp>
          <p:nvSpPr>
            <p:cNvPr id="8" name="Freeform 8"/>
            <p:cNvSpPr/>
            <p:nvPr/>
          </p:nvSpPr>
          <p:spPr>
            <a:xfrm>
              <a:off x="0" y="0"/>
              <a:ext cx="1396677" cy="1439399"/>
            </a:xfrm>
            <a:custGeom>
              <a:avLst/>
              <a:gdLst/>
              <a:ahLst/>
              <a:cxnLst/>
              <a:rect l="l" t="t" r="r" b="b"/>
              <a:pathLst>
                <a:path w="1396677" h="1439399">
                  <a:moveTo>
                    <a:pt x="74455" y="0"/>
                  </a:moveTo>
                  <a:lnTo>
                    <a:pt x="1322221" y="0"/>
                  </a:lnTo>
                  <a:cubicBezTo>
                    <a:pt x="1363342" y="0"/>
                    <a:pt x="1396677" y="33335"/>
                    <a:pt x="1396677" y="74455"/>
                  </a:cubicBezTo>
                  <a:lnTo>
                    <a:pt x="1396677" y="1364944"/>
                  </a:lnTo>
                  <a:cubicBezTo>
                    <a:pt x="1396677" y="1406064"/>
                    <a:pt x="1363342" y="1439399"/>
                    <a:pt x="1322221" y="1439399"/>
                  </a:cubicBezTo>
                  <a:lnTo>
                    <a:pt x="74455" y="1439399"/>
                  </a:lnTo>
                  <a:cubicBezTo>
                    <a:pt x="33335" y="1439399"/>
                    <a:pt x="0" y="1406064"/>
                    <a:pt x="0" y="1364944"/>
                  </a:cubicBezTo>
                  <a:lnTo>
                    <a:pt x="0" y="74455"/>
                  </a:lnTo>
                  <a:cubicBezTo>
                    <a:pt x="0" y="33335"/>
                    <a:pt x="33335" y="0"/>
                    <a:pt x="74455" y="0"/>
                  </a:cubicBezTo>
                  <a:close/>
                </a:path>
              </a:pathLst>
            </a:custGeom>
            <a:solidFill>
              <a:srgbClr val="FFFFFF"/>
            </a:solidFill>
          </p:spPr>
        </p:sp>
        <p:sp>
          <p:nvSpPr>
            <p:cNvPr id="9" name="TextBox 9"/>
            <p:cNvSpPr txBox="1"/>
            <p:nvPr/>
          </p:nvSpPr>
          <p:spPr>
            <a:xfrm>
              <a:off x="0" y="-85725"/>
              <a:ext cx="1396677" cy="1525124"/>
            </a:xfrm>
            <a:prstGeom prst="rect">
              <a:avLst/>
            </a:prstGeom>
          </p:spPr>
          <p:txBody>
            <a:bodyPr lIns="50800" tIns="50800" rIns="50800" bIns="50800" rtlCol="0" anchor="ctr"/>
            <a:lstStyle/>
            <a:p>
              <a:pPr algn="ctr">
                <a:lnSpc>
                  <a:spcPts val="3600"/>
                </a:lnSpc>
              </a:pPr>
              <a:endParaRPr/>
            </a:p>
          </p:txBody>
        </p:sp>
      </p:grpSp>
      <p:sp>
        <p:nvSpPr>
          <p:cNvPr id="10" name="Freeform 10"/>
          <p:cNvSpPr/>
          <p:nvPr/>
        </p:nvSpPr>
        <p:spPr>
          <a:xfrm>
            <a:off x="9351214" y="3050244"/>
            <a:ext cx="5075430" cy="1692267"/>
          </a:xfrm>
          <a:custGeom>
            <a:avLst/>
            <a:gdLst/>
            <a:ahLst/>
            <a:cxnLst/>
            <a:rect l="l" t="t" r="r" b="b"/>
            <a:pathLst>
              <a:path w="5075430" h="1692267">
                <a:moveTo>
                  <a:pt x="0" y="0"/>
                </a:moveTo>
                <a:lnTo>
                  <a:pt x="5075430" y="0"/>
                </a:lnTo>
                <a:lnTo>
                  <a:pt x="5075430" y="1692267"/>
                </a:lnTo>
                <a:lnTo>
                  <a:pt x="0" y="169226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92741" y="461378"/>
            <a:ext cx="14702519" cy="1303020"/>
          </a:xfrm>
          <a:prstGeom prst="rect">
            <a:avLst/>
          </a:prstGeom>
        </p:spPr>
        <p:txBody>
          <a:bodyPr lIns="0" tIns="0" rIns="0" bIns="0" rtlCol="0" anchor="t">
            <a:spAutoFit/>
          </a:bodyPr>
          <a:lstStyle/>
          <a:p>
            <a:pPr marL="0" lvl="0" indent="0" algn="ctr">
              <a:lnSpc>
                <a:spcPts val="10080"/>
              </a:lnSpc>
              <a:spcBef>
                <a:spcPct val="0"/>
              </a:spcBef>
            </a:pPr>
            <a:r>
              <a:rPr lang="en-US" sz="7200" b="1">
                <a:solidFill>
                  <a:srgbClr val="FFFFFF"/>
                </a:solidFill>
                <a:latin typeface="Blogger Bold"/>
                <a:ea typeface="Blogger Bold"/>
                <a:cs typeface="Blogger Bold"/>
                <a:sym typeface="Blogger Bold"/>
              </a:rPr>
              <a:t>Expectations with Manager</a:t>
            </a:r>
          </a:p>
        </p:txBody>
      </p:sp>
      <p:sp>
        <p:nvSpPr>
          <p:cNvPr id="12" name="TextBox 12"/>
          <p:cNvSpPr txBox="1"/>
          <p:nvPr/>
        </p:nvSpPr>
        <p:spPr>
          <a:xfrm>
            <a:off x="3747568" y="4537759"/>
            <a:ext cx="5075430" cy="305752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If it takes more than 5 mins, ask</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Utilize MS Teams chats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Don’t hesitate to reach out to other teams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Respond to client emails ASAP (acknowledgement)</a:t>
            </a:r>
          </a:p>
        </p:txBody>
      </p:sp>
      <p:sp>
        <p:nvSpPr>
          <p:cNvPr id="13" name="TextBox 13"/>
          <p:cNvSpPr txBox="1"/>
          <p:nvPr/>
        </p:nvSpPr>
        <p:spPr>
          <a:xfrm>
            <a:off x="3796821" y="3591577"/>
            <a:ext cx="4976924" cy="485775"/>
          </a:xfrm>
          <a:prstGeom prst="rect">
            <a:avLst/>
          </a:prstGeom>
        </p:spPr>
        <p:txBody>
          <a:bodyPr lIns="0" tIns="0" rIns="0" bIns="0" rtlCol="0" anchor="t">
            <a:spAutoFit/>
          </a:bodyPr>
          <a:lstStyle/>
          <a:p>
            <a:pPr marL="0" lvl="0" indent="0" algn="ctr">
              <a:lnSpc>
                <a:spcPts val="4079"/>
              </a:lnSpc>
            </a:pPr>
            <a:r>
              <a:rPr lang="en-US" sz="2400" b="1">
                <a:solidFill>
                  <a:srgbClr val="082649"/>
                </a:solidFill>
                <a:latin typeface="Quicksand Bold"/>
                <a:ea typeface="Quicksand Bold"/>
                <a:cs typeface="Quicksand Bold"/>
                <a:sym typeface="Quicksand Bold"/>
              </a:rPr>
              <a:t>COMMUNICATE (ASK &amp; RESPOND)</a:t>
            </a:r>
          </a:p>
        </p:txBody>
      </p:sp>
      <p:sp>
        <p:nvSpPr>
          <p:cNvPr id="14" name="TextBox 14"/>
          <p:cNvSpPr txBox="1"/>
          <p:nvPr/>
        </p:nvSpPr>
        <p:spPr>
          <a:xfrm>
            <a:off x="9578791" y="6004609"/>
            <a:ext cx="4847853" cy="202882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Possible Escalations/Issues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Client Sentiment/Temperature</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Implementation Errors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Upcoming Projects</a:t>
            </a:r>
          </a:p>
        </p:txBody>
      </p:sp>
      <p:sp>
        <p:nvSpPr>
          <p:cNvPr id="15" name="TextBox 15"/>
          <p:cNvSpPr txBox="1"/>
          <p:nvPr/>
        </p:nvSpPr>
        <p:spPr>
          <a:xfrm>
            <a:off x="9578791" y="5384169"/>
            <a:ext cx="4847853" cy="542925"/>
          </a:xfrm>
          <a:prstGeom prst="rect">
            <a:avLst/>
          </a:prstGeom>
        </p:spPr>
        <p:txBody>
          <a:bodyPr lIns="0" tIns="0" rIns="0" bIns="0" rtlCol="0" anchor="t">
            <a:spAutoFit/>
          </a:bodyPr>
          <a:lstStyle/>
          <a:p>
            <a:pPr marL="0" lvl="0" indent="0" algn="ctr">
              <a:lnSpc>
                <a:spcPts val="4589"/>
              </a:lnSpc>
            </a:pPr>
            <a:r>
              <a:rPr lang="en-US" sz="2699" b="1">
                <a:solidFill>
                  <a:srgbClr val="082649"/>
                </a:solidFill>
                <a:latin typeface="Quicksand Bold"/>
                <a:ea typeface="Quicksand Bold"/>
                <a:cs typeface="Quicksand Bold"/>
                <a:sym typeface="Quicksand Bold"/>
              </a:rPr>
              <a:t>RISK MITIGATION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a:off x="13320713" y="5319713"/>
            <a:ext cx="4967287" cy="4967287"/>
          </a:xfrm>
          <a:custGeom>
            <a:avLst/>
            <a:gdLst/>
            <a:ahLst/>
            <a:cxnLst/>
            <a:rect l="l" t="t" r="r" b="b"/>
            <a:pathLst>
              <a:path w="4967287" h="4967287">
                <a:moveTo>
                  <a:pt x="4967287" y="0"/>
                </a:moveTo>
                <a:lnTo>
                  <a:pt x="0" y="0"/>
                </a:lnTo>
                <a:lnTo>
                  <a:pt x="0" y="4967287"/>
                </a:lnTo>
                <a:lnTo>
                  <a:pt x="4967287" y="4967287"/>
                </a:lnTo>
                <a:lnTo>
                  <a:pt x="4967287"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39697" y="-169786"/>
            <a:ext cx="4702712" cy="4702712"/>
          </a:xfrm>
          <a:custGeom>
            <a:avLst/>
            <a:gdLst/>
            <a:ahLst/>
            <a:cxnLst/>
            <a:rect l="l" t="t" r="r" b="b"/>
            <a:pathLst>
              <a:path w="4702712" h="4702712">
                <a:moveTo>
                  <a:pt x="0" y="0"/>
                </a:moveTo>
                <a:lnTo>
                  <a:pt x="4702712" y="0"/>
                </a:lnTo>
                <a:lnTo>
                  <a:pt x="4702712" y="4702713"/>
                </a:lnTo>
                <a:lnTo>
                  <a:pt x="0" y="4702713"/>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9351214" y="5240115"/>
            <a:ext cx="5303006" cy="3275348"/>
            <a:chOff x="0" y="0"/>
            <a:chExt cx="1396677" cy="862643"/>
          </a:xfrm>
        </p:grpSpPr>
        <p:sp>
          <p:nvSpPr>
            <p:cNvPr id="5" name="Freeform 5"/>
            <p:cNvSpPr/>
            <p:nvPr/>
          </p:nvSpPr>
          <p:spPr>
            <a:xfrm>
              <a:off x="0" y="0"/>
              <a:ext cx="1396677" cy="862643"/>
            </a:xfrm>
            <a:custGeom>
              <a:avLst/>
              <a:gdLst/>
              <a:ahLst/>
              <a:cxnLst/>
              <a:rect l="l" t="t" r="r" b="b"/>
              <a:pathLst>
                <a:path w="1396677" h="862643">
                  <a:moveTo>
                    <a:pt x="74455" y="0"/>
                  </a:moveTo>
                  <a:lnTo>
                    <a:pt x="1322221" y="0"/>
                  </a:lnTo>
                  <a:cubicBezTo>
                    <a:pt x="1363342" y="0"/>
                    <a:pt x="1396677" y="33335"/>
                    <a:pt x="1396677" y="74455"/>
                  </a:cubicBezTo>
                  <a:lnTo>
                    <a:pt x="1396677" y="788188"/>
                  </a:lnTo>
                  <a:cubicBezTo>
                    <a:pt x="1396677" y="829308"/>
                    <a:pt x="1363342" y="862643"/>
                    <a:pt x="1322221" y="862643"/>
                  </a:cubicBezTo>
                  <a:lnTo>
                    <a:pt x="74455" y="862643"/>
                  </a:lnTo>
                  <a:cubicBezTo>
                    <a:pt x="33335" y="862643"/>
                    <a:pt x="0" y="829308"/>
                    <a:pt x="0" y="788188"/>
                  </a:cubicBezTo>
                  <a:lnTo>
                    <a:pt x="0" y="74455"/>
                  </a:lnTo>
                  <a:cubicBezTo>
                    <a:pt x="0" y="33335"/>
                    <a:pt x="33335" y="0"/>
                    <a:pt x="74455" y="0"/>
                  </a:cubicBezTo>
                  <a:close/>
                </a:path>
              </a:pathLst>
            </a:custGeom>
            <a:solidFill>
              <a:srgbClr val="FFFFFF"/>
            </a:solidFill>
          </p:spPr>
        </p:sp>
        <p:sp>
          <p:nvSpPr>
            <p:cNvPr id="6" name="TextBox 6"/>
            <p:cNvSpPr txBox="1"/>
            <p:nvPr/>
          </p:nvSpPr>
          <p:spPr>
            <a:xfrm>
              <a:off x="0" y="-85725"/>
              <a:ext cx="1396677" cy="948368"/>
            </a:xfrm>
            <a:prstGeom prst="rect">
              <a:avLst/>
            </a:prstGeom>
          </p:spPr>
          <p:txBody>
            <a:bodyPr lIns="50800" tIns="50800" rIns="50800" bIns="50800" rtlCol="0" anchor="ctr"/>
            <a:lstStyle/>
            <a:p>
              <a:pPr algn="ctr">
                <a:lnSpc>
                  <a:spcPts val="3600"/>
                </a:lnSpc>
              </a:pPr>
              <a:endParaRPr/>
            </a:p>
          </p:txBody>
        </p:sp>
      </p:grpSp>
      <p:grpSp>
        <p:nvGrpSpPr>
          <p:cNvPr id="7" name="Group 7"/>
          <p:cNvGrpSpPr/>
          <p:nvPr/>
        </p:nvGrpSpPr>
        <p:grpSpPr>
          <a:xfrm>
            <a:off x="3633779" y="2965884"/>
            <a:ext cx="5303006" cy="5465219"/>
            <a:chOff x="0" y="0"/>
            <a:chExt cx="1396677" cy="1439399"/>
          </a:xfrm>
        </p:grpSpPr>
        <p:sp>
          <p:nvSpPr>
            <p:cNvPr id="8" name="Freeform 8"/>
            <p:cNvSpPr/>
            <p:nvPr/>
          </p:nvSpPr>
          <p:spPr>
            <a:xfrm>
              <a:off x="0" y="0"/>
              <a:ext cx="1396677" cy="1439399"/>
            </a:xfrm>
            <a:custGeom>
              <a:avLst/>
              <a:gdLst/>
              <a:ahLst/>
              <a:cxnLst/>
              <a:rect l="l" t="t" r="r" b="b"/>
              <a:pathLst>
                <a:path w="1396677" h="1439399">
                  <a:moveTo>
                    <a:pt x="74455" y="0"/>
                  </a:moveTo>
                  <a:lnTo>
                    <a:pt x="1322221" y="0"/>
                  </a:lnTo>
                  <a:cubicBezTo>
                    <a:pt x="1363342" y="0"/>
                    <a:pt x="1396677" y="33335"/>
                    <a:pt x="1396677" y="74455"/>
                  </a:cubicBezTo>
                  <a:lnTo>
                    <a:pt x="1396677" y="1364944"/>
                  </a:lnTo>
                  <a:cubicBezTo>
                    <a:pt x="1396677" y="1406064"/>
                    <a:pt x="1363342" y="1439399"/>
                    <a:pt x="1322221" y="1439399"/>
                  </a:cubicBezTo>
                  <a:lnTo>
                    <a:pt x="74455" y="1439399"/>
                  </a:lnTo>
                  <a:cubicBezTo>
                    <a:pt x="33335" y="1439399"/>
                    <a:pt x="0" y="1406064"/>
                    <a:pt x="0" y="1364944"/>
                  </a:cubicBezTo>
                  <a:lnTo>
                    <a:pt x="0" y="74455"/>
                  </a:lnTo>
                  <a:cubicBezTo>
                    <a:pt x="0" y="33335"/>
                    <a:pt x="33335" y="0"/>
                    <a:pt x="74455" y="0"/>
                  </a:cubicBezTo>
                  <a:close/>
                </a:path>
              </a:pathLst>
            </a:custGeom>
            <a:solidFill>
              <a:srgbClr val="FFFFFF"/>
            </a:solidFill>
          </p:spPr>
        </p:sp>
        <p:sp>
          <p:nvSpPr>
            <p:cNvPr id="9" name="TextBox 9"/>
            <p:cNvSpPr txBox="1"/>
            <p:nvPr/>
          </p:nvSpPr>
          <p:spPr>
            <a:xfrm>
              <a:off x="0" y="-85725"/>
              <a:ext cx="1396677" cy="1525124"/>
            </a:xfrm>
            <a:prstGeom prst="rect">
              <a:avLst/>
            </a:prstGeom>
          </p:spPr>
          <p:txBody>
            <a:bodyPr lIns="50800" tIns="50800" rIns="50800" bIns="50800" rtlCol="0" anchor="ctr"/>
            <a:lstStyle/>
            <a:p>
              <a:pPr algn="ctr">
                <a:lnSpc>
                  <a:spcPts val="3600"/>
                </a:lnSpc>
              </a:pPr>
              <a:endParaRPr/>
            </a:p>
          </p:txBody>
        </p:sp>
      </p:grpSp>
      <p:sp>
        <p:nvSpPr>
          <p:cNvPr id="10" name="Freeform 10"/>
          <p:cNvSpPr/>
          <p:nvPr/>
        </p:nvSpPr>
        <p:spPr>
          <a:xfrm>
            <a:off x="9351214" y="3050244"/>
            <a:ext cx="5075430" cy="1692267"/>
          </a:xfrm>
          <a:custGeom>
            <a:avLst/>
            <a:gdLst/>
            <a:ahLst/>
            <a:cxnLst/>
            <a:rect l="l" t="t" r="r" b="b"/>
            <a:pathLst>
              <a:path w="5075430" h="1692267">
                <a:moveTo>
                  <a:pt x="0" y="0"/>
                </a:moveTo>
                <a:lnTo>
                  <a:pt x="5075430" y="0"/>
                </a:lnTo>
                <a:lnTo>
                  <a:pt x="5075430" y="1692267"/>
                </a:lnTo>
                <a:lnTo>
                  <a:pt x="0" y="169226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92741" y="461378"/>
            <a:ext cx="14702519" cy="1303020"/>
          </a:xfrm>
          <a:prstGeom prst="rect">
            <a:avLst/>
          </a:prstGeom>
        </p:spPr>
        <p:txBody>
          <a:bodyPr lIns="0" tIns="0" rIns="0" bIns="0" rtlCol="0" anchor="t">
            <a:spAutoFit/>
          </a:bodyPr>
          <a:lstStyle/>
          <a:p>
            <a:pPr marL="0" lvl="0" indent="0" algn="ctr">
              <a:lnSpc>
                <a:spcPts val="10080"/>
              </a:lnSpc>
              <a:spcBef>
                <a:spcPct val="0"/>
              </a:spcBef>
            </a:pPr>
            <a:r>
              <a:rPr lang="en-US" sz="7200" b="1">
                <a:solidFill>
                  <a:srgbClr val="FFFFFF"/>
                </a:solidFill>
                <a:latin typeface="Blogger Bold"/>
                <a:ea typeface="Blogger Bold"/>
                <a:cs typeface="Blogger Bold"/>
                <a:sym typeface="Blogger Bold"/>
              </a:rPr>
              <a:t>Expectations with Manager</a:t>
            </a:r>
          </a:p>
        </p:txBody>
      </p:sp>
      <p:sp>
        <p:nvSpPr>
          <p:cNvPr id="12" name="TextBox 12"/>
          <p:cNvSpPr txBox="1"/>
          <p:nvPr/>
        </p:nvSpPr>
        <p:spPr>
          <a:xfrm>
            <a:off x="3693139" y="4341816"/>
            <a:ext cx="5075430" cy="254317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Help organize but call out if you feel like it is already outside your scope</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Point them to the right direction</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Teach them how to fish</a:t>
            </a:r>
          </a:p>
        </p:txBody>
      </p:sp>
      <p:sp>
        <p:nvSpPr>
          <p:cNvPr id="13" name="TextBox 13"/>
          <p:cNvSpPr txBox="1"/>
          <p:nvPr/>
        </p:nvSpPr>
        <p:spPr>
          <a:xfrm>
            <a:off x="3796821" y="3582052"/>
            <a:ext cx="4976924" cy="520700"/>
          </a:xfrm>
          <a:prstGeom prst="rect">
            <a:avLst/>
          </a:prstGeom>
        </p:spPr>
        <p:txBody>
          <a:bodyPr lIns="0" tIns="0" rIns="0" bIns="0" rtlCol="0" anchor="t">
            <a:spAutoFit/>
          </a:bodyPr>
          <a:lstStyle/>
          <a:p>
            <a:pPr marL="0" lvl="0" indent="0" algn="ctr">
              <a:lnSpc>
                <a:spcPts val="4419"/>
              </a:lnSpc>
            </a:pPr>
            <a:r>
              <a:rPr lang="en-US" sz="2599" b="1">
                <a:solidFill>
                  <a:srgbClr val="082649"/>
                </a:solidFill>
                <a:latin typeface="Quicksand Bold"/>
                <a:ea typeface="Quicksand Bold"/>
                <a:cs typeface="Quicksand Bold"/>
                <a:sym typeface="Quicksand Bold"/>
              </a:rPr>
              <a:t>STAY WITHIN YOUR SWIMLANE</a:t>
            </a:r>
          </a:p>
        </p:txBody>
      </p:sp>
      <p:sp>
        <p:nvSpPr>
          <p:cNvPr id="14" name="TextBox 14"/>
          <p:cNvSpPr txBox="1"/>
          <p:nvPr/>
        </p:nvSpPr>
        <p:spPr>
          <a:xfrm>
            <a:off x="9578791" y="6494466"/>
            <a:ext cx="4847853" cy="202882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You’re not the Subject Matter Expert but you can help gather the experts to resolve the issue</a:t>
            </a:r>
          </a:p>
        </p:txBody>
      </p:sp>
      <p:sp>
        <p:nvSpPr>
          <p:cNvPr id="15" name="TextBox 15"/>
          <p:cNvSpPr txBox="1"/>
          <p:nvPr/>
        </p:nvSpPr>
        <p:spPr>
          <a:xfrm>
            <a:off x="9578791" y="5384169"/>
            <a:ext cx="4847853" cy="542925"/>
          </a:xfrm>
          <a:prstGeom prst="rect">
            <a:avLst/>
          </a:prstGeom>
        </p:spPr>
        <p:txBody>
          <a:bodyPr lIns="0" tIns="0" rIns="0" bIns="0" rtlCol="0" anchor="t">
            <a:spAutoFit/>
          </a:bodyPr>
          <a:lstStyle/>
          <a:p>
            <a:pPr marL="0" lvl="0" indent="0" algn="ctr">
              <a:lnSpc>
                <a:spcPts val="4589"/>
              </a:lnSpc>
            </a:pPr>
            <a:r>
              <a:rPr lang="en-US" sz="2699" b="1">
                <a:solidFill>
                  <a:srgbClr val="082649"/>
                </a:solidFill>
                <a:latin typeface="Quicksand Bold"/>
                <a:ea typeface="Quicksand Bold"/>
                <a:cs typeface="Quicksand Bold"/>
                <a:sym typeface="Quicksand Bold"/>
              </a:rPr>
              <a:t>PROBLEM SOLVING MINDSET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a:off x="13320713" y="5319713"/>
            <a:ext cx="4967287" cy="4967287"/>
          </a:xfrm>
          <a:custGeom>
            <a:avLst/>
            <a:gdLst/>
            <a:ahLst/>
            <a:cxnLst/>
            <a:rect l="l" t="t" r="r" b="b"/>
            <a:pathLst>
              <a:path w="4967287" h="4967287">
                <a:moveTo>
                  <a:pt x="4967287" y="0"/>
                </a:moveTo>
                <a:lnTo>
                  <a:pt x="0" y="0"/>
                </a:lnTo>
                <a:lnTo>
                  <a:pt x="0" y="4967287"/>
                </a:lnTo>
                <a:lnTo>
                  <a:pt x="4967287" y="4967287"/>
                </a:lnTo>
                <a:lnTo>
                  <a:pt x="4967287"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39697" y="-169786"/>
            <a:ext cx="4702712" cy="4702712"/>
          </a:xfrm>
          <a:custGeom>
            <a:avLst/>
            <a:gdLst/>
            <a:ahLst/>
            <a:cxnLst/>
            <a:rect l="l" t="t" r="r" b="b"/>
            <a:pathLst>
              <a:path w="4702712" h="4702712">
                <a:moveTo>
                  <a:pt x="0" y="0"/>
                </a:moveTo>
                <a:lnTo>
                  <a:pt x="4702712" y="0"/>
                </a:lnTo>
                <a:lnTo>
                  <a:pt x="4702712" y="4702713"/>
                </a:lnTo>
                <a:lnTo>
                  <a:pt x="0" y="4702713"/>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9351214" y="5240115"/>
            <a:ext cx="5303006" cy="3275348"/>
            <a:chOff x="0" y="0"/>
            <a:chExt cx="1396677" cy="862643"/>
          </a:xfrm>
        </p:grpSpPr>
        <p:sp>
          <p:nvSpPr>
            <p:cNvPr id="5" name="Freeform 5"/>
            <p:cNvSpPr/>
            <p:nvPr/>
          </p:nvSpPr>
          <p:spPr>
            <a:xfrm>
              <a:off x="0" y="0"/>
              <a:ext cx="1396677" cy="862643"/>
            </a:xfrm>
            <a:custGeom>
              <a:avLst/>
              <a:gdLst/>
              <a:ahLst/>
              <a:cxnLst/>
              <a:rect l="l" t="t" r="r" b="b"/>
              <a:pathLst>
                <a:path w="1396677" h="862643">
                  <a:moveTo>
                    <a:pt x="74455" y="0"/>
                  </a:moveTo>
                  <a:lnTo>
                    <a:pt x="1322221" y="0"/>
                  </a:lnTo>
                  <a:cubicBezTo>
                    <a:pt x="1363342" y="0"/>
                    <a:pt x="1396677" y="33335"/>
                    <a:pt x="1396677" y="74455"/>
                  </a:cubicBezTo>
                  <a:lnTo>
                    <a:pt x="1396677" y="788188"/>
                  </a:lnTo>
                  <a:cubicBezTo>
                    <a:pt x="1396677" y="829308"/>
                    <a:pt x="1363342" y="862643"/>
                    <a:pt x="1322221" y="862643"/>
                  </a:cubicBezTo>
                  <a:lnTo>
                    <a:pt x="74455" y="862643"/>
                  </a:lnTo>
                  <a:cubicBezTo>
                    <a:pt x="33335" y="862643"/>
                    <a:pt x="0" y="829308"/>
                    <a:pt x="0" y="788188"/>
                  </a:cubicBezTo>
                  <a:lnTo>
                    <a:pt x="0" y="74455"/>
                  </a:lnTo>
                  <a:cubicBezTo>
                    <a:pt x="0" y="33335"/>
                    <a:pt x="33335" y="0"/>
                    <a:pt x="74455" y="0"/>
                  </a:cubicBezTo>
                  <a:close/>
                </a:path>
              </a:pathLst>
            </a:custGeom>
            <a:solidFill>
              <a:srgbClr val="FFFFFF"/>
            </a:solidFill>
          </p:spPr>
        </p:sp>
        <p:sp>
          <p:nvSpPr>
            <p:cNvPr id="6" name="TextBox 6"/>
            <p:cNvSpPr txBox="1"/>
            <p:nvPr/>
          </p:nvSpPr>
          <p:spPr>
            <a:xfrm>
              <a:off x="0" y="-85725"/>
              <a:ext cx="1396677" cy="948368"/>
            </a:xfrm>
            <a:prstGeom prst="rect">
              <a:avLst/>
            </a:prstGeom>
          </p:spPr>
          <p:txBody>
            <a:bodyPr lIns="50800" tIns="50800" rIns="50800" bIns="50800" rtlCol="0" anchor="ctr"/>
            <a:lstStyle/>
            <a:p>
              <a:pPr algn="ctr">
                <a:lnSpc>
                  <a:spcPts val="3600"/>
                </a:lnSpc>
              </a:pPr>
              <a:endParaRPr/>
            </a:p>
          </p:txBody>
        </p:sp>
      </p:grpSp>
      <p:grpSp>
        <p:nvGrpSpPr>
          <p:cNvPr id="7" name="Group 7"/>
          <p:cNvGrpSpPr/>
          <p:nvPr/>
        </p:nvGrpSpPr>
        <p:grpSpPr>
          <a:xfrm>
            <a:off x="3633779" y="2965884"/>
            <a:ext cx="5303006" cy="5465219"/>
            <a:chOff x="0" y="0"/>
            <a:chExt cx="1396677" cy="1439399"/>
          </a:xfrm>
        </p:grpSpPr>
        <p:sp>
          <p:nvSpPr>
            <p:cNvPr id="8" name="Freeform 8"/>
            <p:cNvSpPr/>
            <p:nvPr/>
          </p:nvSpPr>
          <p:spPr>
            <a:xfrm>
              <a:off x="0" y="0"/>
              <a:ext cx="1396677" cy="1439399"/>
            </a:xfrm>
            <a:custGeom>
              <a:avLst/>
              <a:gdLst/>
              <a:ahLst/>
              <a:cxnLst/>
              <a:rect l="l" t="t" r="r" b="b"/>
              <a:pathLst>
                <a:path w="1396677" h="1439399">
                  <a:moveTo>
                    <a:pt x="74455" y="0"/>
                  </a:moveTo>
                  <a:lnTo>
                    <a:pt x="1322221" y="0"/>
                  </a:lnTo>
                  <a:cubicBezTo>
                    <a:pt x="1363342" y="0"/>
                    <a:pt x="1396677" y="33335"/>
                    <a:pt x="1396677" y="74455"/>
                  </a:cubicBezTo>
                  <a:lnTo>
                    <a:pt x="1396677" y="1364944"/>
                  </a:lnTo>
                  <a:cubicBezTo>
                    <a:pt x="1396677" y="1406064"/>
                    <a:pt x="1363342" y="1439399"/>
                    <a:pt x="1322221" y="1439399"/>
                  </a:cubicBezTo>
                  <a:lnTo>
                    <a:pt x="74455" y="1439399"/>
                  </a:lnTo>
                  <a:cubicBezTo>
                    <a:pt x="33335" y="1439399"/>
                    <a:pt x="0" y="1406064"/>
                    <a:pt x="0" y="1364944"/>
                  </a:cubicBezTo>
                  <a:lnTo>
                    <a:pt x="0" y="74455"/>
                  </a:lnTo>
                  <a:cubicBezTo>
                    <a:pt x="0" y="33335"/>
                    <a:pt x="33335" y="0"/>
                    <a:pt x="74455" y="0"/>
                  </a:cubicBezTo>
                  <a:close/>
                </a:path>
              </a:pathLst>
            </a:custGeom>
            <a:solidFill>
              <a:srgbClr val="FFFFFF"/>
            </a:solidFill>
          </p:spPr>
        </p:sp>
        <p:sp>
          <p:nvSpPr>
            <p:cNvPr id="9" name="TextBox 9"/>
            <p:cNvSpPr txBox="1"/>
            <p:nvPr/>
          </p:nvSpPr>
          <p:spPr>
            <a:xfrm>
              <a:off x="0" y="-85725"/>
              <a:ext cx="1396677" cy="1525124"/>
            </a:xfrm>
            <a:prstGeom prst="rect">
              <a:avLst/>
            </a:prstGeom>
          </p:spPr>
          <p:txBody>
            <a:bodyPr lIns="50800" tIns="50800" rIns="50800" bIns="50800" rtlCol="0" anchor="ctr"/>
            <a:lstStyle/>
            <a:p>
              <a:pPr algn="ctr">
                <a:lnSpc>
                  <a:spcPts val="3600"/>
                </a:lnSpc>
              </a:pPr>
              <a:endParaRPr/>
            </a:p>
          </p:txBody>
        </p:sp>
      </p:grpSp>
      <p:sp>
        <p:nvSpPr>
          <p:cNvPr id="10" name="Freeform 10"/>
          <p:cNvSpPr/>
          <p:nvPr/>
        </p:nvSpPr>
        <p:spPr>
          <a:xfrm>
            <a:off x="9351214" y="3050244"/>
            <a:ext cx="5075430" cy="1692267"/>
          </a:xfrm>
          <a:custGeom>
            <a:avLst/>
            <a:gdLst/>
            <a:ahLst/>
            <a:cxnLst/>
            <a:rect l="l" t="t" r="r" b="b"/>
            <a:pathLst>
              <a:path w="5075430" h="1692267">
                <a:moveTo>
                  <a:pt x="0" y="0"/>
                </a:moveTo>
                <a:lnTo>
                  <a:pt x="5075430" y="0"/>
                </a:lnTo>
                <a:lnTo>
                  <a:pt x="5075430" y="1692267"/>
                </a:lnTo>
                <a:lnTo>
                  <a:pt x="0" y="169226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92741" y="461378"/>
            <a:ext cx="14702519" cy="1303020"/>
          </a:xfrm>
          <a:prstGeom prst="rect">
            <a:avLst/>
          </a:prstGeom>
        </p:spPr>
        <p:txBody>
          <a:bodyPr lIns="0" tIns="0" rIns="0" bIns="0" rtlCol="0" anchor="t">
            <a:spAutoFit/>
          </a:bodyPr>
          <a:lstStyle/>
          <a:p>
            <a:pPr marL="0" lvl="0" indent="0" algn="ctr">
              <a:lnSpc>
                <a:spcPts val="10080"/>
              </a:lnSpc>
              <a:spcBef>
                <a:spcPct val="0"/>
              </a:spcBef>
            </a:pPr>
            <a:r>
              <a:rPr lang="en-US" sz="7200" b="1">
                <a:solidFill>
                  <a:srgbClr val="FFFFFF"/>
                </a:solidFill>
                <a:latin typeface="Blogger Bold"/>
                <a:ea typeface="Blogger Bold"/>
                <a:cs typeface="Blogger Bold"/>
                <a:sym typeface="Blogger Bold"/>
              </a:rPr>
              <a:t>Expectations with Manager</a:t>
            </a:r>
          </a:p>
        </p:txBody>
      </p:sp>
      <p:sp>
        <p:nvSpPr>
          <p:cNvPr id="12" name="TextBox 12"/>
          <p:cNvSpPr txBox="1"/>
          <p:nvPr/>
        </p:nvSpPr>
        <p:spPr>
          <a:xfrm>
            <a:off x="3747568" y="3669669"/>
            <a:ext cx="5075430" cy="202882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Ask to shadow EMs/ECs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Share best practices and lessons learned</a:t>
            </a:r>
          </a:p>
          <a:p>
            <a:pPr algn="l">
              <a:lnSpc>
                <a:spcPts val="4079"/>
              </a:lnSpc>
            </a:pPr>
            <a:endParaRPr lang="en-US" sz="2400">
              <a:solidFill>
                <a:srgbClr val="082649"/>
              </a:solidFill>
              <a:latin typeface="Quicksand"/>
              <a:ea typeface="Quicksand"/>
              <a:cs typeface="Quicksand"/>
              <a:sym typeface="Quicksand"/>
            </a:endParaRPr>
          </a:p>
        </p:txBody>
      </p:sp>
      <p:sp>
        <p:nvSpPr>
          <p:cNvPr id="13" name="TextBox 13"/>
          <p:cNvSpPr txBox="1"/>
          <p:nvPr/>
        </p:nvSpPr>
        <p:spPr>
          <a:xfrm>
            <a:off x="3796821" y="3042302"/>
            <a:ext cx="4976924" cy="577851"/>
          </a:xfrm>
          <a:prstGeom prst="rect">
            <a:avLst/>
          </a:prstGeom>
        </p:spPr>
        <p:txBody>
          <a:bodyPr lIns="0" tIns="0" rIns="0" bIns="0" rtlCol="0" anchor="t">
            <a:spAutoFit/>
          </a:bodyPr>
          <a:lstStyle/>
          <a:p>
            <a:pPr marL="0" lvl="0" indent="0" algn="ctr">
              <a:lnSpc>
                <a:spcPts val="4929"/>
              </a:lnSpc>
            </a:pPr>
            <a:r>
              <a:rPr lang="en-US" sz="2899" b="1">
                <a:solidFill>
                  <a:srgbClr val="082649"/>
                </a:solidFill>
                <a:latin typeface="Quicksand Bold"/>
                <a:ea typeface="Quicksand Bold"/>
                <a:cs typeface="Quicksand Bold"/>
                <a:sym typeface="Quicksand Bold"/>
              </a:rPr>
              <a:t>BE PROACTIVE</a:t>
            </a:r>
          </a:p>
        </p:txBody>
      </p:sp>
      <p:sp>
        <p:nvSpPr>
          <p:cNvPr id="14" name="TextBox 14"/>
          <p:cNvSpPr txBox="1"/>
          <p:nvPr/>
        </p:nvSpPr>
        <p:spPr>
          <a:xfrm>
            <a:off x="9578791" y="6261784"/>
            <a:ext cx="4847853" cy="151447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Attend trainings even those not specific for EMs/ECs (Winzday, SC Milestones etc)</a:t>
            </a:r>
          </a:p>
        </p:txBody>
      </p:sp>
      <p:sp>
        <p:nvSpPr>
          <p:cNvPr id="15" name="TextBox 15"/>
          <p:cNvSpPr txBox="1"/>
          <p:nvPr/>
        </p:nvSpPr>
        <p:spPr>
          <a:xfrm>
            <a:off x="9578791" y="5455302"/>
            <a:ext cx="4847853" cy="622301"/>
          </a:xfrm>
          <a:prstGeom prst="rect">
            <a:avLst/>
          </a:prstGeom>
        </p:spPr>
        <p:txBody>
          <a:bodyPr lIns="0" tIns="0" rIns="0" bIns="0" rtlCol="0" anchor="t">
            <a:spAutoFit/>
          </a:bodyPr>
          <a:lstStyle/>
          <a:p>
            <a:pPr marL="0" lvl="0" indent="0" algn="ctr">
              <a:lnSpc>
                <a:spcPts val="5269"/>
              </a:lnSpc>
            </a:pPr>
            <a:r>
              <a:rPr lang="en-US" sz="3099" b="1">
                <a:solidFill>
                  <a:srgbClr val="082649"/>
                </a:solidFill>
                <a:latin typeface="Quicksand Bold"/>
                <a:ea typeface="Quicksand Bold"/>
                <a:cs typeface="Quicksand Bold"/>
                <a:sym typeface="Quicksand Bold"/>
              </a:rPr>
              <a:t>TRAINING</a:t>
            </a:r>
          </a:p>
        </p:txBody>
      </p:sp>
      <p:sp>
        <p:nvSpPr>
          <p:cNvPr id="16" name="TextBox 16"/>
          <p:cNvSpPr txBox="1"/>
          <p:nvPr/>
        </p:nvSpPr>
        <p:spPr>
          <a:xfrm>
            <a:off x="3747568" y="5361944"/>
            <a:ext cx="4976924" cy="590551"/>
          </a:xfrm>
          <a:prstGeom prst="rect">
            <a:avLst/>
          </a:prstGeom>
        </p:spPr>
        <p:txBody>
          <a:bodyPr lIns="0" tIns="0" rIns="0" bIns="0" rtlCol="0" anchor="t">
            <a:spAutoFit/>
          </a:bodyPr>
          <a:lstStyle/>
          <a:p>
            <a:pPr marL="0" lvl="0" indent="0" algn="ctr">
              <a:lnSpc>
                <a:spcPts val="5099"/>
              </a:lnSpc>
            </a:pPr>
            <a:r>
              <a:rPr lang="en-US" sz="2999" b="1">
                <a:solidFill>
                  <a:srgbClr val="082649"/>
                </a:solidFill>
                <a:latin typeface="Quicksand Bold"/>
                <a:ea typeface="Quicksand Bold"/>
                <a:cs typeface="Quicksand Bold"/>
                <a:sym typeface="Quicksand Bold"/>
              </a:rPr>
              <a:t>INNOVATE</a:t>
            </a:r>
          </a:p>
        </p:txBody>
      </p:sp>
      <p:sp>
        <p:nvSpPr>
          <p:cNvPr id="17" name="TextBox 17"/>
          <p:cNvSpPr txBox="1"/>
          <p:nvPr/>
        </p:nvSpPr>
        <p:spPr>
          <a:xfrm>
            <a:off x="3747568" y="6004609"/>
            <a:ext cx="5075430" cy="202882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Suggestions to improve processes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Utilize Lumina, Co-Pilot and other AI Tools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a:off x="13320713" y="5319713"/>
            <a:ext cx="4967287" cy="4967287"/>
          </a:xfrm>
          <a:custGeom>
            <a:avLst/>
            <a:gdLst/>
            <a:ahLst/>
            <a:cxnLst/>
            <a:rect l="l" t="t" r="r" b="b"/>
            <a:pathLst>
              <a:path w="4967287" h="4967287">
                <a:moveTo>
                  <a:pt x="4967287" y="0"/>
                </a:moveTo>
                <a:lnTo>
                  <a:pt x="0" y="0"/>
                </a:lnTo>
                <a:lnTo>
                  <a:pt x="0" y="4967287"/>
                </a:lnTo>
                <a:lnTo>
                  <a:pt x="4967287" y="4967287"/>
                </a:lnTo>
                <a:lnTo>
                  <a:pt x="4967287"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39697" y="-169786"/>
            <a:ext cx="4702712" cy="4702712"/>
          </a:xfrm>
          <a:custGeom>
            <a:avLst/>
            <a:gdLst/>
            <a:ahLst/>
            <a:cxnLst/>
            <a:rect l="l" t="t" r="r" b="b"/>
            <a:pathLst>
              <a:path w="4702712" h="4702712">
                <a:moveTo>
                  <a:pt x="0" y="0"/>
                </a:moveTo>
                <a:lnTo>
                  <a:pt x="4702712" y="0"/>
                </a:lnTo>
                <a:lnTo>
                  <a:pt x="4702712" y="4702713"/>
                </a:lnTo>
                <a:lnTo>
                  <a:pt x="0" y="4702713"/>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9351214" y="5240115"/>
            <a:ext cx="5303006" cy="3275348"/>
            <a:chOff x="0" y="0"/>
            <a:chExt cx="1396677" cy="862643"/>
          </a:xfrm>
        </p:grpSpPr>
        <p:sp>
          <p:nvSpPr>
            <p:cNvPr id="5" name="Freeform 5"/>
            <p:cNvSpPr/>
            <p:nvPr/>
          </p:nvSpPr>
          <p:spPr>
            <a:xfrm>
              <a:off x="0" y="0"/>
              <a:ext cx="1396677" cy="862643"/>
            </a:xfrm>
            <a:custGeom>
              <a:avLst/>
              <a:gdLst/>
              <a:ahLst/>
              <a:cxnLst/>
              <a:rect l="l" t="t" r="r" b="b"/>
              <a:pathLst>
                <a:path w="1396677" h="862643">
                  <a:moveTo>
                    <a:pt x="74455" y="0"/>
                  </a:moveTo>
                  <a:lnTo>
                    <a:pt x="1322221" y="0"/>
                  </a:lnTo>
                  <a:cubicBezTo>
                    <a:pt x="1363342" y="0"/>
                    <a:pt x="1396677" y="33335"/>
                    <a:pt x="1396677" y="74455"/>
                  </a:cubicBezTo>
                  <a:lnTo>
                    <a:pt x="1396677" y="788188"/>
                  </a:lnTo>
                  <a:cubicBezTo>
                    <a:pt x="1396677" y="829308"/>
                    <a:pt x="1363342" y="862643"/>
                    <a:pt x="1322221" y="862643"/>
                  </a:cubicBezTo>
                  <a:lnTo>
                    <a:pt x="74455" y="862643"/>
                  </a:lnTo>
                  <a:cubicBezTo>
                    <a:pt x="33335" y="862643"/>
                    <a:pt x="0" y="829308"/>
                    <a:pt x="0" y="788188"/>
                  </a:cubicBezTo>
                  <a:lnTo>
                    <a:pt x="0" y="74455"/>
                  </a:lnTo>
                  <a:cubicBezTo>
                    <a:pt x="0" y="33335"/>
                    <a:pt x="33335" y="0"/>
                    <a:pt x="74455" y="0"/>
                  </a:cubicBezTo>
                  <a:close/>
                </a:path>
              </a:pathLst>
            </a:custGeom>
            <a:solidFill>
              <a:srgbClr val="FFFFFF"/>
            </a:solidFill>
          </p:spPr>
        </p:sp>
        <p:sp>
          <p:nvSpPr>
            <p:cNvPr id="6" name="TextBox 6"/>
            <p:cNvSpPr txBox="1"/>
            <p:nvPr/>
          </p:nvSpPr>
          <p:spPr>
            <a:xfrm>
              <a:off x="0" y="-85725"/>
              <a:ext cx="1396677" cy="948368"/>
            </a:xfrm>
            <a:prstGeom prst="rect">
              <a:avLst/>
            </a:prstGeom>
          </p:spPr>
          <p:txBody>
            <a:bodyPr lIns="50800" tIns="50800" rIns="50800" bIns="50800" rtlCol="0" anchor="ctr"/>
            <a:lstStyle/>
            <a:p>
              <a:pPr algn="ctr">
                <a:lnSpc>
                  <a:spcPts val="3600"/>
                </a:lnSpc>
              </a:pPr>
              <a:endParaRPr/>
            </a:p>
          </p:txBody>
        </p:sp>
      </p:grpSp>
      <p:grpSp>
        <p:nvGrpSpPr>
          <p:cNvPr id="7" name="Group 7"/>
          <p:cNvGrpSpPr/>
          <p:nvPr/>
        </p:nvGrpSpPr>
        <p:grpSpPr>
          <a:xfrm>
            <a:off x="3633779" y="2965884"/>
            <a:ext cx="5303006" cy="5465219"/>
            <a:chOff x="0" y="0"/>
            <a:chExt cx="1396677" cy="1439399"/>
          </a:xfrm>
        </p:grpSpPr>
        <p:sp>
          <p:nvSpPr>
            <p:cNvPr id="8" name="Freeform 8"/>
            <p:cNvSpPr/>
            <p:nvPr/>
          </p:nvSpPr>
          <p:spPr>
            <a:xfrm>
              <a:off x="0" y="0"/>
              <a:ext cx="1396677" cy="1439399"/>
            </a:xfrm>
            <a:custGeom>
              <a:avLst/>
              <a:gdLst/>
              <a:ahLst/>
              <a:cxnLst/>
              <a:rect l="l" t="t" r="r" b="b"/>
              <a:pathLst>
                <a:path w="1396677" h="1439399">
                  <a:moveTo>
                    <a:pt x="74455" y="0"/>
                  </a:moveTo>
                  <a:lnTo>
                    <a:pt x="1322221" y="0"/>
                  </a:lnTo>
                  <a:cubicBezTo>
                    <a:pt x="1363342" y="0"/>
                    <a:pt x="1396677" y="33335"/>
                    <a:pt x="1396677" y="74455"/>
                  </a:cubicBezTo>
                  <a:lnTo>
                    <a:pt x="1396677" y="1364944"/>
                  </a:lnTo>
                  <a:cubicBezTo>
                    <a:pt x="1396677" y="1406064"/>
                    <a:pt x="1363342" y="1439399"/>
                    <a:pt x="1322221" y="1439399"/>
                  </a:cubicBezTo>
                  <a:lnTo>
                    <a:pt x="74455" y="1439399"/>
                  </a:lnTo>
                  <a:cubicBezTo>
                    <a:pt x="33335" y="1439399"/>
                    <a:pt x="0" y="1406064"/>
                    <a:pt x="0" y="1364944"/>
                  </a:cubicBezTo>
                  <a:lnTo>
                    <a:pt x="0" y="74455"/>
                  </a:lnTo>
                  <a:cubicBezTo>
                    <a:pt x="0" y="33335"/>
                    <a:pt x="33335" y="0"/>
                    <a:pt x="74455" y="0"/>
                  </a:cubicBezTo>
                  <a:close/>
                </a:path>
              </a:pathLst>
            </a:custGeom>
            <a:solidFill>
              <a:srgbClr val="FFFFFF"/>
            </a:solidFill>
          </p:spPr>
        </p:sp>
        <p:sp>
          <p:nvSpPr>
            <p:cNvPr id="9" name="TextBox 9"/>
            <p:cNvSpPr txBox="1"/>
            <p:nvPr/>
          </p:nvSpPr>
          <p:spPr>
            <a:xfrm>
              <a:off x="0" y="-85725"/>
              <a:ext cx="1396677" cy="1525124"/>
            </a:xfrm>
            <a:prstGeom prst="rect">
              <a:avLst/>
            </a:prstGeom>
          </p:spPr>
          <p:txBody>
            <a:bodyPr lIns="50800" tIns="50800" rIns="50800" bIns="50800" rtlCol="0" anchor="ctr"/>
            <a:lstStyle/>
            <a:p>
              <a:pPr algn="ctr">
                <a:lnSpc>
                  <a:spcPts val="3600"/>
                </a:lnSpc>
              </a:pPr>
              <a:endParaRPr/>
            </a:p>
          </p:txBody>
        </p:sp>
      </p:grpSp>
      <p:sp>
        <p:nvSpPr>
          <p:cNvPr id="10" name="Freeform 10"/>
          <p:cNvSpPr/>
          <p:nvPr/>
        </p:nvSpPr>
        <p:spPr>
          <a:xfrm>
            <a:off x="9351214" y="3050244"/>
            <a:ext cx="5075430" cy="1692267"/>
          </a:xfrm>
          <a:custGeom>
            <a:avLst/>
            <a:gdLst/>
            <a:ahLst/>
            <a:cxnLst/>
            <a:rect l="l" t="t" r="r" b="b"/>
            <a:pathLst>
              <a:path w="5075430" h="1692267">
                <a:moveTo>
                  <a:pt x="0" y="0"/>
                </a:moveTo>
                <a:lnTo>
                  <a:pt x="5075430" y="0"/>
                </a:lnTo>
                <a:lnTo>
                  <a:pt x="5075430" y="1692267"/>
                </a:lnTo>
                <a:lnTo>
                  <a:pt x="0" y="169226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92741" y="461378"/>
            <a:ext cx="14702519" cy="1303020"/>
          </a:xfrm>
          <a:prstGeom prst="rect">
            <a:avLst/>
          </a:prstGeom>
        </p:spPr>
        <p:txBody>
          <a:bodyPr lIns="0" tIns="0" rIns="0" bIns="0" rtlCol="0" anchor="t">
            <a:spAutoFit/>
          </a:bodyPr>
          <a:lstStyle/>
          <a:p>
            <a:pPr marL="0" lvl="0" indent="0" algn="ctr">
              <a:lnSpc>
                <a:spcPts val="10080"/>
              </a:lnSpc>
              <a:spcBef>
                <a:spcPct val="0"/>
              </a:spcBef>
            </a:pPr>
            <a:r>
              <a:rPr lang="en-US" sz="7200" b="1">
                <a:solidFill>
                  <a:srgbClr val="FFFFFF"/>
                </a:solidFill>
                <a:latin typeface="Blogger Bold"/>
                <a:ea typeface="Blogger Bold"/>
                <a:cs typeface="Blogger Bold"/>
                <a:sym typeface="Blogger Bold"/>
              </a:rPr>
              <a:t>Expectations with Manager</a:t>
            </a:r>
          </a:p>
        </p:txBody>
      </p:sp>
      <p:sp>
        <p:nvSpPr>
          <p:cNvPr id="12" name="TextBox 12"/>
          <p:cNvSpPr txBox="1"/>
          <p:nvPr/>
        </p:nvSpPr>
        <p:spPr>
          <a:xfrm>
            <a:off x="3747568" y="5240850"/>
            <a:ext cx="5075430" cy="202882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Find your style but follow our set guidelines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Set proper expectations with clients (timelines)</a:t>
            </a:r>
          </a:p>
        </p:txBody>
      </p:sp>
      <p:sp>
        <p:nvSpPr>
          <p:cNvPr id="13" name="TextBox 13"/>
          <p:cNvSpPr txBox="1"/>
          <p:nvPr/>
        </p:nvSpPr>
        <p:spPr>
          <a:xfrm>
            <a:off x="3796821" y="3335951"/>
            <a:ext cx="4976924" cy="1196976"/>
          </a:xfrm>
          <a:prstGeom prst="rect">
            <a:avLst/>
          </a:prstGeom>
        </p:spPr>
        <p:txBody>
          <a:bodyPr lIns="0" tIns="0" rIns="0" bIns="0" rtlCol="0" anchor="t">
            <a:spAutoFit/>
          </a:bodyPr>
          <a:lstStyle/>
          <a:p>
            <a:pPr marL="0" lvl="0" indent="0" algn="ctr">
              <a:lnSpc>
                <a:spcPts val="4929"/>
              </a:lnSpc>
            </a:pPr>
            <a:r>
              <a:rPr lang="en-US" sz="2899" b="1">
                <a:solidFill>
                  <a:srgbClr val="082649"/>
                </a:solidFill>
                <a:latin typeface="Quicksand Bold"/>
                <a:ea typeface="Quicksand Bold"/>
                <a:cs typeface="Quicksand Bold"/>
                <a:sym typeface="Quicksand Bold"/>
              </a:rPr>
              <a:t>BE CREATIVE BUT FOLLOW STRUCTURE AND TIMELINES</a:t>
            </a:r>
          </a:p>
        </p:txBody>
      </p:sp>
      <p:sp>
        <p:nvSpPr>
          <p:cNvPr id="14" name="TextBox 14"/>
          <p:cNvSpPr txBox="1"/>
          <p:nvPr/>
        </p:nvSpPr>
        <p:spPr>
          <a:xfrm>
            <a:off x="9578791" y="6068178"/>
            <a:ext cx="4847853" cy="2028825"/>
          </a:xfrm>
          <a:prstGeom prst="rect">
            <a:avLst/>
          </a:prstGeom>
        </p:spPr>
        <p:txBody>
          <a:bodyPr lIns="0" tIns="0" rIns="0" bIns="0" rtlCol="0" anchor="t">
            <a:spAutoFit/>
          </a:bodyPr>
          <a:lstStyle/>
          <a:p>
            <a:pPr marL="518160" lvl="1" indent="-259080" algn="l">
              <a:lnSpc>
                <a:spcPts val="4079"/>
              </a:lnSpc>
              <a:buFont typeface="Arial"/>
              <a:buChar char="•"/>
            </a:pPr>
            <a:r>
              <a:rPr lang="en-US" sz="2400">
                <a:solidFill>
                  <a:srgbClr val="082649"/>
                </a:solidFill>
                <a:latin typeface="Quicksand"/>
                <a:ea typeface="Quicksand"/>
                <a:cs typeface="Quicksand"/>
                <a:sym typeface="Quicksand"/>
              </a:rPr>
              <a:t>You are bound to make mistakes</a:t>
            </a:r>
          </a:p>
          <a:p>
            <a:pPr marL="518160" lvl="1" indent="-259080" algn="l">
              <a:lnSpc>
                <a:spcPts val="4079"/>
              </a:lnSpc>
              <a:buFont typeface="Arial"/>
              <a:buChar char="•"/>
            </a:pPr>
            <a:r>
              <a:rPr lang="en-US" sz="2400">
                <a:solidFill>
                  <a:srgbClr val="082649"/>
                </a:solidFill>
                <a:latin typeface="Quicksand"/>
                <a:ea typeface="Quicksand"/>
                <a:cs typeface="Quicksand"/>
                <a:sym typeface="Quicksand"/>
              </a:rPr>
              <a:t>Own up, focus on what you’ve learned and next steps</a:t>
            </a:r>
          </a:p>
        </p:txBody>
      </p:sp>
      <p:sp>
        <p:nvSpPr>
          <p:cNvPr id="15" name="TextBox 15"/>
          <p:cNvSpPr txBox="1"/>
          <p:nvPr/>
        </p:nvSpPr>
        <p:spPr>
          <a:xfrm>
            <a:off x="9578791" y="5311143"/>
            <a:ext cx="4847853" cy="622301"/>
          </a:xfrm>
          <a:prstGeom prst="rect">
            <a:avLst/>
          </a:prstGeom>
        </p:spPr>
        <p:txBody>
          <a:bodyPr lIns="0" tIns="0" rIns="0" bIns="0" rtlCol="0" anchor="t">
            <a:spAutoFit/>
          </a:bodyPr>
          <a:lstStyle/>
          <a:p>
            <a:pPr marL="0" lvl="0" indent="0" algn="ctr">
              <a:lnSpc>
                <a:spcPts val="5269"/>
              </a:lnSpc>
            </a:pPr>
            <a:r>
              <a:rPr lang="en-US" sz="3099" b="1">
                <a:solidFill>
                  <a:srgbClr val="082649"/>
                </a:solidFill>
                <a:latin typeface="Quicksand Bold"/>
                <a:ea typeface="Quicksand Bold"/>
                <a:cs typeface="Quicksand Bold"/>
                <a:sym typeface="Quicksand Bold"/>
              </a:rPr>
              <a:t>ACCOUNTABILITY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flipV="1">
            <a:off x="13195935" y="5194935"/>
            <a:ext cx="5092065" cy="5092065"/>
          </a:xfrm>
          <a:custGeom>
            <a:avLst/>
            <a:gdLst/>
            <a:ahLst/>
            <a:cxnLst/>
            <a:rect l="l" t="t" r="r" b="b"/>
            <a:pathLst>
              <a:path w="5092065" h="5092065">
                <a:moveTo>
                  <a:pt x="5092065" y="5092065"/>
                </a:moveTo>
                <a:lnTo>
                  <a:pt x="0" y="5092065"/>
                </a:lnTo>
                <a:lnTo>
                  <a:pt x="0" y="0"/>
                </a:lnTo>
                <a:lnTo>
                  <a:pt x="5092065" y="0"/>
                </a:lnTo>
                <a:lnTo>
                  <a:pt x="5092065" y="5092065"/>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851813">
            <a:off x="14914318" y="-1886969"/>
            <a:ext cx="4855221" cy="4114800"/>
          </a:xfrm>
          <a:custGeom>
            <a:avLst/>
            <a:gdLst/>
            <a:ahLst/>
            <a:cxnLst/>
            <a:rect l="l" t="t" r="r" b="b"/>
            <a:pathLst>
              <a:path w="4855221" h="4114800">
                <a:moveTo>
                  <a:pt x="0" y="0"/>
                </a:moveTo>
                <a:lnTo>
                  <a:pt x="4855221" y="0"/>
                </a:lnTo>
                <a:lnTo>
                  <a:pt x="485522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5433923" y="1641884"/>
            <a:ext cx="1247048" cy="1389426"/>
            <a:chOff x="0" y="0"/>
            <a:chExt cx="812800" cy="905599"/>
          </a:xfrm>
        </p:grpSpPr>
        <p:sp>
          <p:nvSpPr>
            <p:cNvPr id="5" name="Freeform 5"/>
            <p:cNvSpPr/>
            <p:nvPr/>
          </p:nvSpPr>
          <p:spPr>
            <a:xfrm>
              <a:off x="0" y="0"/>
              <a:ext cx="812800" cy="905599"/>
            </a:xfrm>
            <a:custGeom>
              <a:avLst/>
              <a:gdLst/>
              <a:ahLst/>
              <a:cxnLst/>
              <a:rect l="l" t="t" r="r" b="b"/>
              <a:pathLst>
                <a:path w="812800" h="905599">
                  <a:moveTo>
                    <a:pt x="406400" y="0"/>
                  </a:moveTo>
                  <a:cubicBezTo>
                    <a:pt x="181951" y="0"/>
                    <a:pt x="0" y="202725"/>
                    <a:pt x="0" y="452800"/>
                  </a:cubicBezTo>
                  <a:cubicBezTo>
                    <a:pt x="0" y="702874"/>
                    <a:pt x="181951" y="905599"/>
                    <a:pt x="406400" y="905599"/>
                  </a:cubicBezTo>
                  <a:cubicBezTo>
                    <a:pt x="630849" y="905599"/>
                    <a:pt x="812800" y="702874"/>
                    <a:pt x="812800" y="452800"/>
                  </a:cubicBezTo>
                  <a:cubicBezTo>
                    <a:pt x="812800" y="202725"/>
                    <a:pt x="630849" y="0"/>
                    <a:pt x="406400" y="0"/>
                  </a:cubicBezTo>
                  <a:close/>
                </a:path>
              </a:pathLst>
            </a:custGeom>
            <a:solidFill>
              <a:srgbClr val="FD9C37"/>
            </a:solidFill>
          </p:spPr>
        </p:sp>
        <p:sp>
          <p:nvSpPr>
            <p:cNvPr id="6" name="TextBox 6"/>
            <p:cNvSpPr txBox="1"/>
            <p:nvPr/>
          </p:nvSpPr>
          <p:spPr>
            <a:xfrm>
              <a:off x="76200" y="27750"/>
              <a:ext cx="660400" cy="792949"/>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10614427" y="9258300"/>
            <a:ext cx="3869446" cy="2406092"/>
          </a:xfrm>
          <a:custGeom>
            <a:avLst/>
            <a:gdLst/>
            <a:ahLst/>
            <a:cxnLst/>
            <a:rect l="l" t="t" r="r" b="b"/>
            <a:pathLst>
              <a:path w="3869446" h="2406092">
                <a:moveTo>
                  <a:pt x="0" y="0"/>
                </a:moveTo>
                <a:lnTo>
                  <a:pt x="3869446" y="0"/>
                </a:lnTo>
                <a:lnTo>
                  <a:pt x="3869446" y="2406092"/>
                </a:lnTo>
                <a:lnTo>
                  <a:pt x="0" y="240609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8" name="Group 8"/>
          <p:cNvGrpSpPr>
            <a:grpSpLocks noChangeAspect="1"/>
          </p:cNvGrpSpPr>
          <p:nvPr/>
        </p:nvGrpSpPr>
        <p:grpSpPr>
          <a:xfrm>
            <a:off x="492763" y="1143884"/>
            <a:ext cx="5772079" cy="7999231"/>
            <a:chOff x="0" y="0"/>
            <a:chExt cx="3230879" cy="4477511"/>
          </a:xfrm>
        </p:grpSpPr>
        <p:sp>
          <p:nvSpPr>
            <p:cNvPr id="9" name="Freeform 9"/>
            <p:cNvSpPr/>
            <p:nvPr/>
          </p:nvSpPr>
          <p:spPr>
            <a:xfrm>
              <a:off x="0" y="0"/>
              <a:ext cx="3230879" cy="4477511"/>
            </a:xfrm>
            <a:custGeom>
              <a:avLst/>
              <a:gdLst/>
              <a:ahLst/>
              <a:cxnLst/>
              <a:rect l="l" t="t" r="r" b="b"/>
              <a:pathLst>
                <a:path w="3230879" h="4477511">
                  <a:moveTo>
                    <a:pt x="3230879" y="4477511"/>
                  </a:moveTo>
                  <a:lnTo>
                    <a:pt x="0" y="4477511"/>
                  </a:lnTo>
                  <a:lnTo>
                    <a:pt x="0" y="0"/>
                  </a:lnTo>
                  <a:lnTo>
                    <a:pt x="3230879" y="0"/>
                  </a:lnTo>
                  <a:lnTo>
                    <a:pt x="3230879" y="4477511"/>
                  </a:lnTo>
                  <a:close/>
                </a:path>
              </a:pathLst>
            </a:custGeom>
            <a:blipFill>
              <a:blip r:embed="rId5"/>
              <a:stretch>
                <a:fillRect t="-22" b="-22"/>
              </a:stretch>
            </a:blipFill>
          </p:spPr>
        </p:sp>
        <p:sp>
          <p:nvSpPr>
            <p:cNvPr id="10" name="Freeform 10"/>
            <p:cNvSpPr/>
            <p:nvPr/>
          </p:nvSpPr>
          <p:spPr>
            <a:xfrm>
              <a:off x="86649" y="56128"/>
              <a:ext cx="3064345" cy="4311955"/>
            </a:xfrm>
            <a:custGeom>
              <a:avLst/>
              <a:gdLst/>
              <a:ahLst/>
              <a:cxnLst/>
              <a:rect l="l" t="t" r="r" b="b"/>
              <a:pathLst>
                <a:path w="3064345" h="4311955">
                  <a:moveTo>
                    <a:pt x="2179722" y="3144562"/>
                  </a:moveTo>
                  <a:cubicBezTo>
                    <a:pt x="2161971" y="3060867"/>
                    <a:pt x="2153945" y="2976989"/>
                    <a:pt x="2169860" y="2892218"/>
                  </a:cubicBezTo>
                  <a:cubicBezTo>
                    <a:pt x="2219539" y="2627600"/>
                    <a:pt x="2514392" y="2460597"/>
                    <a:pt x="2686456" y="2282682"/>
                  </a:cubicBezTo>
                  <a:cubicBezTo>
                    <a:pt x="2988245" y="1970636"/>
                    <a:pt x="3124481" y="1506857"/>
                    <a:pt x="3039406" y="1081166"/>
                  </a:cubicBezTo>
                  <a:cubicBezTo>
                    <a:pt x="2954332" y="655473"/>
                    <a:pt x="2650308" y="279683"/>
                    <a:pt x="2251766" y="107599"/>
                  </a:cubicBezTo>
                  <a:cubicBezTo>
                    <a:pt x="1853224" y="-64483"/>
                    <a:pt x="1371227" y="-28084"/>
                    <a:pt x="1003049" y="201902"/>
                  </a:cubicBezTo>
                  <a:cubicBezTo>
                    <a:pt x="672053" y="408663"/>
                    <a:pt x="444620" y="752118"/>
                    <a:pt x="306720" y="1117212"/>
                  </a:cubicBezTo>
                  <a:cubicBezTo>
                    <a:pt x="168819" y="1482307"/>
                    <a:pt x="111896" y="1872098"/>
                    <a:pt x="55873" y="2258326"/>
                  </a:cubicBezTo>
                  <a:cubicBezTo>
                    <a:pt x="-1154" y="2651465"/>
                    <a:pt x="-54762" y="3070604"/>
                    <a:pt x="111894" y="3431207"/>
                  </a:cubicBezTo>
                  <a:cubicBezTo>
                    <a:pt x="306483" y="3852251"/>
                    <a:pt x="757050" y="4092726"/>
                    <a:pt x="1199356" y="4232388"/>
                  </a:cubicBezTo>
                  <a:cubicBezTo>
                    <a:pt x="1418317" y="4301527"/>
                    <a:pt x="1660109" y="4352511"/>
                    <a:pt x="1873370" y="4267398"/>
                  </a:cubicBezTo>
                  <a:cubicBezTo>
                    <a:pt x="2074533" y="4187112"/>
                    <a:pt x="2216098" y="3993277"/>
                    <a:pt x="2271963" y="3783999"/>
                  </a:cubicBezTo>
                  <a:cubicBezTo>
                    <a:pt x="2330558" y="3564473"/>
                    <a:pt x="2224375" y="3355097"/>
                    <a:pt x="2179722" y="3144562"/>
                  </a:cubicBezTo>
                  <a:close/>
                </a:path>
              </a:pathLst>
            </a:custGeom>
            <a:blipFill>
              <a:blip r:embed="rId6"/>
              <a:stretch>
                <a:fillRect l="-55799" r="-55799"/>
              </a:stretch>
            </a:blipFill>
          </p:spPr>
        </p:sp>
      </p:grpSp>
      <p:sp>
        <p:nvSpPr>
          <p:cNvPr id="11" name="TextBox 11"/>
          <p:cNvSpPr txBox="1"/>
          <p:nvPr/>
        </p:nvSpPr>
        <p:spPr>
          <a:xfrm>
            <a:off x="6918573" y="3338835"/>
            <a:ext cx="8115855" cy="5289551"/>
          </a:xfrm>
          <a:prstGeom prst="rect">
            <a:avLst/>
          </a:prstGeom>
        </p:spPr>
        <p:txBody>
          <a:bodyPr lIns="0" tIns="0" rIns="0" bIns="0" rtlCol="0" anchor="t">
            <a:spAutoFit/>
          </a:bodyPr>
          <a:lstStyle/>
          <a:p>
            <a:pPr marL="669286" lvl="1" indent="-334643" algn="l">
              <a:lnSpc>
                <a:spcPts val="5269"/>
              </a:lnSpc>
              <a:buFont typeface="Arial"/>
              <a:buChar char="•"/>
            </a:pPr>
            <a:r>
              <a:rPr lang="en-US" sz="3099">
                <a:solidFill>
                  <a:srgbClr val="FFFFFF"/>
                </a:solidFill>
                <a:latin typeface="Quicksand"/>
                <a:ea typeface="Quicksand"/>
                <a:cs typeface="Quicksand"/>
                <a:sym typeface="Quicksand"/>
              </a:rPr>
              <a:t>9PM - 6AM / 10PM - 7AM​ (DST)</a:t>
            </a:r>
          </a:p>
          <a:p>
            <a:pPr algn="l">
              <a:lnSpc>
                <a:spcPts val="5269"/>
              </a:lnSpc>
            </a:pPr>
            <a:r>
              <a:rPr lang="en-US" sz="3099">
                <a:solidFill>
                  <a:srgbClr val="FFFFFF"/>
                </a:solidFill>
                <a:latin typeface="Quicksand"/>
                <a:ea typeface="Quicksand"/>
                <a:cs typeface="Quicksand"/>
                <a:sym typeface="Quicksand"/>
              </a:rPr>
              <a:t>​</a:t>
            </a:r>
          </a:p>
          <a:p>
            <a:pPr marL="669286" lvl="1" indent="-334643" algn="l">
              <a:lnSpc>
                <a:spcPts val="5269"/>
              </a:lnSpc>
              <a:buFont typeface="Arial"/>
              <a:buChar char="•"/>
            </a:pPr>
            <a:r>
              <a:rPr lang="en-US" sz="3099">
                <a:solidFill>
                  <a:srgbClr val="FFFFFF"/>
                </a:solidFill>
                <a:latin typeface="Quicksand"/>
                <a:ea typeface="Quicksand"/>
                <a:cs typeface="Quicksand"/>
                <a:sym typeface="Quicksand"/>
              </a:rPr>
              <a:t>Onboarding - 2 Weeks​</a:t>
            </a:r>
          </a:p>
          <a:p>
            <a:pPr algn="l">
              <a:lnSpc>
                <a:spcPts val="5269"/>
              </a:lnSpc>
            </a:pPr>
            <a:r>
              <a:rPr lang="en-US" sz="3099">
                <a:solidFill>
                  <a:srgbClr val="FFFFFF"/>
                </a:solidFill>
                <a:latin typeface="Quicksand"/>
                <a:ea typeface="Quicksand"/>
                <a:cs typeface="Quicksand"/>
                <a:sym typeface="Quicksand"/>
              </a:rPr>
              <a:t>​</a:t>
            </a:r>
          </a:p>
          <a:p>
            <a:pPr marL="669286" lvl="1" indent="-334643" algn="l">
              <a:lnSpc>
                <a:spcPts val="5269"/>
              </a:lnSpc>
              <a:buFont typeface="Arial"/>
              <a:buChar char="•"/>
            </a:pPr>
            <a:r>
              <a:rPr lang="en-US" sz="3099">
                <a:solidFill>
                  <a:srgbClr val="FFFFFF"/>
                </a:solidFill>
                <a:latin typeface="Quicksand"/>
                <a:ea typeface="Quicksand"/>
                <a:cs typeface="Quicksand"/>
                <a:sym typeface="Quicksand"/>
              </a:rPr>
              <a:t>Shadowing - 2 or more projects​</a:t>
            </a:r>
          </a:p>
          <a:p>
            <a:pPr algn="l">
              <a:lnSpc>
                <a:spcPts val="5269"/>
              </a:lnSpc>
            </a:pPr>
            <a:r>
              <a:rPr lang="en-US" sz="3099">
                <a:solidFill>
                  <a:srgbClr val="FFFFFF"/>
                </a:solidFill>
                <a:latin typeface="Quicksand"/>
                <a:ea typeface="Quicksand"/>
                <a:cs typeface="Quicksand"/>
                <a:sym typeface="Quicksand"/>
              </a:rPr>
              <a:t>​</a:t>
            </a:r>
          </a:p>
          <a:p>
            <a:pPr marL="669286" lvl="1" indent="-334643" algn="l">
              <a:lnSpc>
                <a:spcPts val="5269"/>
              </a:lnSpc>
              <a:buFont typeface="Arial"/>
              <a:buChar char="•"/>
            </a:pPr>
            <a:r>
              <a:rPr lang="en-US" sz="3099">
                <a:solidFill>
                  <a:srgbClr val="FFFFFF"/>
                </a:solidFill>
                <a:latin typeface="Quicksand"/>
                <a:ea typeface="Quicksand"/>
                <a:cs typeface="Quicksand"/>
                <a:sym typeface="Quicksand"/>
              </a:rPr>
              <a:t>WIO - Mon – Wed (3 months*)</a:t>
            </a:r>
          </a:p>
          <a:p>
            <a:pPr marL="0" lvl="0" indent="0" algn="l">
              <a:lnSpc>
                <a:spcPts val="5269"/>
              </a:lnSpc>
            </a:pPr>
            <a:endParaRPr lang="en-US" sz="3099">
              <a:solidFill>
                <a:srgbClr val="FFFFFF"/>
              </a:solidFill>
              <a:latin typeface="Quicksand"/>
              <a:ea typeface="Quicksand"/>
              <a:cs typeface="Quicksand"/>
              <a:sym typeface="Quicksand"/>
            </a:endParaRPr>
          </a:p>
        </p:txBody>
      </p:sp>
      <p:sp>
        <p:nvSpPr>
          <p:cNvPr id="12" name="TextBox 12"/>
          <p:cNvSpPr txBox="1"/>
          <p:nvPr/>
        </p:nvSpPr>
        <p:spPr>
          <a:xfrm>
            <a:off x="6918573" y="1859735"/>
            <a:ext cx="8115855" cy="1171575"/>
          </a:xfrm>
          <a:prstGeom prst="rect">
            <a:avLst/>
          </a:prstGeom>
        </p:spPr>
        <p:txBody>
          <a:bodyPr lIns="0" tIns="0" rIns="0" bIns="0" rtlCol="0" anchor="t">
            <a:spAutoFit/>
          </a:bodyPr>
          <a:lstStyle/>
          <a:p>
            <a:pPr marL="0" lvl="0" indent="0" algn="l">
              <a:lnSpc>
                <a:spcPts val="8640"/>
              </a:lnSpc>
            </a:pPr>
            <a:r>
              <a:rPr lang="en-US" sz="7200" b="1">
                <a:solidFill>
                  <a:srgbClr val="FFFFFF"/>
                </a:solidFill>
                <a:latin typeface="Blogger Bold"/>
                <a:ea typeface="Blogger Bold"/>
                <a:cs typeface="Blogger Bold"/>
                <a:sym typeface="Blogger Bold"/>
              </a:rPr>
              <a:t>Business Hours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grpSp>
        <p:nvGrpSpPr>
          <p:cNvPr id="2" name="Group 2"/>
          <p:cNvGrpSpPr/>
          <p:nvPr/>
        </p:nvGrpSpPr>
        <p:grpSpPr>
          <a:xfrm>
            <a:off x="10858676" y="2708745"/>
            <a:ext cx="5246370" cy="5556885"/>
            <a:chOff x="0" y="0"/>
            <a:chExt cx="812800" cy="860907"/>
          </a:xfrm>
        </p:grpSpPr>
        <p:sp>
          <p:nvSpPr>
            <p:cNvPr id="3" name="Freeform 3"/>
            <p:cNvSpPr/>
            <p:nvPr/>
          </p:nvSpPr>
          <p:spPr>
            <a:xfrm>
              <a:off x="0" y="0"/>
              <a:ext cx="812800" cy="860907"/>
            </a:xfrm>
            <a:custGeom>
              <a:avLst/>
              <a:gdLst/>
              <a:ahLst/>
              <a:cxnLst/>
              <a:rect l="l" t="t" r="r" b="b"/>
              <a:pathLst>
                <a:path w="812800" h="860907">
                  <a:moveTo>
                    <a:pt x="0" y="0"/>
                  </a:moveTo>
                  <a:lnTo>
                    <a:pt x="812800" y="0"/>
                  </a:lnTo>
                  <a:lnTo>
                    <a:pt x="812800" y="860907"/>
                  </a:lnTo>
                  <a:lnTo>
                    <a:pt x="0" y="860907"/>
                  </a:lnTo>
                  <a:close/>
                </a:path>
              </a:pathLst>
            </a:custGeom>
            <a:blipFill>
              <a:blip r:embed="rId2"/>
              <a:stretch>
                <a:fillRect l="-29638" r="-29638"/>
              </a:stretch>
            </a:blipFill>
          </p:spPr>
        </p:sp>
      </p:grpSp>
      <p:grpSp>
        <p:nvGrpSpPr>
          <p:cNvPr id="4" name="Group 4"/>
          <p:cNvGrpSpPr/>
          <p:nvPr/>
        </p:nvGrpSpPr>
        <p:grpSpPr>
          <a:xfrm>
            <a:off x="10860353" y="-4141"/>
            <a:ext cx="4177116" cy="2331885"/>
            <a:chOff x="0" y="0"/>
            <a:chExt cx="1100146" cy="614159"/>
          </a:xfrm>
        </p:grpSpPr>
        <p:sp>
          <p:nvSpPr>
            <p:cNvPr id="5" name="Freeform 5"/>
            <p:cNvSpPr/>
            <p:nvPr/>
          </p:nvSpPr>
          <p:spPr>
            <a:xfrm>
              <a:off x="0" y="0"/>
              <a:ext cx="1100146" cy="614159"/>
            </a:xfrm>
            <a:custGeom>
              <a:avLst/>
              <a:gdLst/>
              <a:ahLst/>
              <a:cxnLst/>
              <a:rect l="l" t="t" r="r" b="b"/>
              <a:pathLst>
                <a:path w="1100146" h="614159">
                  <a:moveTo>
                    <a:pt x="0" y="0"/>
                  </a:moveTo>
                  <a:lnTo>
                    <a:pt x="1100146" y="0"/>
                  </a:lnTo>
                  <a:lnTo>
                    <a:pt x="1100146" y="614159"/>
                  </a:lnTo>
                  <a:lnTo>
                    <a:pt x="0" y="614159"/>
                  </a:lnTo>
                  <a:close/>
                </a:path>
              </a:pathLst>
            </a:custGeom>
            <a:solidFill>
              <a:srgbClr val="FD9C37"/>
            </a:solidFill>
          </p:spPr>
        </p:sp>
        <p:sp>
          <p:nvSpPr>
            <p:cNvPr id="6" name="TextBox 6"/>
            <p:cNvSpPr txBox="1"/>
            <p:nvPr/>
          </p:nvSpPr>
          <p:spPr>
            <a:xfrm>
              <a:off x="0" y="-57150"/>
              <a:ext cx="1100146" cy="671309"/>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5439197" y="0"/>
            <a:ext cx="2848803" cy="2331885"/>
            <a:chOff x="0" y="0"/>
            <a:chExt cx="750302" cy="614159"/>
          </a:xfrm>
        </p:grpSpPr>
        <p:sp>
          <p:nvSpPr>
            <p:cNvPr id="8" name="Freeform 8"/>
            <p:cNvSpPr/>
            <p:nvPr/>
          </p:nvSpPr>
          <p:spPr>
            <a:xfrm>
              <a:off x="0" y="0"/>
              <a:ext cx="750302" cy="614159"/>
            </a:xfrm>
            <a:custGeom>
              <a:avLst/>
              <a:gdLst/>
              <a:ahLst/>
              <a:cxnLst/>
              <a:rect l="l" t="t" r="r" b="b"/>
              <a:pathLst>
                <a:path w="750302" h="614159">
                  <a:moveTo>
                    <a:pt x="0" y="0"/>
                  </a:moveTo>
                  <a:lnTo>
                    <a:pt x="750302" y="0"/>
                  </a:lnTo>
                  <a:lnTo>
                    <a:pt x="750302" y="614159"/>
                  </a:lnTo>
                  <a:lnTo>
                    <a:pt x="0" y="614159"/>
                  </a:lnTo>
                  <a:close/>
                </a:path>
              </a:pathLst>
            </a:custGeom>
            <a:solidFill>
              <a:srgbClr val="FFFFFF"/>
            </a:solidFill>
          </p:spPr>
        </p:sp>
        <p:sp>
          <p:nvSpPr>
            <p:cNvPr id="9" name="TextBox 9"/>
            <p:cNvSpPr txBox="1"/>
            <p:nvPr/>
          </p:nvSpPr>
          <p:spPr>
            <a:xfrm>
              <a:off x="0" y="-57150"/>
              <a:ext cx="750302" cy="671309"/>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16507034" y="2708745"/>
            <a:ext cx="1780966" cy="3779520"/>
            <a:chOff x="0" y="0"/>
            <a:chExt cx="469061" cy="995429"/>
          </a:xfrm>
        </p:grpSpPr>
        <p:sp>
          <p:nvSpPr>
            <p:cNvPr id="11" name="Freeform 11"/>
            <p:cNvSpPr/>
            <p:nvPr/>
          </p:nvSpPr>
          <p:spPr>
            <a:xfrm>
              <a:off x="0" y="0"/>
              <a:ext cx="469061" cy="995429"/>
            </a:xfrm>
            <a:custGeom>
              <a:avLst/>
              <a:gdLst/>
              <a:ahLst/>
              <a:cxnLst/>
              <a:rect l="l" t="t" r="r" b="b"/>
              <a:pathLst>
                <a:path w="469061" h="995429">
                  <a:moveTo>
                    <a:pt x="0" y="0"/>
                  </a:moveTo>
                  <a:lnTo>
                    <a:pt x="469061" y="0"/>
                  </a:lnTo>
                  <a:lnTo>
                    <a:pt x="469061" y="995429"/>
                  </a:lnTo>
                  <a:lnTo>
                    <a:pt x="0" y="995429"/>
                  </a:lnTo>
                  <a:close/>
                </a:path>
              </a:pathLst>
            </a:custGeom>
            <a:solidFill>
              <a:srgbClr val="DE8119"/>
            </a:solidFill>
          </p:spPr>
        </p:sp>
        <p:sp>
          <p:nvSpPr>
            <p:cNvPr id="12" name="TextBox 12"/>
            <p:cNvSpPr txBox="1"/>
            <p:nvPr/>
          </p:nvSpPr>
          <p:spPr>
            <a:xfrm>
              <a:off x="0" y="-57150"/>
              <a:ext cx="469061" cy="1052579"/>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16507034" y="6850215"/>
            <a:ext cx="1780966" cy="1415415"/>
            <a:chOff x="0" y="0"/>
            <a:chExt cx="469061" cy="372784"/>
          </a:xfrm>
        </p:grpSpPr>
        <p:sp>
          <p:nvSpPr>
            <p:cNvPr id="14" name="Freeform 14"/>
            <p:cNvSpPr/>
            <p:nvPr/>
          </p:nvSpPr>
          <p:spPr>
            <a:xfrm>
              <a:off x="0" y="0"/>
              <a:ext cx="469061" cy="372784"/>
            </a:xfrm>
            <a:custGeom>
              <a:avLst/>
              <a:gdLst/>
              <a:ahLst/>
              <a:cxnLst/>
              <a:rect l="l" t="t" r="r" b="b"/>
              <a:pathLst>
                <a:path w="469061" h="372784">
                  <a:moveTo>
                    <a:pt x="0" y="0"/>
                  </a:moveTo>
                  <a:lnTo>
                    <a:pt x="469061" y="0"/>
                  </a:lnTo>
                  <a:lnTo>
                    <a:pt x="469061" y="372784"/>
                  </a:lnTo>
                  <a:lnTo>
                    <a:pt x="0" y="372784"/>
                  </a:lnTo>
                  <a:close/>
                </a:path>
              </a:pathLst>
            </a:custGeom>
            <a:solidFill>
              <a:srgbClr val="FFFFFF"/>
            </a:solidFill>
          </p:spPr>
        </p:sp>
        <p:sp>
          <p:nvSpPr>
            <p:cNvPr id="15" name="TextBox 15"/>
            <p:cNvSpPr txBox="1"/>
            <p:nvPr/>
          </p:nvSpPr>
          <p:spPr>
            <a:xfrm>
              <a:off x="0" y="-57150"/>
              <a:ext cx="469061" cy="429934"/>
            </a:xfrm>
            <a:prstGeom prst="rect">
              <a:avLst/>
            </a:prstGeom>
          </p:spPr>
          <p:txBody>
            <a:bodyPr lIns="50800" tIns="50800" rIns="50800" bIns="50800" rtlCol="0" anchor="ctr"/>
            <a:lstStyle/>
            <a:p>
              <a:pPr algn="ctr">
                <a:lnSpc>
                  <a:spcPts val="3359"/>
                </a:lnSpc>
              </a:pPr>
              <a:endParaRPr/>
            </a:p>
          </p:txBody>
        </p:sp>
      </p:grpSp>
      <p:grpSp>
        <p:nvGrpSpPr>
          <p:cNvPr id="16" name="Group 16"/>
          <p:cNvGrpSpPr/>
          <p:nvPr/>
        </p:nvGrpSpPr>
        <p:grpSpPr>
          <a:xfrm>
            <a:off x="10858676" y="8646630"/>
            <a:ext cx="5246370" cy="1640370"/>
            <a:chOff x="0" y="0"/>
            <a:chExt cx="1381760" cy="432032"/>
          </a:xfrm>
        </p:grpSpPr>
        <p:sp>
          <p:nvSpPr>
            <p:cNvPr id="17" name="Freeform 17"/>
            <p:cNvSpPr/>
            <p:nvPr/>
          </p:nvSpPr>
          <p:spPr>
            <a:xfrm>
              <a:off x="0" y="0"/>
              <a:ext cx="1381760" cy="432032"/>
            </a:xfrm>
            <a:custGeom>
              <a:avLst/>
              <a:gdLst/>
              <a:ahLst/>
              <a:cxnLst/>
              <a:rect l="l" t="t" r="r" b="b"/>
              <a:pathLst>
                <a:path w="1381760" h="432032">
                  <a:moveTo>
                    <a:pt x="0" y="0"/>
                  </a:moveTo>
                  <a:lnTo>
                    <a:pt x="1381760" y="0"/>
                  </a:lnTo>
                  <a:lnTo>
                    <a:pt x="1381760" y="432032"/>
                  </a:lnTo>
                  <a:lnTo>
                    <a:pt x="0" y="432032"/>
                  </a:lnTo>
                  <a:close/>
                </a:path>
              </a:pathLst>
            </a:custGeom>
            <a:solidFill>
              <a:srgbClr val="485058"/>
            </a:solidFill>
          </p:spPr>
        </p:sp>
        <p:sp>
          <p:nvSpPr>
            <p:cNvPr id="18" name="TextBox 18"/>
            <p:cNvSpPr txBox="1"/>
            <p:nvPr/>
          </p:nvSpPr>
          <p:spPr>
            <a:xfrm>
              <a:off x="0" y="-57150"/>
              <a:ext cx="1381760" cy="489182"/>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16507034" y="8646630"/>
            <a:ext cx="1780966" cy="1640370"/>
            <a:chOff x="0" y="0"/>
            <a:chExt cx="469061" cy="432032"/>
          </a:xfrm>
        </p:grpSpPr>
        <p:sp>
          <p:nvSpPr>
            <p:cNvPr id="20" name="Freeform 20"/>
            <p:cNvSpPr/>
            <p:nvPr/>
          </p:nvSpPr>
          <p:spPr>
            <a:xfrm>
              <a:off x="0" y="0"/>
              <a:ext cx="469061" cy="432032"/>
            </a:xfrm>
            <a:custGeom>
              <a:avLst/>
              <a:gdLst/>
              <a:ahLst/>
              <a:cxnLst/>
              <a:rect l="l" t="t" r="r" b="b"/>
              <a:pathLst>
                <a:path w="469061" h="432032">
                  <a:moveTo>
                    <a:pt x="0" y="0"/>
                  </a:moveTo>
                  <a:lnTo>
                    <a:pt x="469061" y="0"/>
                  </a:lnTo>
                  <a:lnTo>
                    <a:pt x="469061" y="432032"/>
                  </a:lnTo>
                  <a:lnTo>
                    <a:pt x="0" y="432032"/>
                  </a:lnTo>
                  <a:close/>
                </a:path>
              </a:pathLst>
            </a:custGeom>
            <a:solidFill>
              <a:srgbClr val="6C757D"/>
            </a:solidFill>
          </p:spPr>
        </p:sp>
        <p:sp>
          <p:nvSpPr>
            <p:cNvPr id="21" name="TextBox 21"/>
            <p:cNvSpPr txBox="1"/>
            <p:nvPr/>
          </p:nvSpPr>
          <p:spPr>
            <a:xfrm>
              <a:off x="0" y="-57150"/>
              <a:ext cx="469061" cy="489182"/>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8772578" y="-4141"/>
            <a:ext cx="1686048" cy="2331885"/>
            <a:chOff x="0" y="0"/>
            <a:chExt cx="444062" cy="614159"/>
          </a:xfrm>
        </p:grpSpPr>
        <p:sp>
          <p:nvSpPr>
            <p:cNvPr id="23" name="Freeform 23"/>
            <p:cNvSpPr/>
            <p:nvPr/>
          </p:nvSpPr>
          <p:spPr>
            <a:xfrm>
              <a:off x="0" y="0"/>
              <a:ext cx="444062" cy="614159"/>
            </a:xfrm>
            <a:custGeom>
              <a:avLst/>
              <a:gdLst/>
              <a:ahLst/>
              <a:cxnLst/>
              <a:rect l="l" t="t" r="r" b="b"/>
              <a:pathLst>
                <a:path w="444062" h="614159">
                  <a:moveTo>
                    <a:pt x="0" y="0"/>
                  </a:moveTo>
                  <a:lnTo>
                    <a:pt x="444062" y="0"/>
                  </a:lnTo>
                  <a:lnTo>
                    <a:pt x="444062" y="614159"/>
                  </a:lnTo>
                  <a:lnTo>
                    <a:pt x="0" y="614159"/>
                  </a:lnTo>
                  <a:close/>
                </a:path>
              </a:pathLst>
            </a:custGeom>
            <a:solidFill>
              <a:srgbClr val="FFFFFF"/>
            </a:solidFill>
          </p:spPr>
        </p:sp>
        <p:sp>
          <p:nvSpPr>
            <p:cNvPr id="24" name="TextBox 24"/>
            <p:cNvSpPr txBox="1"/>
            <p:nvPr/>
          </p:nvSpPr>
          <p:spPr>
            <a:xfrm>
              <a:off x="0" y="-57150"/>
              <a:ext cx="444062" cy="671309"/>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503648" y="497166"/>
            <a:ext cx="8652454" cy="2256065"/>
          </a:xfrm>
          <a:prstGeom prst="rect">
            <a:avLst/>
          </a:prstGeom>
        </p:spPr>
        <p:txBody>
          <a:bodyPr wrap="square" lIns="0" tIns="0" rIns="0" bIns="0" rtlCol="0" anchor="t">
            <a:spAutoFit/>
          </a:bodyPr>
          <a:lstStyle/>
          <a:p>
            <a:pPr algn="l">
              <a:lnSpc>
                <a:spcPts val="8640"/>
              </a:lnSpc>
            </a:pPr>
            <a:r>
              <a:rPr lang="en-US" sz="7200" b="1">
                <a:solidFill>
                  <a:srgbClr val="FFFFFF"/>
                </a:solidFill>
                <a:latin typeface="Blogger Bold"/>
                <a:ea typeface="Blogger Bold"/>
                <a:cs typeface="Blogger Bold"/>
                <a:sym typeface="Blogger Bold"/>
              </a:rPr>
              <a:t>Work From Home</a:t>
            </a:r>
          </a:p>
          <a:p>
            <a:pPr marL="0" lvl="0" indent="0" algn="l">
              <a:lnSpc>
                <a:spcPts val="8640"/>
              </a:lnSpc>
            </a:pPr>
            <a:endParaRPr lang="en-US" sz="7200" b="1">
              <a:solidFill>
                <a:srgbClr val="FFFFFF"/>
              </a:solidFill>
              <a:latin typeface="Blogger Bold"/>
              <a:ea typeface="Blogger Bold"/>
              <a:cs typeface="Blogger Bold"/>
              <a:sym typeface="Blogger Bold"/>
            </a:endParaRPr>
          </a:p>
        </p:txBody>
      </p:sp>
      <p:sp>
        <p:nvSpPr>
          <p:cNvPr id="26" name="TextBox 26"/>
          <p:cNvSpPr txBox="1"/>
          <p:nvPr/>
        </p:nvSpPr>
        <p:spPr>
          <a:xfrm>
            <a:off x="502482" y="2753135"/>
            <a:ext cx="8208257" cy="7439472"/>
          </a:xfrm>
          <a:prstGeom prst="rect">
            <a:avLst/>
          </a:prstGeom>
        </p:spPr>
        <p:txBody>
          <a:bodyPr wrap="square" lIns="0" tIns="0" rIns="0" bIns="0" rtlCol="0" anchor="t">
            <a:spAutoFit/>
          </a:bodyPr>
          <a:lstStyle/>
          <a:p>
            <a:pPr algn="l">
              <a:lnSpc>
                <a:spcPts val="4511"/>
              </a:lnSpc>
            </a:pPr>
            <a:r>
              <a:rPr lang="en-US" sz="2653">
                <a:solidFill>
                  <a:srgbClr val="FFFFFF"/>
                </a:solidFill>
                <a:latin typeface="Quicksand"/>
                <a:ea typeface="Quicksand"/>
                <a:cs typeface="Quicksand"/>
                <a:sym typeface="Quicksand"/>
              </a:rPr>
              <a:t>Team Meetings​</a:t>
            </a:r>
          </a:p>
          <a:p>
            <a:pPr marL="572770" lvl="1" indent="-286385" algn="l">
              <a:lnSpc>
                <a:spcPts val="4511"/>
              </a:lnSpc>
              <a:buFont typeface="Arial"/>
              <a:buChar char="•"/>
            </a:pPr>
            <a:r>
              <a:rPr lang="en-US" sz="2653">
                <a:solidFill>
                  <a:srgbClr val="FFFFFF"/>
                </a:solidFill>
                <a:latin typeface="Quicksand"/>
                <a:ea typeface="Quicksand"/>
                <a:cs typeface="Quicksand"/>
                <a:sym typeface="Quicksand"/>
              </a:rPr>
              <a:t>Listen​</a:t>
            </a:r>
            <a:endParaRPr lang="en-US" sz="2653">
              <a:solidFill>
                <a:srgbClr val="FFFFFF"/>
              </a:solidFill>
              <a:latin typeface="Quicksand"/>
              <a:ea typeface="Quicksand"/>
              <a:cs typeface="Quicksand"/>
            </a:endParaRPr>
          </a:p>
          <a:p>
            <a:pPr marL="572770" lvl="1" indent="-286385" algn="l">
              <a:lnSpc>
                <a:spcPts val="4511"/>
              </a:lnSpc>
              <a:buFont typeface="Arial"/>
              <a:buChar char="•"/>
            </a:pPr>
            <a:r>
              <a:rPr lang="en-US" sz="2653">
                <a:solidFill>
                  <a:srgbClr val="FFFFFF"/>
                </a:solidFill>
                <a:latin typeface="Quicksand"/>
                <a:ea typeface="Quicksand"/>
                <a:cs typeface="Quicksand"/>
                <a:sym typeface="Quicksand"/>
              </a:rPr>
              <a:t>Participate​</a:t>
            </a:r>
            <a:endParaRPr lang="en-US" sz="2653">
              <a:solidFill>
                <a:srgbClr val="FFFFFF"/>
              </a:solidFill>
              <a:latin typeface="Quicksand"/>
              <a:ea typeface="Quicksand"/>
              <a:cs typeface="Quicksand"/>
            </a:endParaRPr>
          </a:p>
          <a:p>
            <a:pPr marL="572770" lvl="1" indent="-286385" algn="l">
              <a:lnSpc>
                <a:spcPts val="4511"/>
              </a:lnSpc>
              <a:buFont typeface="Arial"/>
              <a:buChar char="•"/>
            </a:pPr>
            <a:r>
              <a:rPr lang="en-US" sz="2653">
                <a:solidFill>
                  <a:srgbClr val="FFFFFF"/>
                </a:solidFill>
                <a:latin typeface="Quicksand"/>
                <a:ea typeface="Quicksand"/>
                <a:cs typeface="Quicksand"/>
                <a:sym typeface="Quicksand"/>
              </a:rPr>
              <a:t>Ask Questions​</a:t>
            </a:r>
            <a:endParaRPr lang="en-US" sz="2653">
              <a:solidFill>
                <a:srgbClr val="FFFFFF"/>
              </a:solidFill>
              <a:latin typeface="Quicksand"/>
              <a:ea typeface="Quicksand"/>
              <a:cs typeface="Quicksand"/>
            </a:endParaRPr>
          </a:p>
          <a:p>
            <a:pPr algn="l">
              <a:lnSpc>
                <a:spcPts val="4511"/>
              </a:lnSpc>
            </a:pPr>
            <a:r>
              <a:rPr lang="en-US" sz="2653">
                <a:solidFill>
                  <a:srgbClr val="FFFFFF"/>
                </a:solidFill>
                <a:latin typeface="Quicksand"/>
                <a:ea typeface="Quicksand"/>
                <a:cs typeface="Quicksand"/>
                <a:sym typeface="Quicksand"/>
              </a:rPr>
              <a:t>​</a:t>
            </a:r>
          </a:p>
          <a:p>
            <a:pPr algn="l">
              <a:lnSpc>
                <a:spcPts val="4511"/>
              </a:lnSpc>
            </a:pPr>
            <a:r>
              <a:rPr lang="en-US" sz="2653">
                <a:solidFill>
                  <a:srgbClr val="FFFFFF"/>
                </a:solidFill>
                <a:latin typeface="Quicksand"/>
                <a:ea typeface="Quicksand"/>
                <a:cs typeface="Quicksand"/>
                <a:sym typeface="Quicksand"/>
              </a:rPr>
              <a:t>Client Meetings​</a:t>
            </a:r>
          </a:p>
          <a:p>
            <a:pPr marL="572770" lvl="1" indent="-286385" algn="l">
              <a:lnSpc>
                <a:spcPts val="4511"/>
              </a:lnSpc>
              <a:buFont typeface="Arial"/>
              <a:buChar char="•"/>
            </a:pPr>
            <a:r>
              <a:rPr lang="en-US" sz="2653">
                <a:solidFill>
                  <a:srgbClr val="FFFFFF"/>
                </a:solidFill>
                <a:latin typeface="Quicksand"/>
                <a:ea typeface="Quicksand"/>
                <a:cs typeface="Quicksand"/>
                <a:sym typeface="Quicksand"/>
              </a:rPr>
              <a:t>Record​</a:t>
            </a:r>
            <a:endParaRPr lang="en-US" sz="2653">
              <a:solidFill>
                <a:srgbClr val="FFFFFF"/>
              </a:solidFill>
              <a:latin typeface="Quicksand"/>
              <a:ea typeface="Quicksand"/>
              <a:cs typeface="Quicksand"/>
            </a:endParaRPr>
          </a:p>
          <a:p>
            <a:pPr marL="572770" lvl="1" indent="-286385" algn="l">
              <a:lnSpc>
                <a:spcPts val="4511"/>
              </a:lnSpc>
              <a:buFont typeface="Arial"/>
              <a:buChar char="•"/>
            </a:pPr>
            <a:r>
              <a:rPr lang="en-US" sz="2653">
                <a:solidFill>
                  <a:srgbClr val="FFFFFF"/>
                </a:solidFill>
                <a:latin typeface="Quicksand"/>
                <a:ea typeface="Quicksand"/>
                <a:cs typeface="Quicksand"/>
                <a:sym typeface="Quicksand"/>
              </a:rPr>
              <a:t>Be Warm and Friendly but keep it Polite and Professional​</a:t>
            </a:r>
            <a:endParaRPr lang="en-US" sz="2653">
              <a:solidFill>
                <a:srgbClr val="FFFFFF"/>
              </a:solidFill>
              <a:latin typeface="Quicksand"/>
              <a:ea typeface="Quicksand"/>
              <a:cs typeface="Quicksand"/>
            </a:endParaRPr>
          </a:p>
          <a:p>
            <a:pPr marL="572770" lvl="1" indent="-286385" algn="l">
              <a:lnSpc>
                <a:spcPts val="4511"/>
              </a:lnSpc>
              <a:buFont typeface="Arial"/>
              <a:buChar char="•"/>
            </a:pPr>
            <a:r>
              <a:rPr lang="en-US" sz="2653">
                <a:solidFill>
                  <a:srgbClr val="FFFFFF"/>
                </a:solidFill>
                <a:latin typeface="Quicksand"/>
                <a:ea typeface="Quicksand"/>
                <a:cs typeface="Quicksand"/>
                <a:sym typeface="Quicksand"/>
              </a:rPr>
              <a:t>Turn on Camera (Be Presentable)​</a:t>
            </a:r>
            <a:endParaRPr lang="en-US" sz="2653">
              <a:solidFill>
                <a:srgbClr val="FFFFFF"/>
              </a:solidFill>
              <a:latin typeface="Quicksand"/>
              <a:ea typeface="Quicksand"/>
              <a:cs typeface="Quicksand"/>
            </a:endParaRPr>
          </a:p>
          <a:p>
            <a:pPr marL="572770" lvl="1" indent="-286385">
              <a:lnSpc>
                <a:spcPts val="4511"/>
              </a:lnSpc>
              <a:buFont typeface="Arial"/>
              <a:buChar char="•"/>
            </a:pPr>
            <a:r>
              <a:rPr lang="en-US" sz="2650" dirty="0">
                <a:solidFill>
                  <a:srgbClr val="FFFFFF"/>
                </a:solidFill>
                <a:latin typeface="Quicksand"/>
                <a:ea typeface="Quicksand"/>
                <a:cs typeface="Quicksand"/>
                <a:sym typeface="Quicksand"/>
              </a:rPr>
              <a:t>Agenda 24 </a:t>
            </a:r>
            <a:r>
              <a:rPr lang="en-US" sz="2650" dirty="0" err="1">
                <a:solidFill>
                  <a:srgbClr val="FFFFFF"/>
                </a:solidFill>
                <a:latin typeface="Quicksand"/>
                <a:ea typeface="Quicksand"/>
                <a:cs typeface="Quicksand"/>
                <a:sym typeface="Quicksand"/>
              </a:rPr>
              <a:t>hrs</a:t>
            </a:r>
            <a:r>
              <a:rPr lang="en-US" sz="2650" dirty="0">
                <a:solidFill>
                  <a:srgbClr val="FFFFFF"/>
                </a:solidFill>
                <a:latin typeface="Quicksand"/>
                <a:ea typeface="Quicksand"/>
                <a:cs typeface="Quicksand"/>
                <a:sym typeface="Quicksand"/>
              </a:rPr>
              <a:t> before meeting​</a:t>
            </a:r>
            <a:endParaRPr lang="en-US" sz="2650">
              <a:ea typeface="Calibri"/>
              <a:cs typeface="Calibri"/>
            </a:endParaRPr>
          </a:p>
          <a:p>
            <a:pPr marL="572770" lvl="1" indent="-286385" algn="l">
              <a:lnSpc>
                <a:spcPts val="4511"/>
              </a:lnSpc>
              <a:buFont typeface="Arial"/>
              <a:buChar char="•"/>
            </a:pPr>
            <a:r>
              <a:rPr lang="en-US" sz="2650" dirty="0">
                <a:solidFill>
                  <a:srgbClr val="FFFFFF"/>
                </a:solidFill>
                <a:latin typeface="Quicksand"/>
                <a:ea typeface="Quicksand"/>
                <a:cs typeface="Quicksand"/>
                <a:sym typeface="Quicksand"/>
              </a:rPr>
              <a:t>Recap within 24 </a:t>
            </a:r>
            <a:r>
              <a:rPr lang="en-US" sz="2650" dirty="0" err="1">
                <a:solidFill>
                  <a:srgbClr val="FFFFFF"/>
                </a:solidFill>
                <a:latin typeface="Quicksand"/>
                <a:ea typeface="Quicksand"/>
                <a:cs typeface="Quicksand"/>
                <a:sym typeface="Quicksand"/>
              </a:rPr>
              <a:t>hrs</a:t>
            </a:r>
            <a:r>
              <a:rPr lang="en-US" sz="2650" dirty="0">
                <a:solidFill>
                  <a:srgbClr val="FFFFFF"/>
                </a:solidFill>
                <a:latin typeface="Quicksand"/>
                <a:ea typeface="Quicksand"/>
                <a:cs typeface="Quicksand"/>
                <a:sym typeface="Quicksand"/>
              </a:rPr>
              <a:t> after meeting</a:t>
            </a:r>
            <a:endParaRPr lang="en-US" sz="2650" dirty="0">
              <a:solidFill>
                <a:srgbClr val="FFFFFF"/>
              </a:solidFill>
              <a:latin typeface="Quicksand"/>
              <a:ea typeface="Quicksand"/>
              <a:cs typeface="Quicksand"/>
            </a:endParaRPr>
          </a:p>
          <a:p>
            <a:pPr marL="0" lvl="0" indent="0" algn="l">
              <a:lnSpc>
                <a:spcPts val="4511"/>
              </a:lnSpc>
            </a:pPr>
            <a:endParaRPr lang="en-US" sz="2653">
              <a:solidFill>
                <a:srgbClr val="FFFFFF"/>
              </a:solidFill>
              <a:latin typeface="Quicksand"/>
              <a:ea typeface="Quicksand"/>
              <a:cs typeface="Quicksand"/>
              <a:sym typeface="Quicksand"/>
            </a:endParaRPr>
          </a:p>
        </p:txBody>
      </p:sp>
      <p:grpSp>
        <p:nvGrpSpPr>
          <p:cNvPr id="27" name="Group 27"/>
          <p:cNvGrpSpPr/>
          <p:nvPr/>
        </p:nvGrpSpPr>
        <p:grpSpPr>
          <a:xfrm>
            <a:off x="8772578" y="2708745"/>
            <a:ext cx="1686048" cy="2886239"/>
            <a:chOff x="0" y="0"/>
            <a:chExt cx="444062" cy="760162"/>
          </a:xfrm>
        </p:grpSpPr>
        <p:sp>
          <p:nvSpPr>
            <p:cNvPr id="28" name="Freeform 28"/>
            <p:cNvSpPr/>
            <p:nvPr/>
          </p:nvSpPr>
          <p:spPr>
            <a:xfrm>
              <a:off x="0" y="0"/>
              <a:ext cx="444062" cy="760162"/>
            </a:xfrm>
            <a:custGeom>
              <a:avLst/>
              <a:gdLst/>
              <a:ahLst/>
              <a:cxnLst/>
              <a:rect l="l" t="t" r="r" b="b"/>
              <a:pathLst>
                <a:path w="444062" h="760162">
                  <a:moveTo>
                    <a:pt x="0" y="0"/>
                  </a:moveTo>
                  <a:lnTo>
                    <a:pt x="444062" y="0"/>
                  </a:lnTo>
                  <a:lnTo>
                    <a:pt x="444062" y="760162"/>
                  </a:lnTo>
                  <a:lnTo>
                    <a:pt x="0" y="760162"/>
                  </a:lnTo>
                  <a:close/>
                </a:path>
              </a:pathLst>
            </a:custGeom>
            <a:solidFill>
              <a:srgbClr val="FD9C37"/>
            </a:solidFill>
          </p:spPr>
        </p:sp>
        <p:sp>
          <p:nvSpPr>
            <p:cNvPr id="29" name="TextBox 29"/>
            <p:cNvSpPr txBox="1"/>
            <p:nvPr/>
          </p:nvSpPr>
          <p:spPr>
            <a:xfrm>
              <a:off x="0" y="-57150"/>
              <a:ext cx="444062" cy="817312"/>
            </a:xfrm>
            <a:prstGeom prst="rect">
              <a:avLst/>
            </a:prstGeom>
          </p:spPr>
          <p:txBody>
            <a:bodyPr lIns="50800" tIns="50800" rIns="50800" bIns="50800" rtlCol="0" anchor="ctr"/>
            <a:lstStyle/>
            <a:p>
              <a:pPr algn="ctr">
                <a:lnSpc>
                  <a:spcPts val="3359"/>
                </a:lnSpc>
              </a:pPr>
              <a:endParaRPr/>
            </a:p>
          </p:txBody>
        </p:sp>
      </p:grpSp>
      <p:grpSp>
        <p:nvGrpSpPr>
          <p:cNvPr id="30" name="Group 30"/>
          <p:cNvGrpSpPr/>
          <p:nvPr/>
        </p:nvGrpSpPr>
        <p:grpSpPr>
          <a:xfrm>
            <a:off x="8772578" y="6018556"/>
            <a:ext cx="1686048" cy="4268444"/>
            <a:chOff x="0" y="0"/>
            <a:chExt cx="444062" cy="1124199"/>
          </a:xfrm>
        </p:grpSpPr>
        <p:sp>
          <p:nvSpPr>
            <p:cNvPr id="31" name="Freeform 31"/>
            <p:cNvSpPr/>
            <p:nvPr/>
          </p:nvSpPr>
          <p:spPr>
            <a:xfrm>
              <a:off x="0" y="0"/>
              <a:ext cx="444062" cy="1124199"/>
            </a:xfrm>
            <a:custGeom>
              <a:avLst/>
              <a:gdLst/>
              <a:ahLst/>
              <a:cxnLst/>
              <a:rect l="l" t="t" r="r" b="b"/>
              <a:pathLst>
                <a:path w="444062" h="1124199">
                  <a:moveTo>
                    <a:pt x="0" y="0"/>
                  </a:moveTo>
                  <a:lnTo>
                    <a:pt x="444062" y="0"/>
                  </a:lnTo>
                  <a:lnTo>
                    <a:pt x="444062" y="1124199"/>
                  </a:lnTo>
                  <a:lnTo>
                    <a:pt x="0" y="1124199"/>
                  </a:lnTo>
                  <a:close/>
                </a:path>
              </a:pathLst>
            </a:custGeom>
            <a:solidFill>
              <a:srgbClr val="858F97"/>
            </a:solidFill>
          </p:spPr>
        </p:sp>
        <p:sp>
          <p:nvSpPr>
            <p:cNvPr id="32" name="TextBox 32"/>
            <p:cNvSpPr txBox="1"/>
            <p:nvPr/>
          </p:nvSpPr>
          <p:spPr>
            <a:xfrm>
              <a:off x="0" y="-57150"/>
              <a:ext cx="444062" cy="1181349"/>
            </a:xfrm>
            <a:prstGeom prst="rect">
              <a:avLst/>
            </a:prstGeom>
          </p:spPr>
          <p:txBody>
            <a:bodyPr lIns="50800" tIns="50800" rIns="50800" bIns="50800" rtlCol="0" anchor="ctr"/>
            <a:lstStyle/>
            <a:p>
              <a:pPr algn="ctr">
                <a:lnSpc>
                  <a:spcPts val="3359"/>
                </a:lnSpc>
              </a:pPr>
              <a:endParaRPr/>
            </a:p>
          </p:txBody>
        </p:sp>
      </p:grpSp>
      <p:sp>
        <p:nvSpPr>
          <p:cNvPr id="33" name="TextBox 33"/>
          <p:cNvSpPr txBox="1"/>
          <p:nvPr/>
        </p:nvSpPr>
        <p:spPr>
          <a:xfrm>
            <a:off x="-895337" y="1712987"/>
            <a:ext cx="7682736" cy="604212"/>
          </a:xfrm>
          <a:prstGeom prst="rect">
            <a:avLst/>
          </a:prstGeom>
        </p:spPr>
        <p:txBody>
          <a:bodyPr lIns="0" tIns="0" rIns="0" bIns="0" rtlCol="0" anchor="t">
            <a:spAutoFit/>
          </a:bodyPr>
          <a:lstStyle/>
          <a:p>
            <a:pPr algn="ctr">
              <a:lnSpc>
                <a:spcPts val="5090"/>
              </a:lnSpc>
            </a:pPr>
            <a:r>
              <a:rPr lang="en-US" sz="3636">
                <a:solidFill>
                  <a:srgbClr val="FFFFFF"/>
                </a:solidFill>
                <a:latin typeface="Quicksand"/>
                <a:ea typeface="Quicksand"/>
                <a:cs typeface="Quicksand"/>
                <a:sym typeface="Quicksand"/>
              </a:rPr>
              <a:t>Be Productive (Integrity)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flipV="1">
            <a:off x="13195935" y="5194935"/>
            <a:ext cx="5092065" cy="5092065"/>
          </a:xfrm>
          <a:custGeom>
            <a:avLst/>
            <a:gdLst/>
            <a:ahLst/>
            <a:cxnLst/>
            <a:rect l="l" t="t" r="r" b="b"/>
            <a:pathLst>
              <a:path w="5092065" h="5092065">
                <a:moveTo>
                  <a:pt x="5092065" y="5092065"/>
                </a:moveTo>
                <a:lnTo>
                  <a:pt x="0" y="5092065"/>
                </a:lnTo>
                <a:lnTo>
                  <a:pt x="0" y="0"/>
                </a:lnTo>
                <a:lnTo>
                  <a:pt x="5092065" y="0"/>
                </a:lnTo>
                <a:lnTo>
                  <a:pt x="5092065" y="5092065"/>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851813">
            <a:off x="14914318" y="-1886969"/>
            <a:ext cx="4855221" cy="4114800"/>
          </a:xfrm>
          <a:custGeom>
            <a:avLst/>
            <a:gdLst/>
            <a:ahLst/>
            <a:cxnLst/>
            <a:rect l="l" t="t" r="r" b="b"/>
            <a:pathLst>
              <a:path w="4855221" h="4114800">
                <a:moveTo>
                  <a:pt x="0" y="0"/>
                </a:moveTo>
                <a:lnTo>
                  <a:pt x="4855221" y="0"/>
                </a:lnTo>
                <a:lnTo>
                  <a:pt x="485522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5433923" y="1641884"/>
            <a:ext cx="1247048" cy="1389426"/>
            <a:chOff x="0" y="0"/>
            <a:chExt cx="812800" cy="905599"/>
          </a:xfrm>
        </p:grpSpPr>
        <p:sp>
          <p:nvSpPr>
            <p:cNvPr id="5" name="Freeform 5"/>
            <p:cNvSpPr/>
            <p:nvPr/>
          </p:nvSpPr>
          <p:spPr>
            <a:xfrm>
              <a:off x="0" y="0"/>
              <a:ext cx="812800" cy="905599"/>
            </a:xfrm>
            <a:custGeom>
              <a:avLst/>
              <a:gdLst/>
              <a:ahLst/>
              <a:cxnLst/>
              <a:rect l="l" t="t" r="r" b="b"/>
              <a:pathLst>
                <a:path w="812800" h="905599">
                  <a:moveTo>
                    <a:pt x="406400" y="0"/>
                  </a:moveTo>
                  <a:cubicBezTo>
                    <a:pt x="181951" y="0"/>
                    <a:pt x="0" y="202725"/>
                    <a:pt x="0" y="452800"/>
                  </a:cubicBezTo>
                  <a:cubicBezTo>
                    <a:pt x="0" y="702874"/>
                    <a:pt x="181951" y="905599"/>
                    <a:pt x="406400" y="905599"/>
                  </a:cubicBezTo>
                  <a:cubicBezTo>
                    <a:pt x="630849" y="905599"/>
                    <a:pt x="812800" y="702874"/>
                    <a:pt x="812800" y="452800"/>
                  </a:cubicBezTo>
                  <a:cubicBezTo>
                    <a:pt x="812800" y="202725"/>
                    <a:pt x="630849" y="0"/>
                    <a:pt x="406400" y="0"/>
                  </a:cubicBezTo>
                  <a:close/>
                </a:path>
              </a:pathLst>
            </a:custGeom>
            <a:solidFill>
              <a:srgbClr val="FFFFFF"/>
            </a:solidFill>
          </p:spPr>
        </p:sp>
        <p:sp>
          <p:nvSpPr>
            <p:cNvPr id="6" name="TextBox 6"/>
            <p:cNvSpPr txBox="1"/>
            <p:nvPr/>
          </p:nvSpPr>
          <p:spPr>
            <a:xfrm>
              <a:off x="76200" y="27750"/>
              <a:ext cx="660400" cy="792949"/>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10614427" y="9258300"/>
            <a:ext cx="3869446" cy="2406092"/>
          </a:xfrm>
          <a:custGeom>
            <a:avLst/>
            <a:gdLst/>
            <a:ahLst/>
            <a:cxnLst/>
            <a:rect l="l" t="t" r="r" b="b"/>
            <a:pathLst>
              <a:path w="3869446" h="2406092">
                <a:moveTo>
                  <a:pt x="0" y="0"/>
                </a:moveTo>
                <a:lnTo>
                  <a:pt x="3869446" y="0"/>
                </a:lnTo>
                <a:lnTo>
                  <a:pt x="3869446" y="2406092"/>
                </a:lnTo>
                <a:lnTo>
                  <a:pt x="0" y="240609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492763" y="3491235"/>
            <a:ext cx="5818701" cy="4509493"/>
          </a:xfrm>
          <a:custGeom>
            <a:avLst/>
            <a:gdLst/>
            <a:ahLst/>
            <a:cxnLst/>
            <a:rect l="l" t="t" r="r" b="b"/>
            <a:pathLst>
              <a:path w="5818701" h="4509493">
                <a:moveTo>
                  <a:pt x="0" y="0"/>
                </a:moveTo>
                <a:lnTo>
                  <a:pt x="5818701" y="0"/>
                </a:lnTo>
                <a:lnTo>
                  <a:pt x="5818701" y="4509493"/>
                </a:lnTo>
                <a:lnTo>
                  <a:pt x="0" y="4509493"/>
                </a:lnTo>
                <a:lnTo>
                  <a:pt x="0" y="0"/>
                </a:lnTo>
                <a:close/>
              </a:path>
            </a:pathLst>
          </a:custGeom>
          <a:blipFill>
            <a:blip r:embed="rId5"/>
            <a:stretch>
              <a:fillRect/>
            </a:stretch>
          </a:blipFill>
        </p:spPr>
      </p:sp>
      <p:sp>
        <p:nvSpPr>
          <p:cNvPr id="9" name="TextBox 9"/>
          <p:cNvSpPr txBox="1"/>
          <p:nvPr/>
        </p:nvSpPr>
        <p:spPr>
          <a:xfrm>
            <a:off x="6918573" y="3310260"/>
            <a:ext cx="9138875" cy="5543552"/>
          </a:xfrm>
          <a:prstGeom prst="rect">
            <a:avLst/>
          </a:prstGeom>
        </p:spPr>
        <p:txBody>
          <a:bodyPr lIns="0" tIns="0" rIns="0" bIns="0" rtlCol="0" anchor="t">
            <a:spAutoFit/>
          </a:bodyPr>
          <a:lstStyle/>
          <a:p>
            <a:pPr marL="820412" lvl="1" indent="-410206" algn="l">
              <a:lnSpc>
                <a:spcPts val="6459"/>
              </a:lnSpc>
              <a:buFont typeface="Arial"/>
              <a:buChar char="•"/>
            </a:pPr>
            <a:r>
              <a:rPr lang="en-US" sz="3799" u="sng">
                <a:solidFill>
                  <a:srgbClr val="FFFFFF"/>
                </a:solidFill>
                <a:latin typeface="Quicksand"/>
                <a:ea typeface="Quicksand"/>
                <a:cs typeface="Quicksand"/>
                <a:sym typeface="Quicksand"/>
                <a:hlinkClick r:id="rId6" tooltip="https://app.smartsheet.com/b/publish?EQBCT=ba3f2803d4794d259c3b3ad260b8b9d1"/>
              </a:rPr>
              <a:t>EM PTO Request Form and Calendar</a:t>
            </a:r>
            <a:r>
              <a:rPr lang="en-US" sz="3799">
                <a:solidFill>
                  <a:srgbClr val="FFFFFF"/>
                </a:solidFill>
                <a:latin typeface="Quicksand"/>
                <a:ea typeface="Quicksand"/>
                <a:cs typeface="Quicksand"/>
                <a:sym typeface="Quicksand"/>
              </a:rPr>
              <a:t>​</a:t>
            </a:r>
          </a:p>
          <a:p>
            <a:pPr marL="820412" lvl="1" indent="-410206" algn="l">
              <a:lnSpc>
                <a:spcPts val="6459"/>
              </a:lnSpc>
              <a:buFont typeface="Arial"/>
              <a:buChar char="•"/>
            </a:pPr>
            <a:r>
              <a:rPr lang="en-US" sz="3799" u="sng">
                <a:solidFill>
                  <a:srgbClr val="FFFFFF"/>
                </a:solidFill>
                <a:latin typeface="Quicksand"/>
                <a:ea typeface="Quicksand"/>
                <a:cs typeface="Quicksand"/>
                <a:sym typeface="Quicksand"/>
                <a:hlinkClick r:id="rId7" tooltip="https://realpage.sharepoint.com/teams/PHCustomerSuccess/Lists/sample1/All%20Items.aspx"/>
              </a:rPr>
              <a:t>PH PSG PTO Process </a:t>
            </a:r>
            <a:r>
              <a:rPr lang="en-US" sz="3799">
                <a:solidFill>
                  <a:srgbClr val="FFFFFF"/>
                </a:solidFill>
                <a:latin typeface="Quicksand"/>
                <a:ea typeface="Quicksand"/>
                <a:cs typeface="Quicksand"/>
                <a:sym typeface="Quicksand"/>
              </a:rPr>
              <a:t>​</a:t>
            </a:r>
          </a:p>
          <a:p>
            <a:pPr marL="820412" lvl="1" indent="-410206" algn="l">
              <a:lnSpc>
                <a:spcPts val="6459"/>
              </a:lnSpc>
              <a:buFont typeface="Arial"/>
              <a:buChar char="•"/>
            </a:pPr>
            <a:r>
              <a:rPr lang="en-US" sz="3799">
                <a:solidFill>
                  <a:srgbClr val="FFFFFF"/>
                </a:solidFill>
                <a:latin typeface="Quicksand"/>
                <a:ea typeface="Quicksand"/>
                <a:cs typeface="Quicksand"/>
                <a:sym typeface="Quicksand"/>
              </a:rPr>
              <a:t>OOO Buddy/Endorsements​</a:t>
            </a:r>
          </a:p>
          <a:p>
            <a:pPr marL="820412" lvl="1" indent="-410206" algn="l">
              <a:lnSpc>
                <a:spcPts val="6459"/>
              </a:lnSpc>
              <a:buFont typeface="Arial"/>
              <a:buChar char="•"/>
            </a:pPr>
            <a:r>
              <a:rPr lang="en-US" sz="3799">
                <a:solidFill>
                  <a:srgbClr val="FFFFFF"/>
                </a:solidFill>
                <a:latin typeface="Quicksand"/>
                <a:ea typeface="Quicksand"/>
                <a:cs typeface="Quicksand"/>
                <a:sym typeface="Quicksand"/>
              </a:rPr>
              <a:t>Calendar and Auto-Replies​</a:t>
            </a:r>
          </a:p>
          <a:p>
            <a:pPr marL="820412" lvl="1" indent="-410206" algn="l">
              <a:lnSpc>
                <a:spcPts val="6459"/>
              </a:lnSpc>
              <a:buFont typeface="Arial"/>
              <a:buChar char="•"/>
            </a:pPr>
            <a:r>
              <a:rPr lang="en-US" sz="3799">
                <a:solidFill>
                  <a:srgbClr val="FFFFFF"/>
                </a:solidFill>
                <a:latin typeface="Quicksand"/>
                <a:ea typeface="Quicksand"/>
                <a:cs typeface="Quicksand"/>
                <a:sym typeface="Quicksand"/>
              </a:rPr>
              <a:t>Client and SC Notifications​</a:t>
            </a:r>
          </a:p>
          <a:p>
            <a:pPr marL="820412" lvl="1" indent="-410206" algn="l">
              <a:lnSpc>
                <a:spcPts val="6459"/>
              </a:lnSpc>
              <a:buFont typeface="Arial"/>
              <a:buChar char="•"/>
            </a:pPr>
            <a:r>
              <a:rPr lang="en-US" sz="3799">
                <a:solidFill>
                  <a:srgbClr val="FFFFFF"/>
                </a:solidFill>
                <a:latin typeface="Quicksand"/>
                <a:ea typeface="Quicksand"/>
                <a:cs typeface="Quicksand"/>
                <a:sym typeface="Quicksand"/>
              </a:rPr>
              <a:t>Dayforce</a:t>
            </a:r>
          </a:p>
          <a:p>
            <a:pPr marL="0" lvl="0" indent="0" algn="l">
              <a:lnSpc>
                <a:spcPts val="5269"/>
              </a:lnSpc>
            </a:pPr>
            <a:endParaRPr lang="en-US" sz="3799">
              <a:solidFill>
                <a:srgbClr val="FFFFFF"/>
              </a:solidFill>
              <a:latin typeface="Quicksand"/>
              <a:ea typeface="Quicksand"/>
              <a:cs typeface="Quicksand"/>
              <a:sym typeface="Quicksand"/>
            </a:endParaRPr>
          </a:p>
        </p:txBody>
      </p:sp>
      <p:sp>
        <p:nvSpPr>
          <p:cNvPr id="10" name="TextBox 10"/>
          <p:cNvSpPr txBox="1"/>
          <p:nvPr/>
        </p:nvSpPr>
        <p:spPr>
          <a:xfrm>
            <a:off x="6918573" y="1859735"/>
            <a:ext cx="8115855" cy="1171575"/>
          </a:xfrm>
          <a:prstGeom prst="rect">
            <a:avLst/>
          </a:prstGeom>
        </p:spPr>
        <p:txBody>
          <a:bodyPr lIns="0" tIns="0" rIns="0" bIns="0" rtlCol="0" anchor="t">
            <a:spAutoFit/>
          </a:bodyPr>
          <a:lstStyle/>
          <a:p>
            <a:pPr marL="0" lvl="0" indent="0" algn="l">
              <a:lnSpc>
                <a:spcPts val="8640"/>
              </a:lnSpc>
            </a:pPr>
            <a:r>
              <a:rPr lang="en-US" sz="7200" b="1">
                <a:solidFill>
                  <a:srgbClr val="FFFFFF"/>
                </a:solidFill>
                <a:latin typeface="Blogger Bold"/>
                <a:ea typeface="Blogger Bold"/>
                <a:cs typeface="Blogger Bold"/>
                <a:sym typeface="Blogger Bold"/>
              </a:rPr>
              <a:t>PTO Guidelines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flipH="1" flipV="1">
            <a:off x="13195935" y="5194935"/>
            <a:ext cx="5092065" cy="5092065"/>
          </a:xfrm>
          <a:custGeom>
            <a:avLst/>
            <a:gdLst/>
            <a:ahLst/>
            <a:cxnLst/>
            <a:rect l="l" t="t" r="r" b="b"/>
            <a:pathLst>
              <a:path w="5092065" h="5092065">
                <a:moveTo>
                  <a:pt x="5092065" y="5092065"/>
                </a:moveTo>
                <a:lnTo>
                  <a:pt x="0" y="5092065"/>
                </a:lnTo>
                <a:lnTo>
                  <a:pt x="0" y="0"/>
                </a:lnTo>
                <a:lnTo>
                  <a:pt x="5092065" y="0"/>
                </a:lnTo>
                <a:lnTo>
                  <a:pt x="5092065" y="5092065"/>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851813">
            <a:off x="14914318" y="-1886969"/>
            <a:ext cx="4855221" cy="4114800"/>
          </a:xfrm>
          <a:custGeom>
            <a:avLst/>
            <a:gdLst/>
            <a:ahLst/>
            <a:cxnLst/>
            <a:rect l="l" t="t" r="r" b="b"/>
            <a:pathLst>
              <a:path w="4855221" h="4114800">
                <a:moveTo>
                  <a:pt x="0" y="0"/>
                </a:moveTo>
                <a:lnTo>
                  <a:pt x="4855221" y="0"/>
                </a:lnTo>
                <a:lnTo>
                  <a:pt x="485522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5433923" y="1641884"/>
            <a:ext cx="1247048" cy="1389426"/>
            <a:chOff x="0" y="0"/>
            <a:chExt cx="812800" cy="905599"/>
          </a:xfrm>
        </p:grpSpPr>
        <p:sp>
          <p:nvSpPr>
            <p:cNvPr id="5" name="Freeform 5"/>
            <p:cNvSpPr/>
            <p:nvPr/>
          </p:nvSpPr>
          <p:spPr>
            <a:xfrm>
              <a:off x="0" y="0"/>
              <a:ext cx="812800" cy="905599"/>
            </a:xfrm>
            <a:custGeom>
              <a:avLst/>
              <a:gdLst/>
              <a:ahLst/>
              <a:cxnLst/>
              <a:rect l="l" t="t" r="r" b="b"/>
              <a:pathLst>
                <a:path w="812800" h="905599">
                  <a:moveTo>
                    <a:pt x="406400" y="0"/>
                  </a:moveTo>
                  <a:cubicBezTo>
                    <a:pt x="181951" y="0"/>
                    <a:pt x="0" y="202725"/>
                    <a:pt x="0" y="452800"/>
                  </a:cubicBezTo>
                  <a:cubicBezTo>
                    <a:pt x="0" y="702874"/>
                    <a:pt x="181951" y="905599"/>
                    <a:pt x="406400" y="905599"/>
                  </a:cubicBezTo>
                  <a:cubicBezTo>
                    <a:pt x="630849" y="905599"/>
                    <a:pt x="812800" y="702874"/>
                    <a:pt x="812800" y="452800"/>
                  </a:cubicBezTo>
                  <a:cubicBezTo>
                    <a:pt x="812800" y="202725"/>
                    <a:pt x="630849" y="0"/>
                    <a:pt x="406400" y="0"/>
                  </a:cubicBezTo>
                  <a:close/>
                </a:path>
              </a:pathLst>
            </a:custGeom>
            <a:solidFill>
              <a:srgbClr val="FD9C37"/>
            </a:solidFill>
          </p:spPr>
        </p:sp>
        <p:sp>
          <p:nvSpPr>
            <p:cNvPr id="6" name="TextBox 6"/>
            <p:cNvSpPr txBox="1"/>
            <p:nvPr/>
          </p:nvSpPr>
          <p:spPr>
            <a:xfrm>
              <a:off x="76200" y="27750"/>
              <a:ext cx="660400" cy="792949"/>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6918573" y="4367710"/>
            <a:ext cx="8823395" cy="5429251"/>
          </a:xfrm>
          <a:prstGeom prst="rect">
            <a:avLst/>
          </a:prstGeom>
        </p:spPr>
        <p:txBody>
          <a:bodyPr lIns="0" tIns="0" rIns="0" bIns="0" rtlCol="0" anchor="t">
            <a:spAutoFit/>
          </a:bodyPr>
          <a:lstStyle/>
          <a:p>
            <a:pPr marL="539749" lvl="1" indent="-269875" algn="l">
              <a:lnSpc>
                <a:spcPts val="4249"/>
              </a:lnSpc>
              <a:buFont typeface="Arial"/>
              <a:buChar char="•"/>
            </a:pPr>
            <a:r>
              <a:rPr lang="en-US" sz="2499">
                <a:solidFill>
                  <a:srgbClr val="FFFFFF"/>
                </a:solidFill>
                <a:latin typeface="Quicksand"/>
                <a:ea typeface="Quicksand"/>
                <a:cs typeface="Quicksand"/>
                <a:sym typeface="Quicksand"/>
              </a:rPr>
              <a:t>Weekly / Bi-weekly 1:1​</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Discuss Projects​</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Raise Questions​</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Share Observations/Clarifications (Shadowing)​</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Weekly Project Update (Email)​</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Annual &amp; Mid-Year Performance Review​</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Bi-Weekly EM Meetings (Mondays 10AM CT)​</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Bi-Weekly Cluster Meetings (Wednesdays* 10 AM CT)​</a:t>
            </a:r>
          </a:p>
          <a:p>
            <a:pPr marL="539749" lvl="1" indent="-269875" algn="l">
              <a:lnSpc>
                <a:spcPts val="4249"/>
              </a:lnSpc>
              <a:buFont typeface="Arial"/>
              <a:buChar char="•"/>
            </a:pPr>
            <a:r>
              <a:rPr lang="en-US" sz="2499">
                <a:solidFill>
                  <a:srgbClr val="FFFFFF"/>
                </a:solidFill>
                <a:latin typeface="Quicksand"/>
                <a:ea typeface="Quicksand"/>
                <a:cs typeface="Quicksand"/>
                <a:sym typeface="Quicksand"/>
              </a:rPr>
              <a:t>PH EC Connect (TBD)​</a:t>
            </a:r>
          </a:p>
          <a:p>
            <a:pPr marL="0" lvl="0" indent="0" algn="l">
              <a:lnSpc>
                <a:spcPts val="5439"/>
              </a:lnSpc>
            </a:pPr>
            <a:endParaRPr lang="en-US" sz="2499">
              <a:solidFill>
                <a:srgbClr val="FFFFFF"/>
              </a:solidFill>
              <a:latin typeface="Quicksand"/>
              <a:ea typeface="Quicksand"/>
              <a:cs typeface="Quicksand"/>
              <a:sym typeface="Quicksand"/>
            </a:endParaRPr>
          </a:p>
        </p:txBody>
      </p:sp>
      <p:sp>
        <p:nvSpPr>
          <p:cNvPr id="8" name="Freeform 8"/>
          <p:cNvSpPr/>
          <p:nvPr/>
        </p:nvSpPr>
        <p:spPr>
          <a:xfrm>
            <a:off x="10614427" y="9258300"/>
            <a:ext cx="3869446" cy="2406092"/>
          </a:xfrm>
          <a:custGeom>
            <a:avLst/>
            <a:gdLst/>
            <a:ahLst/>
            <a:cxnLst/>
            <a:rect l="l" t="t" r="r" b="b"/>
            <a:pathLst>
              <a:path w="3869446" h="2406092">
                <a:moveTo>
                  <a:pt x="0" y="0"/>
                </a:moveTo>
                <a:lnTo>
                  <a:pt x="3869446" y="0"/>
                </a:lnTo>
                <a:lnTo>
                  <a:pt x="3869446" y="2406092"/>
                </a:lnTo>
                <a:lnTo>
                  <a:pt x="0" y="240609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492763" y="1935935"/>
            <a:ext cx="5797904" cy="6861425"/>
          </a:xfrm>
          <a:custGeom>
            <a:avLst/>
            <a:gdLst/>
            <a:ahLst/>
            <a:cxnLst/>
            <a:rect l="l" t="t" r="r" b="b"/>
            <a:pathLst>
              <a:path w="5797904" h="6861425">
                <a:moveTo>
                  <a:pt x="0" y="0"/>
                </a:moveTo>
                <a:lnTo>
                  <a:pt x="5797904" y="0"/>
                </a:lnTo>
                <a:lnTo>
                  <a:pt x="5797904" y="6861425"/>
                </a:lnTo>
                <a:lnTo>
                  <a:pt x="0" y="686142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6918573" y="1859735"/>
            <a:ext cx="8115855" cy="2266950"/>
          </a:xfrm>
          <a:prstGeom prst="rect">
            <a:avLst/>
          </a:prstGeom>
        </p:spPr>
        <p:txBody>
          <a:bodyPr lIns="0" tIns="0" rIns="0" bIns="0" rtlCol="0" anchor="t">
            <a:spAutoFit/>
          </a:bodyPr>
          <a:lstStyle/>
          <a:p>
            <a:pPr marL="0" lvl="0" indent="0" algn="l">
              <a:lnSpc>
                <a:spcPts val="8640"/>
              </a:lnSpc>
            </a:pPr>
            <a:r>
              <a:rPr lang="en-US" sz="7200" b="1">
                <a:solidFill>
                  <a:srgbClr val="FFFFFF"/>
                </a:solidFill>
                <a:latin typeface="Blogger Bold"/>
                <a:ea typeface="Blogger Bold"/>
                <a:cs typeface="Blogger Bold"/>
                <a:sym typeface="Blogger Bold"/>
              </a:rPr>
              <a:t>Coaching &amp; Team Meetings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grpSp>
        <p:nvGrpSpPr>
          <p:cNvPr id="2" name="Group 2"/>
          <p:cNvGrpSpPr/>
          <p:nvPr/>
        </p:nvGrpSpPr>
        <p:grpSpPr>
          <a:xfrm>
            <a:off x="10858676" y="2708745"/>
            <a:ext cx="5246370" cy="5556885"/>
            <a:chOff x="0" y="0"/>
            <a:chExt cx="812800" cy="860907"/>
          </a:xfrm>
        </p:grpSpPr>
        <p:sp>
          <p:nvSpPr>
            <p:cNvPr id="3" name="Freeform 3"/>
            <p:cNvSpPr/>
            <p:nvPr/>
          </p:nvSpPr>
          <p:spPr>
            <a:xfrm>
              <a:off x="0" y="0"/>
              <a:ext cx="812800" cy="860907"/>
            </a:xfrm>
            <a:custGeom>
              <a:avLst/>
              <a:gdLst/>
              <a:ahLst/>
              <a:cxnLst/>
              <a:rect l="l" t="t" r="r" b="b"/>
              <a:pathLst>
                <a:path w="812800" h="860907">
                  <a:moveTo>
                    <a:pt x="0" y="0"/>
                  </a:moveTo>
                  <a:lnTo>
                    <a:pt x="812800" y="0"/>
                  </a:lnTo>
                  <a:lnTo>
                    <a:pt x="812800" y="860907"/>
                  </a:lnTo>
                  <a:lnTo>
                    <a:pt x="0" y="860907"/>
                  </a:lnTo>
                  <a:close/>
                </a:path>
              </a:pathLst>
            </a:custGeom>
            <a:blipFill>
              <a:blip r:embed="rId2"/>
              <a:stretch>
                <a:fillRect t="-11707" b="-11707"/>
              </a:stretch>
            </a:blipFill>
          </p:spPr>
        </p:sp>
      </p:grpSp>
      <p:grpSp>
        <p:nvGrpSpPr>
          <p:cNvPr id="4" name="Group 4"/>
          <p:cNvGrpSpPr/>
          <p:nvPr/>
        </p:nvGrpSpPr>
        <p:grpSpPr>
          <a:xfrm>
            <a:off x="10860353" y="-4141"/>
            <a:ext cx="4177116" cy="2331885"/>
            <a:chOff x="0" y="0"/>
            <a:chExt cx="1100146" cy="614159"/>
          </a:xfrm>
        </p:grpSpPr>
        <p:sp>
          <p:nvSpPr>
            <p:cNvPr id="5" name="Freeform 5"/>
            <p:cNvSpPr/>
            <p:nvPr/>
          </p:nvSpPr>
          <p:spPr>
            <a:xfrm>
              <a:off x="0" y="0"/>
              <a:ext cx="1100146" cy="614159"/>
            </a:xfrm>
            <a:custGeom>
              <a:avLst/>
              <a:gdLst/>
              <a:ahLst/>
              <a:cxnLst/>
              <a:rect l="l" t="t" r="r" b="b"/>
              <a:pathLst>
                <a:path w="1100146" h="614159">
                  <a:moveTo>
                    <a:pt x="0" y="0"/>
                  </a:moveTo>
                  <a:lnTo>
                    <a:pt x="1100146" y="0"/>
                  </a:lnTo>
                  <a:lnTo>
                    <a:pt x="1100146" y="614159"/>
                  </a:lnTo>
                  <a:lnTo>
                    <a:pt x="0" y="614159"/>
                  </a:lnTo>
                  <a:close/>
                </a:path>
              </a:pathLst>
            </a:custGeom>
            <a:solidFill>
              <a:srgbClr val="FD9C37"/>
            </a:solidFill>
          </p:spPr>
        </p:sp>
        <p:sp>
          <p:nvSpPr>
            <p:cNvPr id="6" name="TextBox 6"/>
            <p:cNvSpPr txBox="1"/>
            <p:nvPr/>
          </p:nvSpPr>
          <p:spPr>
            <a:xfrm>
              <a:off x="0" y="-57150"/>
              <a:ext cx="1100146" cy="671309"/>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5439197" y="0"/>
            <a:ext cx="2848803" cy="2331885"/>
            <a:chOff x="0" y="0"/>
            <a:chExt cx="750302" cy="614159"/>
          </a:xfrm>
        </p:grpSpPr>
        <p:sp>
          <p:nvSpPr>
            <p:cNvPr id="8" name="Freeform 8"/>
            <p:cNvSpPr/>
            <p:nvPr/>
          </p:nvSpPr>
          <p:spPr>
            <a:xfrm>
              <a:off x="0" y="0"/>
              <a:ext cx="750302" cy="614159"/>
            </a:xfrm>
            <a:custGeom>
              <a:avLst/>
              <a:gdLst/>
              <a:ahLst/>
              <a:cxnLst/>
              <a:rect l="l" t="t" r="r" b="b"/>
              <a:pathLst>
                <a:path w="750302" h="614159">
                  <a:moveTo>
                    <a:pt x="0" y="0"/>
                  </a:moveTo>
                  <a:lnTo>
                    <a:pt x="750302" y="0"/>
                  </a:lnTo>
                  <a:lnTo>
                    <a:pt x="750302" y="614159"/>
                  </a:lnTo>
                  <a:lnTo>
                    <a:pt x="0" y="614159"/>
                  </a:lnTo>
                  <a:close/>
                </a:path>
              </a:pathLst>
            </a:custGeom>
            <a:solidFill>
              <a:srgbClr val="FD9C37"/>
            </a:solidFill>
          </p:spPr>
        </p:sp>
        <p:sp>
          <p:nvSpPr>
            <p:cNvPr id="9" name="TextBox 9"/>
            <p:cNvSpPr txBox="1"/>
            <p:nvPr/>
          </p:nvSpPr>
          <p:spPr>
            <a:xfrm>
              <a:off x="0" y="-57150"/>
              <a:ext cx="750302" cy="671309"/>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16507034" y="2708745"/>
            <a:ext cx="1780966" cy="3779520"/>
            <a:chOff x="0" y="0"/>
            <a:chExt cx="469061" cy="995429"/>
          </a:xfrm>
        </p:grpSpPr>
        <p:sp>
          <p:nvSpPr>
            <p:cNvPr id="11" name="Freeform 11"/>
            <p:cNvSpPr/>
            <p:nvPr/>
          </p:nvSpPr>
          <p:spPr>
            <a:xfrm>
              <a:off x="0" y="0"/>
              <a:ext cx="469061" cy="995429"/>
            </a:xfrm>
            <a:custGeom>
              <a:avLst/>
              <a:gdLst/>
              <a:ahLst/>
              <a:cxnLst/>
              <a:rect l="l" t="t" r="r" b="b"/>
              <a:pathLst>
                <a:path w="469061" h="995429">
                  <a:moveTo>
                    <a:pt x="0" y="0"/>
                  </a:moveTo>
                  <a:lnTo>
                    <a:pt x="469061" y="0"/>
                  </a:lnTo>
                  <a:lnTo>
                    <a:pt x="469061" y="995429"/>
                  </a:lnTo>
                  <a:lnTo>
                    <a:pt x="0" y="995429"/>
                  </a:lnTo>
                  <a:close/>
                </a:path>
              </a:pathLst>
            </a:custGeom>
            <a:solidFill>
              <a:srgbClr val="FFFFFF"/>
            </a:solidFill>
          </p:spPr>
        </p:sp>
        <p:sp>
          <p:nvSpPr>
            <p:cNvPr id="12" name="TextBox 12"/>
            <p:cNvSpPr txBox="1"/>
            <p:nvPr/>
          </p:nvSpPr>
          <p:spPr>
            <a:xfrm>
              <a:off x="0" y="-57150"/>
              <a:ext cx="469061" cy="1052579"/>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16507034" y="6850215"/>
            <a:ext cx="1780966" cy="1415415"/>
            <a:chOff x="0" y="0"/>
            <a:chExt cx="469061" cy="372784"/>
          </a:xfrm>
        </p:grpSpPr>
        <p:sp>
          <p:nvSpPr>
            <p:cNvPr id="14" name="Freeform 14"/>
            <p:cNvSpPr/>
            <p:nvPr/>
          </p:nvSpPr>
          <p:spPr>
            <a:xfrm>
              <a:off x="0" y="0"/>
              <a:ext cx="469061" cy="372784"/>
            </a:xfrm>
            <a:custGeom>
              <a:avLst/>
              <a:gdLst/>
              <a:ahLst/>
              <a:cxnLst/>
              <a:rect l="l" t="t" r="r" b="b"/>
              <a:pathLst>
                <a:path w="469061" h="372784">
                  <a:moveTo>
                    <a:pt x="0" y="0"/>
                  </a:moveTo>
                  <a:lnTo>
                    <a:pt x="469061" y="0"/>
                  </a:lnTo>
                  <a:lnTo>
                    <a:pt x="469061" y="372784"/>
                  </a:lnTo>
                  <a:lnTo>
                    <a:pt x="0" y="372784"/>
                  </a:lnTo>
                  <a:close/>
                </a:path>
              </a:pathLst>
            </a:custGeom>
            <a:solidFill>
              <a:srgbClr val="FFFFFF"/>
            </a:solidFill>
          </p:spPr>
        </p:sp>
        <p:sp>
          <p:nvSpPr>
            <p:cNvPr id="15" name="TextBox 15"/>
            <p:cNvSpPr txBox="1"/>
            <p:nvPr/>
          </p:nvSpPr>
          <p:spPr>
            <a:xfrm>
              <a:off x="0" y="-57150"/>
              <a:ext cx="469061" cy="429934"/>
            </a:xfrm>
            <a:prstGeom prst="rect">
              <a:avLst/>
            </a:prstGeom>
          </p:spPr>
          <p:txBody>
            <a:bodyPr lIns="50800" tIns="50800" rIns="50800" bIns="50800" rtlCol="0" anchor="ctr"/>
            <a:lstStyle/>
            <a:p>
              <a:pPr algn="ctr">
                <a:lnSpc>
                  <a:spcPts val="3359"/>
                </a:lnSpc>
              </a:pPr>
              <a:endParaRPr/>
            </a:p>
          </p:txBody>
        </p:sp>
      </p:grpSp>
      <p:grpSp>
        <p:nvGrpSpPr>
          <p:cNvPr id="16" name="Group 16"/>
          <p:cNvGrpSpPr/>
          <p:nvPr/>
        </p:nvGrpSpPr>
        <p:grpSpPr>
          <a:xfrm>
            <a:off x="10858676" y="8646630"/>
            <a:ext cx="5246370" cy="1640370"/>
            <a:chOff x="0" y="0"/>
            <a:chExt cx="1381760" cy="432032"/>
          </a:xfrm>
        </p:grpSpPr>
        <p:sp>
          <p:nvSpPr>
            <p:cNvPr id="17" name="Freeform 17"/>
            <p:cNvSpPr/>
            <p:nvPr/>
          </p:nvSpPr>
          <p:spPr>
            <a:xfrm>
              <a:off x="0" y="0"/>
              <a:ext cx="1381760" cy="432032"/>
            </a:xfrm>
            <a:custGeom>
              <a:avLst/>
              <a:gdLst/>
              <a:ahLst/>
              <a:cxnLst/>
              <a:rect l="l" t="t" r="r" b="b"/>
              <a:pathLst>
                <a:path w="1381760" h="432032">
                  <a:moveTo>
                    <a:pt x="0" y="0"/>
                  </a:moveTo>
                  <a:lnTo>
                    <a:pt x="1381760" y="0"/>
                  </a:lnTo>
                  <a:lnTo>
                    <a:pt x="1381760" y="432032"/>
                  </a:lnTo>
                  <a:lnTo>
                    <a:pt x="0" y="432032"/>
                  </a:lnTo>
                  <a:close/>
                </a:path>
              </a:pathLst>
            </a:custGeom>
            <a:solidFill>
              <a:srgbClr val="FD9C37"/>
            </a:solidFill>
          </p:spPr>
        </p:sp>
        <p:sp>
          <p:nvSpPr>
            <p:cNvPr id="18" name="TextBox 18"/>
            <p:cNvSpPr txBox="1"/>
            <p:nvPr/>
          </p:nvSpPr>
          <p:spPr>
            <a:xfrm>
              <a:off x="0" y="-57150"/>
              <a:ext cx="1381760" cy="489182"/>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16507034" y="8646630"/>
            <a:ext cx="1780966" cy="1640370"/>
            <a:chOff x="0" y="0"/>
            <a:chExt cx="469061" cy="432032"/>
          </a:xfrm>
        </p:grpSpPr>
        <p:sp>
          <p:nvSpPr>
            <p:cNvPr id="20" name="Freeform 20"/>
            <p:cNvSpPr/>
            <p:nvPr/>
          </p:nvSpPr>
          <p:spPr>
            <a:xfrm>
              <a:off x="0" y="0"/>
              <a:ext cx="469061" cy="432032"/>
            </a:xfrm>
            <a:custGeom>
              <a:avLst/>
              <a:gdLst/>
              <a:ahLst/>
              <a:cxnLst/>
              <a:rect l="l" t="t" r="r" b="b"/>
              <a:pathLst>
                <a:path w="469061" h="432032">
                  <a:moveTo>
                    <a:pt x="0" y="0"/>
                  </a:moveTo>
                  <a:lnTo>
                    <a:pt x="469061" y="0"/>
                  </a:lnTo>
                  <a:lnTo>
                    <a:pt x="469061" y="432032"/>
                  </a:lnTo>
                  <a:lnTo>
                    <a:pt x="0" y="432032"/>
                  </a:lnTo>
                  <a:close/>
                </a:path>
              </a:pathLst>
            </a:custGeom>
            <a:solidFill>
              <a:srgbClr val="6C757D"/>
            </a:solidFill>
          </p:spPr>
        </p:sp>
        <p:sp>
          <p:nvSpPr>
            <p:cNvPr id="21" name="TextBox 21"/>
            <p:cNvSpPr txBox="1"/>
            <p:nvPr/>
          </p:nvSpPr>
          <p:spPr>
            <a:xfrm>
              <a:off x="0" y="-57150"/>
              <a:ext cx="469061" cy="489182"/>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8772578" y="-4141"/>
            <a:ext cx="1686048" cy="2331885"/>
            <a:chOff x="0" y="0"/>
            <a:chExt cx="444062" cy="614159"/>
          </a:xfrm>
        </p:grpSpPr>
        <p:sp>
          <p:nvSpPr>
            <p:cNvPr id="23" name="Freeform 23"/>
            <p:cNvSpPr/>
            <p:nvPr/>
          </p:nvSpPr>
          <p:spPr>
            <a:xfrm>
              <a:off x="0" y="0"/>
              <a:ext cx="444062" cy="614159"/>
            </a:xfrm>
            <a:custGeom>
              <a:avLst/>
              <a:gdLst/>
              <a:ahLst/>
              <a:cxnLst/>
              <a:rect l="l" t="t" r="r" b="b"/>
              <a:pathLst>
                <a:path w="444062" h="614159">
                  <a:moveTo>
                    <a:pt x="0" y="0"/>
                  </a:moveTo>
                  <a:lnTo>
                    <a:pt x="444062" y="0"/>
                  </a:lnTo>
                  <a:lnTo>
                    <a:pt x="444062" y="614159"/>
                  </a:lnTo>
                  <a:lnTo>
                    <a:pt x="0" y="614159"/>
                  </a:lnTo>
                  <a:close/>
                </a:path>
              </a:pathLst>
            </a:custGeom>
            <a:solidFill>
              <a:srgbClr val="FFFFFF"/>
            </a:solidFill>
          </p:spPr>
        </p:sp>
        <p:sp>
          <p:nvSpPr>
            <p:cNvPr id="24" name="TextBox 24"/>
            <p:cNvSpPr txBox="1"/>
            <p:nvPr/>
          </p:nvSpPr>
          <p:spPr>
            <a:xfrm>
              <a:off x="0" y="-57150"/>
              <a:ext cx="444062" cy="671309"/>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960639" y="1537170"/>
            <a:ext cx="6345089" cy="2266950"/>
          </a:xfrm>
          <a:prstGeom prst="rect">
            <a:avLst/>
          </a:prstGeom>
        </p:spPr>
        <p:txBody>
          <a:bodyPr lIns="0" tIns="0" rIns="0" bIns="0" rtlCol="0" anchor="t">
            <a:spAutoFit/>
          </a:bodyPr>
          <a:lstStyle/>
          <a:p>
            <a:pPr marL="0" lvl="0" indent="0" algn="l">
              <a:lnSpc>
                <a:spcPts val="8640"/>
              </a:lnSpc>
            </a:pPr>
            <a:r>
              <a:rPr lang="en-US" sz="7200" b="1">
                <a:solidFill>
                  <a:srgbClr val="FFFFFF"/>
                </a:solidFill>
                <a:latin typeface="Blogger Bold"/>
                <a:ea typeface="Blogger Bold"/>
                <a:cs typeface="Blogger Bold"/>
                <a:sym typeface="Blogger Bold"/>
              </a:rPr>
              <a:t>Onboarding Calendar</a:t>
            </a:r>
          </a:p>
        </p:txBody>
      </p:sp>
      <p:grpSp>
        <p:nvGrpSpPr>
          <p:cNvPr id="26" name="Group 26"/>
          <p:cNvGrpSpPr/>
          <p:nvPr/>
        </p:nvGrpSpPr>
        <p:grpSpPr>
          <a:xfrm>
            <a:off x="8772578" y="2708745"/>
            <a:ext cx="1686048" cy="2886239"/>
            <a:chOff x="0" y="0"/>
            <a:chExt cx="444062" cy="760162"/>
          </a:xfrm>
        </p:grpSpPr>
        <p:sp>
          <p:nvSpPr>
            <p:cNvPr id="27" name="Freeform 27"/>
            <p:cNvSpPr/>
            <p:nvPr/>
          </p:nvSpPr>
          <p:spPr>
            <a:xfrm>
              <a:off x="0" y="0"/>
              <a:ext cx="444062" cy="760162"/>
            </a:xfrm>
            <a:custGeom>
              <a:avLst/>
              <a:gdLst/>
              <a:ahLst/>
              <a:cxnLst/>
              <a:rect l="l" t="t" r="r" b="b"/>
              <a:pathLst>
                <a:path w="444062" h="760162">
                  <a:moveTo>
                    <a:pt x="0" y="0"/>
                  </a:moveTo>
                  <a:lnTo>
                    <a:pt x="444062" y="0"/>
                  </a:lnTo>
                  <a:lnTo>
                    <a:pt x="444062" y="760162"/>
                  </a:lnTo>
                  <a:lnTo>
                    <a:pt x="0" y="760162"/>
                  </a:lnTo>
                  <a:close/>
                </a:path>
              </a:pathLst>
            </a:custGeom>
            <a:solidFill>
              <a:srgbClr val="FD9C37"/>
            </a:solidFill>
          </p:spPr>
        </p:sp>
        <p:sp>
          <p:nvSpPr>
            <p:cNvPr id="28" name="TextBox 28"/>
            <p:cNvSpPr txBox="1"/>
            <p:nvPr/>
          </p:nvSpPr>
          <p:spPr>
            <a:xfrm>
              <a:off x="0" y="-57150"/>
              <a:ext cx="444062" cy="817312"/>
            </a:xfrm>
            <a:prstGeom prst="rect">
              <a:avLst/>
            </a:prstGeom>
          </p:spPr>
          <p:txBody>
            <a:bodyPr lIns="50800" tIns="50800" rIns="50800" bIns="50800" rtlCol="0" anchor="ctr"/>
            <a:lstStyle/>
            <a:p>
              <a:pPr algn="ctr">
                <a:lnSpc>
                  <a:spcPts val="3359"/>
                </a:lnSpc>
              </a:pPr>
              <a:endParaRPr/>
            </a:p>
          </p:txBody>
        </p:sp>
      </p:grpSp>
      <p:grpSp>
        <p:nvGrpSpPr>
          <p:cNvPr id="29" name="Group 29"/>
          <p:cNvGrpSpPr/>
          <p:nvPr/>
        </p:nvGrpSpPr>
        <p:grpSpPr>
          <a:xfrm>
            <a:off x="8772578" y="6018556"/>
            <a:ext cx="1686048" cy="4268444"/>
            <a:chOff x="0" y="0"/>
            <a:chExt cx="444062" cy="1124199"/>
          </a:xfrm>
        </p:grpSpPr>
        <p:sp>
          <p:nvSpPr>
            <p:cNvPr id="30" name="Freeform 30"/>
            <p:cNvSpPr/>
            <p:nvPr/>
          </p:nvSpPr>
          <p:spPr>
            <a:xfrm>
              <a:off x="0" y="0"/>
              <a:ext cx="444062" cy="1124199"/>
            </a:xfrm>
            <a:custGeom>
              <a:avLst/>
              <a:gdLst/>
              <a:ahLst/>
              <a:cxnLst/>
              <a:rect l="l" t="t" r="r" b="b"/>
              <a:pathLst>
                <a:path w="444062" h="1124199">
                  <a:moveTo>
                    <a:pt x="0" y="0"/>
                  </a:moveTo>
                  <a:lnTo>
                    <a:pt x="444062" y="0"/>
                  </a:lnTo>
                  <a:lnTo>
                    <a:pt x="444062" y="1124199"/>
                  </a:lnTo>
                  <a:lnTo>
                    <a:pt x="0" y="1124199"/>
                  </a:lnTo>
                  <a:close/>
                </a:path>
              </a:pathLst>
            </a:custGeom>
            <a:solidFill>
              <a:srgbClr val="FD9C37"/>
            </a:solidFill>
          </p:spPr>
        </p:sp>
        <p:sp>
          <p:nvSpPr>
            <p:cNvPr id="31" name="TextBox 31"/>
            <p:cNvSpPr txBox="1"/>
            <p:nvPr/>
          </p:nvSpPr>
          <p:spPr>
            <a:xfrm>
              <a:off x="0" y="-57150"/>
              <a:ext cx="444062" cy="1181349"/>
            </a:xfrm>
            <a:prstGeom prst="rect">
              <a:avLst/>
            </a:prstGeom>
          </p:spPr>
          <p:txBody>
            <a:bodyPr lIns="50800" tIns="50800" rIns="50800" bIns="50800" rtlCol="0" anchor="ctr"/>
            <a:lstStyle/>
            <a:p>
              <a:pPr algn="ctr">
                <a:lnSpc>
                  <a:spcPts val="3359"/>
                </a:lnSpc>
              </a:pPr>
              <a:endParaRPr/>
            </a:p>
          </p:txBody>
        </p:sp>
      </p:grpSp>
      <p:sp>
        <p:nvSpPr>
          <p:cNvPr id="32" name="TextBox 32"/>
          <p:cNvSpPr txBox="1"/>
          <p:nvPr/>
        </p:nvSpPr>
        <p:spPr>
          <a:xfrm>
            <a:off x="1763417" y="5094286"/>
            <a:ext cx="4513659" cy="896620"/>
          </a:xfrm>
          <a:prstGeom prst="rect">
            <a:avLst/>
          </a:prstGeom>
        </p:spPr>
        <p:txBody>
          <a:bodyPr lIns="0" tIns="0" rIns="0" bIns="0" rtlCol="0" anchor="t">
            <a:spAutoFit/>
          </a:bodyPr>
          <a:lstStyle/>
          <a:p>
            <a:pPr algn="ctr">
              <a:lnSpc>
                <a:spcPts val="7279"/>
              </a:lnSpc>
            </a:pPr>
            <a:r>
              <a:rPr lang="en-US" sz="5199" b="1">
                <a:solidFill>
                  <a:srgbClr val="FFFFFF"/>
                </a:solidFill>
                <a:latin typeface="Quicksand Bold"/>
                <a:ea typeface="Quicksand Bold"/>
                <a:cs typeface="Quicksand Bold"/>
                <a:sym typeface="Quicksand Bold"/>
              </a:rPr>
              <a:t>Teams Review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grpSp>
        <p:nvGrpSpPr>
          <p:cNvPr id="2" name="Group 2"/>
          <p:cNvGrpSpPr/>
          <p:nvPr/>
        </p:nvGrpSpPr>
        <p:grpSpPr>
          <a:xfrm>
            <a:off x="0" y="5483169"/>
            <a:ext cx="18288000" cy="4803831"/>
            <a:chOff x="0" y="0"/>
            <a:chExt cx="24384000" cy="6405108"/>
          </a:xfrm>
        </p:grpSpPr>
        <p:pic>
          <p:nvPicPr>
            <p:cNvPr id="3" name="Picture 3"/>
            <p:cNvPicPr>
              <a:picLocks noChangeAspect="1"/>
            </p:cNvPicPr>
            <p:nvPr/>
          </p:nvPicPr>
          <p:blipFill>
            <a:blip r:embed="rId2"/>
            <a:srcRect b="60499"/>
            <a:stretch>
              <a:fillRect/>
            </a:stretch>
          </p:blipFill>
          <p:spPr>
            <a:xfrm>
              <a:off x="0" y="0"/>
              <a:ext cx="24384000" cy="6405108"/>
            </a:xfrm>
            <a:prstGeom prst="rect">
              <a:avLst/>
            </a:prstGeom>
          </p:spPr>
        </p:pic>
      </p:grpSp>
      <p:sp>
        <p:nvSpPr>
          <p:cNvPr id="4" name="Freeform 4"/>
          <p:cNvSpPr/>
          <p:nvPr/>
        </p:nvSpPr>
        <p:spPr>
          <a:xfrm flipV="1">
            <a:off x="0" y="0"/>
            <a:ext cx="4967287" cy="4967287"/>
          </a:xfrm>
          <a:custGeom>
            <a:avLst/>
            <a:gdLst/>
            <a:ahLst/>
            <a:cxnLst/>
            <a:rect l="l" t="t" r="r" b="b"/>
            <a:pathLst>
              <a:path w="4967287" h="4967287">
                <a:moveTo>
                  <a:pt x="0" y="4967287"/>
                </a:moveTo>
                <a:lnTo>
                  <a:pt x="4967287" y="4967287"/>
                </a:lnTo>
                <a:lnTo>
                  <a:pt x="4967287" y="0"/>
                </a:lnTo>
                <a:lnTo>
                  <a:pt x="0" y="0"/>
                </a:lnTo>
                <a:lnTo>
                  <a:pt x="0" y="496728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14173200" y="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2557697" y="-573027"/>
            <a:ext cx="2575876" cy="1601727"/>
          </a:xfrm>
          <a:custGeom>
            <a:avLst/>
            <a:gdLst/>
            <a:ahLst/>
            <a:cxnLst/>
            <a:rect l="l" t="t" r="r" b="b"/>
            <a:pathLst>
              <a:path w="2575876" h="1601727">
                <a:moveTo>
                  <a:pt x="0" y="0"/>
                </a:moveTo>
                <a:lnTo>
                  <a:pt x="2575877" y="0"/>
                </a:lnTo>
                <a:lnTo>
                  <a:pt x="2575877" y="1601727"/>
                </a:lnTo>
                <a:lnTo>
                  <a:pt x="0" y="160172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3561810" y="1078230"/>
            <a:ext cx="11164379" cy="1303020"/>
          </a:xfrm>
          <a:prstGeom prst="rect">
            <a:avLst/>
          </a:prstGeom>
        </p:spPr>
        <p:txBody>
          <a:bodyPr lIns="0" tIns="0" rIns="0" bIns="0" rtlCol="0" anchor="t">
            <a:spAutoFit/>
          </a:bodyPr>
          <a:lstStyle/>
          <a:p>
            <a:pPr marL="0" lvl="0" indent="0" algn="ctr">
              <a:lnSpc>
                <a:spcPts val="10080"/>
              </a:lnSpc>
              <a:spcBef>
                <a:spcPct val="0"/>
              </a:spcBef>
            </a:pPr>
            <a:r>
              <a:rPr lang="en-US" sz="7200" b="1">
                <a:solidFill>
                  <a:srgbClr val="FFFFFF"/>
                </a:solidFill>
                <a:latin typeface="Blogger Bold"/>
                <a:ea typeface="Blogger Bold"/>
                <a:cs typeface="Blogger Bold"/>
                <a:sym typeface="Blogger Bold"/>
              </a:rPr>
              <a:t>Any Questions?</a:t>
            </a:r>
          </a:p>
        </p:txBody>
      </p:sp>
      <p:sp>
        <p:nvSpPr>
          <p:cNvPr id="8" name="TextBox 8"/>
          <p:cNvSpPr txBox="1"/>
          <p:nvPr/>
        </p:nvSpPr>
        <p:spPr>
          <a:xfrm>
            <a:off x="2964589" y="2600325"/>
            <a:ext cx="12358822" cy="2543175"/>
          </a:xfrm>
          <a:prstGeom prst="rect">
            <a:avLst/>
          </a:prstGeom>
        </p:spPr>
        <p:txBody>
          <a:bodyPr lIns="0" tIns="0" rIns="0" bIns="0" rtlCol="0" anchor="t">
            <a:spAutoFit/>
          </a:bodyPr>
          <a:lstStyle/>
          <a:p>
            <a:pPr marL="0" lvl="0" indent="0" algn="ctr">
              <a:lnSpc>
                <a:spcPts val="4079"/>
              </a:lnSpc>
            </a:pPr>
            <a:r>
              <a:rPr lang="en-US" sz="2400">
                <a:solidFill>
                  <a:srgbClr val="FFFFFF"/>
                </a:solidFill>
                <a:latin typeface="Quicksand"/>
                <a:ea typeface="Quicksand"/>
                <a:cs typeface="Quicksand"/>
                <a:sym typeface="Quicksand"/>
              </a:rPr>
              <a:t>As we conclude your onboarding, we want to address any remaining questions you may have. This is your chance to seek clarification on any aspect of your role, company culture, or about our company. Your questions are valuable, and we're here to ensure you feel confident and well-informed. Let's make sure you're ready for the exciting journey ahead.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2649"/>
        </a:solidFill>
        <a:effectLst/>
      </p:bgPr>
    </p:bg>
    <p:spTree>
      <p:nvGrpSpPr>
        <p:cNvPr id="1" name=""/>
        <p:cNvGrpSpPr/>
        <p:nvPr/>
      </p:nvGrpSpPr>
      <p:grpSpPr>
        <a:xfrm>
          <a:off x="0" y="0"/>
          <a:ext cx="0" cy="0"/>
          <a:chOff x="0" y="0"/>
          <a:chExt cx="0" cy="0"/>
        </a:xfrm>
      </p:grpSpPr>
      <p:sp>
        <p:nvSpPr>
          <p:cNvPr id="2" name="Freeform 2"/>
          <p:cNvSpPr/>
          <p:nvPr/>
        </p:nvSpPr>
        <p:spPr>
          <a:xfrm>
            <a:off x="0" y="61722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4173200" y="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0" y="0"/>
            <a:ext cx="3995873" cy="3995873"/>
          </a:xfrm>
          <a:custGeom>
            <a:avLst/>
            <a:gdLst/>
            <a:ahLst/>
            <a:cxnLst/>
            <a:rect l="l" t="t" r="r" b="b"/>
            <a:pathLst>
              <a:path w="3995873" h="3995873">
                <a:moveTo>
                  <a:pt x="0" y="3995873"/>
                </a:moveTo>
                <a:lnTo>
                  <a:pt x="3995873" y="3995873"/>
                </a:lnTo>
                <a:lnTo>
                  <a:pt x="3995873" y="0"/>
                </a:lnTo>
                <a:lnTo>
                  <a:pt x="0" y="0"/>
                </a:lnTo>
                <a:lnTo>
                  <a:pt x="0" y="3995873"/>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4173200" y="61722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1939999">
            <a:off x="3309421" y="8659105"/>
            <a:ext cx="4164382" cy="3255789"/>
          </a:xfrm>
          <a:custGeom>
            <a:avLst/>
            <a:gdLst/>
            <a:ahLst/>
            <a:cxnLst/>
            <a:rect l="l" t="t" r="r" b="b"/>
            <a:pathLst>
              <a:path w="4164382" h="3255789">
                <a:moveTo>
                  <a:pt x="0" y="0"/>
                </a:moveTo>
                <a:lnTo>
                  <a:pt x="4164382" y="0"/>
                </a:lnTo>
                <a:lnTo>
                  <a:pt x="4164382" y="3255790"/>
                </a:lnTo>
                <a:lnTo>
                  <a:pt x="0" y="325579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rot="2220027">
            <a:off x="10204554" y="-1948367"/>
            <a:ext cx="4984194" cy="3896734"/>
          </a:xfrm>
          <a:custGeom>
            <a:avLst/>
            <a:gdLst/>
            <a:ahLst/>
            <a:cxnLst/>
            <a:rect l="l" t="t" r="r" b="b"/>
            <a:pathLst>
              <a:path w="4984194" h="3896734">
                <a:moveTo>
                  <a:pt x="0" y="0"/>
                </a:moveTo>
                <a:lnTo>
                  <a:pt x="4984195" y="0"/>
                </a:lnTo>
                <a:lnTo>
                  <a:pt x="4984195" y="3896734"/>
                </a:lnTo>
                <a:lnTo>
                  <a:pt x="0" y="389673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rot="-7097888">
            <a:off x="4027356" y="-2611159"/>
            <a:ext cx="4884036" cy="4114800"/>
          </a:xfrm>
          <a:custGeom>
            <a:avLst/>
            <a:gdLst/>
            <a:ahLst/>
            <a:cxnLst/>
            <a:rect l="l" t="t" r="r" b="b"/>
            <a:pathLst>
              <a:path w="4884036" h="4114800">
                <a:moveTo>
                  <a:pt x="0" y="0"/>
                </a:moveTo>
                <a:lnTo>
                  <a:pt x="4884036" y="0"/>
                </a:lnTo>
                <a:lnTo>
                  <a:pt x="4884036"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2761593" y="3991073"/>
            <a:ext cx="12764813" cy="2066729"/>
          </a:xfrm>
          <a:prstGeom prst="rect">
            <a:avLst/>
          </a:prstGeom>
        </p:spPr>
        <p:txBody>
          <a:bodyPr lIns="0" tIns="0" rIns="0" bIns="0" rtlCol="0" anchor="t">
            <a:spAutoFit/>
          </a:bodyPr>
          <a:lstStyle/>
          <a:p>
            <a:pPr marL="0" lvl="0" indent="0" algn="ctr">
              <a:lnSpc>
                <a:spcPts val="16810"/>
              </a:lnSpc>
            </a:pPr>
            <a:r>
              <a:rPr lang="en-US" sz="12007">
                <a:solidFill>
                  <a:srgbClr val="FFFFFF"/>
                </a:solidFill>
                <a:latin typeface="Fredoka"/>
                <a:ea typeface="Fredoka"/>
                <a:cs typeface="Fredoka"/>
                <a:sym typeface="Fredoka"/>
              </a:rPr>
              <a:t>Thank you!</a:t>
            </a:r>
          </a:p>
        </p:txBody>
      </p:sp>
      <p:sp>
        <p:nvSpPr>
          <p:cNvPr id="10" name="Freeform 10"/>
          <p:cNvSpPr/>
          <p:nvPr/>
        </p:nvSpPr>
        <p:spPr>
          <a:xfrm rot="-7097888">
            <a:off x="10254634" y="8865971"/>
            <a:ext cx="4884036" cy="4114800"/>
          </a:xfrm>
          <a:custGeom>
            <a:avLst/>
            <a:gdLst/>
            <a:ahLst/>
            <a:cxnLst/>
            <a:rect l="l" t="t" r="r" b="b"/>
            <a:pathLst>
              <a:path w="4884036" h="4114800">
                <a:moveTo>
                  <a:pt x="0" y="0"/>
                </a:moveTo>
                <a:lnTo>
                  <a:pt x="4884035" y="0"/>
                </a:lnTo>
                <a:lnTo>
                  <a:pt x="4884035" y="4114800"/>
                </a:lnTo>
                <a:lnTo>
                  <a:pt x="0" y="411480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a:off x="5958468" y="3055823"/>
            <a:ext cx="6371063" cy="782759"/>
          </a:xfrm>
          <a:custGeom>
            <a:avLst/>
            <a:gdLst/>
            <a:ahLst/>
            <a:cxnLst/>
            <a:rect l="l" t="t" r="r" b="b"/>
            <a:pathLst>
              <a:path w="6371063" h="782759">
                <a:moveTo>
                  <a:pt x="0" y="0"/>
                </a:moveTo>
                <a:lnTo>
                  <a:pt x="6371064" y="0"/>
                </a:lnTo>
                <a:lnTo>
                  <a:pt x="6371064" y="782759"/>
                </a:lnTo>
                <a:lnTo>
                  <a:pt x="0" y="782759"/>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2" name="TextBox 12"/>
          <p:cNvSpPr txBox="1"/>
          <p:nvPr/>
        </p:nvSpPr>
        <p:spPr>
          <a:xfrm>
            <a:off x="2761593" y="6438802"/>
            <a:ext cx="12764813" cy="1120361"/>
          </a:xfrm>
          <a:prstGeom prst="rect">
            <a:avLst/>
          </a:prstGeom>
        </p:spPr>
        <p:txBody>
          <a:bodyPr lIns="0" tIns="0" rIns="0" bIns="0" rtlCol="0" anchor="t">
            <a:spAutoFit/>
          </a:bodyPr>
          <a:lstStyle/>
          <a:p>
            <a:pPr algn="ctr">
              <a:lnSpc>
                <a:spcPts val="4397"/>
              </a:lnSpc>
            </a:pPr>
            <a:r>
              <a:rPr lang="en-US" sz="3141" spc="628">
                <a:solidFill>
                  <a:srgbClr val="FFFFFF"/>
                </a:solidFill>
                <a:latin typeface="Blogger"/>
                <a:ea typeface="Blogger"/>
                <a:cs typeface="Blogger"/>
                <a:sym typeface="Blogger"/>
              </a:rPr>
              <a:t>Engagement Management</a:t>
            </a:r>
          </a:p>
          <a:p>
            <a:pPr marL="0" lvl="0" indent="0" algn="ctr">
              <a:lnSpc>
                <a:spcPts val="4397"/>
              </a:lnSpc>
            </a:pPr>
            <a:r>
              <a:rPr lang="en-US" sz="3141" spc="628">
                <a:solidFill>
                  <a:srgbClr val="FFFFFF"/>
                </a:solidFill>
                <a:latin typeface="Blogger"/>
                <a:ea typeface="Blogger"/>
                <a:cs typeface="Blogger"/>
                <a:sym typeface="Blogger"/>
              </a:rPr>
              <a:t>Professional Services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811A7D7C6AF7C4B84849BBC7AECD042" ma:contentTypeVersion="7" ma:contentTypeDescription="Create a new document." ma:contentTypeScope="" ma:versionID="d1a1c2fab4bc054141fc059f64628e6a">
  <xsd:schema xmlns:xsd="http://www.w3.org/2001/XMLSchema" xmlns:xs="http://www.w3.org/2001/XMLSchema" xmlns:p="http://schemas.microsoft.com/office/2006/metadata/properties" xmlns:ns2="09f0d035-db3a-41e2-9c9f-cd4fb346005c" targetNamespace="http://schemas.microsoft.com/office/2006/metadata/properties" ma:root="true" ma:fieldsID="79197425f45961dcb975a55f67a80289" ns2:_="">
    <xsd:import namespace="09f0d035-db3a-41e2-9c9f-cd4fb34600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f0d035-db3a-41e2-9c9f-cd4fb3460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353BDA0-473C-4BEE-B59B-8CF5ADAC73DF}">
  <ds:schemaRefs>
    <ds:schemaRef ds:uri="http://schemas.microsoft.com/sharepoint/v3/contenttype/forms"/>
  </ds:schemaRefs>
</ds:datastoreItem>
</file>

<file path=customXml/itemProps2.xml><?xml version="1.0" encoding="utf-8"?>
<ds:datastoreItem xmlns:ds="http://schemas.openxmlformats.org/officeDocument/2006/customXml" ds:itemID="{F9278EC4-8E00-4C4B-85F3-CE56255CD6B2}"/>
</file>

<file path=customXml/itemProps3.xml><?xml version="1.0" encoding="utf-8"?>
<ds:datastoreItem xmlns:ds="http://schemas.openxmlformats.org/officeDocument/2006/customXml" ds:itemID="{0287B2A2-B1AE-43D2-AC1A-6793AD78B8A9}">
  <ds:schemaRefs>
    <ds:schemaRef ds:uri="http://schemas.microsoft.com/office/2006/metadata/properties"/>
    <ds:schemaRef ds:uri="http://schemas.microsoft.com/office/infopath/2007/PartnerControls"/>
    <ds:schemaRef ds:uri="http://schemas.microsoft.com/sharepoint/v3"/>
    <ds:schemaRef ds:uri="c6dc340a-7c91-4274-b2cf-9086e6b71284"/>
    <ds:schemaRef ds:uri="cd7206cd-d979-4761-a191-6f271d209b9a"/>
  </ds:schemaRefs>
</ds:datastoreItem>
</file>

<file path=docMetadata/LabelInfo.xml><?xml version="1.0" encoding="utf-8"?>
<clbl:labelList xmlns:clbl="http://schemas.microsoft.com/office/2020/mipLabelMetadata">
  <clbl:label id="{36970c53-fc97-4c45-87e9-80615808800c}" enabled="1" method="Standard" siteId="{2c94bed6-d675-4d3d-a53b-7b461fd6acc2}"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 EC Intro to Onboarding, Team Channels</dc:title>
  <cp:revision>24</cp:revision>
  <dcterms:created xsi:type="dcterms:W3CDTF">2006-08-16T00:00:00Z</dcterms:created>
  <dcterms:modified xsi:type="dcterms:W3CDTF">2026-08-21T17:58:11Z</dcterms:modified>
  <dc:identifier>DAHQMoN87Go</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0x010100B811A7D7C6AF7C4B84849BBC7AECD042</vt:lpwstr>
  </property>
  <property fmtid="{D5CDD505-2E9C-101B-9397-08002B2CF9AE}" pid="3" name="ClassificationContentMarkingFooterLocations">
    <vt:lpwstr>Office Theme:10</vt:lpwstr>
  </property>
  <property fmtid="{D5CDD505-2E9C-101B-9397-08002B2CF9AE}" pid="4" name="ClassificationContentMarkingFooterText">
    <vt:lpwstr>For RealPage Internal Use Only</vt:lpwstr>
  </property>
  <property fmtid="{D5CDD505-2E9C-101B-9397-08002B2CF9AE}" pid="5" name="ClassificationContentMarkingHeaderLocations">
    <vt:lpwstr>Office Theme:9</vt:lpwstr>
  </property>
  <property fmtid="{D5CDD505-2E9C-101B-9397-08002B2CF9AE}" pid="6" name="ClassificationContentMarkingHeaderText">
    <vt:lpwstr>Internal Use</vt:lpwstr>
  </property>
  <property fmtid="{D5CDD505-2E9C-101B-9397-08002B2CF9AE}" pid="7" name="MediaServiceImageTags">
    <vt:lpwstr/>
  </property>
</Properties>
</file>