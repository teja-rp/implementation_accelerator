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8288000" cy="10287000"/>
  <p:notesSz cx="6858000" cy="9144000"/>
  <p:embeddedFontLst>
    <p:embeddedFont>
      <p:font typeface="Charlevoix" panose="020B0604020202020204" charset="0"/>
      <p:regular r:id="rId15"/>
    </p:embeddedFont>
    <p:embeddedFont>
      <p:font typeface="Charlevoix Bold" panose="020B0604020202020204" charset="0"/>
      <p:regular r:id="rId16"/>
    </p:embeddedFont>
    <p:embeddedFont>
      <p:font typeface="Charlevoix Heavy" panose="020B0604020202020204" charset="0"/>
      <p:regular r:id="rId17"/>
    </p:embeddedFont>
    <p:embeddedFont>
      <p:font typeface="Charlevoix Medium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 Cristina Alvarado" userId="S::mariacristina.alvarado@realpage.com::d9132ba1-f0ef-4885-8a20-5e95bdad85d7" providerId="AD" clId="Web-{8215F924-53AA-10C0-2E14-09A0E65B0859}"/>
    <pc:docChg chg="mod modMainMaster">
      <pc:chgData name="Maria Cristina Alvarado" userId="S::mariacristina.alvarado@realpage.com::d9132ba1-f0ef-4885-8a20-5e95bdad85d7" providerId="AD" clId="Web-{8215F924-53AA-10C0-2E14-09A0E65B0859}" dt="2026-07-29T17:25:57.920" v="1" actId="33475"/>
      <pc:docMkLst>
        <pc:docMk/>
      </pc:docMkLst>
      <pc:sldMasterChg chg="addSp">
        <pc:chgData name="Maria Cristina Alvarado" userId="S::mariacristina.alvarado@realpage.com::d9132ba1-f0ef-4885-8a20-5e95bdad85d7" providerId="AD" clId="Web-{8215F924-53AA-10C0-2E14-09A0E65B0859}" dt="2026-07-29T17:25:57.920" v="0" actId="33475"/>
        <pc:sldMasterMkLst>
          <pc:docMk/>
          <pc:sldMasterMk cId="0" sldId="2147483648"/>
        </pc:sldMasterMkLst>
        <pc:spChg chg="add">
          <ac:chgData name="Maria Cristina Alvarado" userId="S::mariacristina.alvarado@realpage.com::d9132ba1-f0ef-4885-8a20-5e95bdad85d7" providerId="AD" clId="Web-{8215F924-53AA-10C0-2E14-09A0E65B0859}" dt="2026-07-29T17:25:57.920" v="0" actId="33475"/>
          <ac:spMkLst>
            <pc:docMk/>
            <pc:sldMasterMk cId="0" sldId="2147483648"/>
            <ac:spMk id="9" creationId="{9F2ECD42-C941-C2CD-3644-C945347F9617}"/>
          </ac:spMkLst>
        </pc:spChg>
        <pc:spChg chg="add">
          <ac:chgData name="Maria Cristina Alvarado" userId="S::mariacristina.alvarado@realpage.com::d9132ba1-f0ef-4885-8a20-5e95bdad85d7" providerId="AD" clId="Web-{8215F924-53AA-10C0-2E14-09A0E65B0859}" dt="2026-07-29T17:25:57.920" v="0" actId="33475"/>
          <ac:spMkLst>
            <pc:docMk/>
            <pc:sldMasterMk cId="0" sldId="2147483648"/>
            <ac:spMk id="10" creationId="{3CC29DAA-A99C-8292-0CD7-42AECFB8C2FD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2ECD42-C941-C2CD-3644-C945347F961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8877300" y="63500"/>
            <a:ext cx="55403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 Use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C29DAA-A99C-8292-0CD7-42AECFB8C2FD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299450" y="10071100"/>
            <a:ext cx="17145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For RealPage Internal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9.svg"/><Relationship Id="rId7" Type="http://schemas.openxmlformats.org/officeDocument/2006/relationships/image" Target="../media/image14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svg"/><Relationship Id="rId5" Type="http://schemas.openxmlformats.org/officeDocument/2006/relationships/image" Target="../media/image13.svg"/><Relationship Id="rId4" Type="http://schemas.openxmlformats.org/officeDocument/2006/relationships/image" Target="../media/image10.svg"/><Relationship Id="rId9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9.svg"/><Relationship Id="rId7" Type="http://schemas.openxmlformats.org/officeDocument/2006/relationships/image" Target="../media/image14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svg"/><Relationship Id="rId5" Type="http://schemas.openxmlformats.org/officeDocument/2006/relationships/image" Target="../media/image13.svg"/><Relationship Id="rId4" Type="http://schemas.openxmlformats.org/officeDocument/2006/relationships/image" Target="../media/image10.svg"/><Relationship Id="rId9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6.svg"/><Relationship Id="rId3" Type="http://schemas.openxmlformats.org/officeDocument/2006/relationships/image" Target="../media/image5.svg"/><Relationship Id="rId7" Type="http://schemas.openxmlformats.org/officeDocument/2006/relationships/image" Target="../media/image20.svg"/><Relationship Id="rId12" Type="http://schemas.openxmlformats.org/officeDocument/2006/relationships/image" Target="../media/image25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6.svg"/><Relationship Id="rId3" Type="http://schemas.openxmlformats.org/officeDocument/2006/relationships/image" Target="../media/image5.svg"/><Relationship Id="rId7" Type="http://schemas.openxmlformats.org/officeDocument/2006/relationships/image" Target="../media/image20.svg"/><Relationship Id="rId12" Type="http://schemas.openxmlformats.org/officeDocument/2006/relationships/image" Target="../media/image25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.svg"/><Relationship Id="rId7" Type="http://schemas.openxmlformats.org/officeDocument/2006/relationships/image" Target="../media/image29.svg"/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28.svg"/><Relationship Id="rId10" Type="http://schemas.openxmlformats.org/officeDocument/2006/relationships/image" Target="../media/image32.svg"/><Relationship Id="rId4" Type="http://schemas.openxmlformats.org/officeDocument/2006/relationships/image" Target="../media/image18.svg"/><Relationship Id="rId9" Type="http://schemas.openxmlformats.org/officeDocument/2006/relationships/image" Target="../media/image3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24.svg"/><Relationship Id="rId3" Type="http://schemas.openxmlformats.org/officeDocument/2006/relationships/image" Target="../media/image5.svg"/><Relationship Id="rId7" Type="http://schemas.openxmlformats.org/officeDocument/2006/relationships/image" Target="../media/image19.svg"/><Relationship Id="rId12" Type="http://schemas.openxmlformats.org/officeDocument/2006/relationships/image" Target="../media/image26.sv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11" Type="http://schemas.openxmlformats.org/officeDocument/2006/relationships/image" Target="../media/image25.svg"/><Relationship Id="rId5" Type="http://schemas.openxmlformats.org/officeDocument/2006/relationships/image" Target="../media/image18.sv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.svg"/><Relationship Id="rId7" Type="http://schemas.openxmlformats.org/officeDocument/2006/relationships/image" Target="../media/image29.svg"/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28.svg"/><Relationship Id="rId10" Type="http://schemas.openxmlformats.org/officeDocument/2006/relationships/image" Target="../media/image32.svg"/><Relationship Id="rId4" Type="http://schemas.openxmlformats.org/officeDocument/2006/relationships/image" Target="../media/image18.svg"/><Relationship Id="rId9" Type="http://schemas.openxmlformats.org/officeDocument/2006/relationships/image" Target="../media/image31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16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3.svg"/><Relationship Id="rId4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6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52077" y="-9525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3429000" h="3429000">
                <a:moveTo>
                  <a:pt x="0" y="0"/>
                </a:moveTo>
                <a:lnTo>
                  <a:pt x="3429000" y="0"/>
                </a:lnTo>
                <a:lnTo>
                  <a:pt x="34290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581077" y="-9525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3429000" h="3429000">
                <a:moveTo>
                  <a:pt x="0" y="0"/>
                </a:moveTo>
                <a:lnTo>
                  <a:pt x="3429000" y="0"/>
                </a:lnTo>
                <a:lnTo>
                  <a:pt x="34290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152077" y="34290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3429000" h="3429000">
                <a:moveTo>
                  <a:pt x="0" y="0"/>
                </a:moveTo>
                <a:lnTo>
                  <a:pt x="3429000" y="0"/>
                </a:lnTo>
                <a:lnTo>
                  <a:pt x="34290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151296" y="6867525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3429000" h="3429000">
                <a:moveTo>
                  <a:pt x="0" y="0"/>
                </a:moveTo>
                <a:lnTo>
                  <a:pt x="3429000" y="0"/>
                </a:lnTo>
                <a:lnTo>
                  <a:pt x="34290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587335" y="6867525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3429000" h="3429000">
                <a:moveTo>
                  <a:pt x="0" y="0"/>
                </a:moveTo>
                <a:lnTo>
                  <a:pt x="3429000" y="0"/>
                </a:lnTo>
                <a:lnTo>
                  <a:pt x="34290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587335" y="34290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3429000" h="3429000">
                <a:moveTo>
                  <a:pt x="0" y="0"/>
                </a:moveTo>
                <a:lnTo>
                  <a:pt x="3429000" y="0"/>
                </a:lnTo>
                <a:lnTo>
                  <a:pt x="34290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92933" y="5700034"/>
            <a:ext cx="10718822" cy="2866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 b="1">
                <a:solidFill>
                  <a:srgbClr val="FFFFFF"/>
                </a:solidFill>
                <a:latin typeface="Charlevoix Heavy"/>
                <a:ea typeface="Charlevoix Heavy"/>
                <a:cs typeface="Charlevoix Heavy"/>
                <a:sym typeface="Charlevoix Heavy"/>
              </a:rPr>
              <a:t>UNDERSTANDING CUSTOMER ORDERS, PRODUCTS AND IMPLEMENTATION DOCUMENTS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6250" y="1065315"/>
            <a:ext cx="4983959" cy="385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808" b="1">
                <a:solidFill>
                  <a:srgbClr val="FFFFFF"/>
                </a:solidFill>
                <a:latin typeface="Charlevoix Medium"/>
                <a:ea typeface="Charlevoix Medium"/>
                <a:cs typeface="Charlevoix Medium"/>
                <a:sym typeface="Charlevoix Medium"/>
              </a:rPr>
              <a:t>Professional Services Group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6250" y="639993"/>
            <a:ext cx="4650464" cy="385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8"/>
              </a:lnSpc>
            </a:pPr>
            <a:r>
              <a:rPr lang="en-US" sz="2808" b="1">
                <a:solidFill>
                  <a:srgbClr val="FFFFFF"/>
                </a:solidFill>
                <a:latin typeface="Charlevoix Medium"/>
                <a:ea typeface="Charlevoix Medium"/>
                <a:cs typeface="Charlevoix Medium"/>
                <a:sym typeface="Charlevoix Medium"/>
              </a:rPr>
              <a:t>Engagement Management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6250" y="9129956"/>
            <a:ext cx="10832556" cy="555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0"/>
              </a:lnSpc>
            </a:pPr>
            <a:r>
              <a:rPr lang="en-US" sz="4120">
                <a:solidFill>
                  <a:srgbClr val="FFFFFF"/>
                </a:solidFill>
                <a:latin typeface="Charlevoix"/>
                <a:ea typeface="Charlevoix"/>
                <a:cs typeface="Charlevoix"/>
                <a:sym typeface="Charlevoix"/>
              </a:rPr>
              <a:t>Order Review Process</a:t>
            </a:r>
          </a:p>
        </p:txBody>
      </p:sp>
      <p:sp>
        <p:nvSpPr>
          <p:cNvPr id="12" name="Freeform 12"/>
          <p:cNvSpPr/>
          <p:nvPr/>
        </p:nvSpPr>
        <p:spPr>
          <a:xfrm>
            <a:off x="8068075" y="9451858"/>
            <a:ext cx="3796941" cy="466498"/>
          </a:xfrm>
          <a:custGeom>
            <a:avLst/>
            <a:gdLst/>
            <a:ahLst/>
            <a:cxnLst/>
            <a:rect l="l" t="t" r="r" b="b"/>
            <a:pathLst>
              <a:path w="3796941" h="466498">
                <a:moveTo>
                  <a:pt x="0" y="0"/>
                </a:moveTo>
                <a:lnTo>
                  <a:pt x="3796941" y="0"/>
                </a:lnTo>
                <a:lnTo>
                  <a:pt x="3796941" y="466498"/>
                </a:lnTo>
                <a:lnTo>
                  <a:pt x="0" y="466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6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435298" y="9525"/>
            <a:ext cx="3435298" cy="3419475"/>
            <a:chOff x="0" y="0"/>
            <a:chExt cx="4580398" cy="45593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4580398" cy="4559300"/>
              <a:chOff x="0" y="0"/>
              <a:chExt cx="904770" cy="900602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72116" y="0"/>
                    </a:moveTo>
                    <a:lnTo>
                      <a:pt x="832653" y="0"/>
                    </a:lnTo>
                    <a:cubicBezTo>
                      <a:pt x="851780" y="0"/>
                      <a:pt x="870123" y="7598"/>
                      <a:pt x="883647" y="21122"/>
                    </a:cubicBezTo>
                    <a:cubicBezTo>
                      <a:pt x="897172" y="34647"/>
                      <a:pt x="904770" y="52990"/>
                      <a:pt x="904770" y="72116"/>
                    </a:cubicBezTo>
                    <a:lnTo>
                      <a:pt x="904770" y="828486"/>
                    </a:lnTo>
                    <a:cubicBezTo>
                      <a:pt x="904770" y="868315"/>
                      <a:pt x="872482" y="900602"/>
                      <a:pt x="832653" y="900602"/>
                    </a:cubicBezTo>
                    <a:lnTo>
                      <a:pt x="72116" y="900602"/>
                    </a:lnTo>
                    <a:cubicBezTo>
                      <a:pt x="32288" y="900602"/>
                      <a:pt x="0" y="868315"/>
                      <a:pt x="0" y="828486"/>
                    </a:cubicBezTo>
                    <a:lnTo>
                      <a:pt x="0" y="72116"/>
                    </a:lnTo>
                    <a:cubicBezTo>
                      <a:pt x="0" y="32288"/>
                      <a:pt x="32288" y="0"/>
                      <a:pt x="7211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Freeform 6"/>
            <p:cNvSpPr/>
            <p:nvPr/>
          </p:nvSpPr>
          <p:spPr>
            <a:xfrm>
              <a:off x="535504" y="277994"/>
              <a:ext cx="3757778" cy="3757778"/>
            </a:xfrm>
            <a:custGeom>
              <a:avLst/>
              <a:gdLst/>
              <a:ahLst/>
              <a:cxnLst/>
              <a:rect l="l" t="t" r="r" b="b"/>
              <a:pathLst>
                <a:path w="3757778" h="3757778">
                  <a:moveTo>
                    <a:pt x="0" y="0"/>
                  </a:moveTo>
                  <a:lnTo>
                    <a:pt x="3757777" y="0"/>
                  </a:lnTo>
                  <a:lnTo>
                    <a:pt x="3757777" y="3757778"/>
                  </a:lnTo>
                  <a:lnTo>
                    <a:pt x="0" y="3757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0" y="9525"/>
            <a:ext cx="3435298" cy="3419475"/>
            <a:chOff x="0" y="0"/>
            <a:chExt cx="4580398" cy="4559300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4580398" cy="4559300"/>
              <a:chOff x="0" y="0"/>
              <a:chExt cx="904770" cy="90060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72116" y="0"/>
                    </a:moveTo>
                    <a:lnTo>
                      <a:pt x="832653" y="0"/>
                    </a:lnTo>
                    <a:cubicBezTo>
                      <a:pt x="851780" y="0"/>
                      <a:pt x="870123" y="7598"/>
                      <a:pt x="883647" y="21122"/>
                    </a:cubicBezTo>
                    <a:cubicBezTo>
                      <a:pt x="897172" y="34647"/>
                      <a:pt x="904770" y="52990"/>
                      <a:pt x="904770" y="72116"/>
                    </a:cubicBezTo>
                    <a:lnTo>
                      <a:pt x="904770" y="828486"/>
                    </a:lnTo>
                    <a:cubicBezTo>
                      <a:pt x="904770" y="868315"/>
                      <a:pt x="872482" y="900602"/>
                      <a:pt x="832653" y="900602"/>
                    </a:cubicBezTo>
                    <a:lnTo>
                      <a:pt x="72116" y="900602"/>
                    </a:lnTo>
                    <a:cubicBezTo>
                      <a:pt x="32288" y="900602"/>
                      <a:pt x="0" y="868315"/>
                      <a:pt x="0" y="828486"/>
                    </a:cubicBezTo>
                    <a:lnTo>
                      <a:pt x="0" y="72116"/>
                    </a:lnTo>
                    <a:cubicBezTo>
                      <a:pt x="0" y="32288"/>
                      <a:pt x="32288" y="0"/>
                      <a:pt x="72116" y="0"/>
                    </a:cubicBezTo>
                    <a:close/>
                  </a:path>
                </a:pathLst>
              </a:custGeom>
              <a:solidFill>
                <a:srgbClr val="FD9C37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Freeform 11"/>
            <p:cNvSpPr/>
            <p:nvPr/>
          </p:nvSpPr>
          <p:spPr>
            <a:xfrm>
              <a:off x="430175" y="1358900"/>
              <a:ext cx="3720048" cy="2144100"/>
            </a:xfrm>
            <a:custGeom>
              <a:avLst/>
              <a:gdLst/>
              <a:ahLst/>
              <a:cxnLst/>
              <a:rect l="l" t="t" r="r" b="b"/>
              <a:pathLst>
                <a:path w="3720048" h="2144100">
                  <a:moveTo>
                    <a:pt x="0" y="0"/>
                  </a:moveTo>
                  <a:lnTo>
                    <a:pt x="3720048" y="0"/>
                  </a:lnTo>
                  <a:lnTo>
                    <a:pt x="3720048" y="2144100"/>
                  </a:lnTo>
                  <a:lnTo>
                    <a:pt x="0" y="2144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0" y="3433762"/>
            <a:ext cx="3435298" cy="3419475"/>
            <a:chOff x="0" y="0"/>
            <a:chExt cx="4580398" cy="4559300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4580398" cy="4559300"/>
              <a:chOff x="0" y="0"/>
              <a:chExt cx="904770" cy="90060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72116" y="0"/>
                    </a:moveTo>
                    <a:lnTo>
                      <a:pt x="832653" y="0"/>
                    </a:lnTo>
                    <a:cubicBezTo>
                      <a:pt x="851780" y="0"/>
                      <a:pt x="870123" y="7598"/>
                      <a:pt x="883647" y="21122"/>
                    </a:cubicBezTo>
                    <a:cubicBezTo>
                      <a:pt x="897172" y="34647"/>
                      <a:pt x="904770" y="52990"/>
                      <a:pt x="904770" y="72116"/>
                    </a:cubicBezTo>
                    <a:lnTo>
                      <a:pt x="904770" y="828486"/>
                    </a:lnTo>
                    <a:cubicBezTo>
                      <a:pt x="904770" y="868315"/>
                      <a:pt x="872482" y="900602"/>
                      <a:pt x="832653" y="900602"/>
                    </a:cubicBezTo>
                    <a:lnTo>
                      <a:pt x="72116" y="900602"/>
                    </a:lnTo>
                    <a:cubicBezTo>
                      <a:pt x="32288" y="900602"/>
                      <a:pt x="0" y="868315"/>
                      <a:pt x="0" y="828486"/>
                    </a:cubicBezTo>
                    <a:lnTo>
                      <a:pt x="0" y="72116"/>
                    </a:lnTo>
                    <a:cubicBezTo>
                      <a:pt x="0" y="32288"/>
                      <a:pt x="32288" y="0"/>
                      <a:pt x="7211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6" name="Freeform 16"/>
            <p:cNvSpPr/>
            <p:nvPr/>
          </p:nvSpPr>
          <p:spPr>
            <a:xfrm>
              <a:off x="532912" y="522363"/>
              <a:ext cx="3514573" cy="3514573"/>
            </a:xfrm>
            <a:custGeom>
              <a:avLst/>
              <a:gdLst/>
              <a:ahLst/>
              <a:cxnLst/>
              <a:rect l="l" t="t" r="r" b="b"/>
              <a:pathLst>
                <a:path w="3514573" h="3514573">
                  <a:moveTo>
                    <a:pt x="0" y="0"/>
                  </a:moveTo>
                  <a:lnTo>
                    <a:pt x="3514573" y="0"/>
                  </a:lnTo>
                  <a:lnTo>
                    <a:pt x="3514573" y="3514574"/>
                  </a:lnTo>
                  <a:lnTo>
                    <a:pt x="0" y="35145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3435298" y="3433762"/>
            <a:ext cx="3435298" cy="3419475"/>
            <a:chOff x="0" y="0"/>
            <a:chExt cx="4580398" cy="4559300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4580398" cy="4559300"/>
              <a:chOff x="0" y="0"/>
              <a:chExt cx="904770" cy="900602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72116" y="0"/>
                    </a:moveTo>
                    <a:lnTo>
                      <a:pt x="832653" y="0"/>
                    </a:lnTo>
                    <a:cubicBezTo>
                      <a:pt x="851780" y="0"/>
                      <a:pt x="870123" y="7598"/>
                      <a:pt x="883647" y="21122"/>
                    </a:cubicBezTo>
                    <a:cubicBezTo>
                      <a:pt x="897172" y="34647"/>
                      <a:pt x="904770" y="52990"/>
                      <a:pt x="904770" y="72116"/>
                    </a:cubicBezTo>
                    <a:lnTo>
                      <a:pt x="904770" y="828486"/>
                    </a:lnTo>
                    <a:cubicBezTo>
                      <a:pt x="904770" y="868315"/>
                      <a:pt x="872482" y="900602"/>
                      <a:pt x="832653" y="900602"/>
                    </a:cubicBezTo>
                    <a:lnTo>
                      <a:pt x="72116" y="900602"/>
                    </a:lnTo>
                    <a:cubicBezTo>
                      <a:pt x="32288" y="900602"/>
                      <a:pt x="0" y="868315"/>
                      <a:pt x="0" y="828486"/>
                    </a:cubicBezTo>
                    <a:lnTo>
                      <a:pt x="0" y="72116"/>
                    </a:lnTo>
                    <a:cubicBezTo>
                      <a:pt x="0" y="32288"/>
                      <a:pt x="32288" y="0"/>
                      <a:pt x="72116" y="0"/>
                    </a:cubicBezTo>
                    <a:close/>
                  </a:path>
                </a:pathLst>
              </a:custGeom>
              <a:solidFill>
                <a:srgbClr val="FD9C37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1" name="Freeform 21"/>
            <p:cNvSpPr/>
            <p:nvPr/>
          </p:nvSpPr>
          <p:spPr>
            <a:xfrm>
              <a:off x="2166915" y="254000"/>
              <a:ext cx="2126366" cy="2049044"/>
            </a:xfrm>
            <a:custGeom>
              <a:avLst/>
              <a:gdLst/>
              <a:ahLst/>
              <a:cxnLst/>
              <a:rect l="l" t="t" r="r" b="b"/>
              <a:pathLst>
                <a:path w="2126366" h="2049044">
                  <a:moveTo>
                    <a:pt x="0" y="0"/>
                  </a:moveTo>
                  <a:lnTo>
                    <a:pt x="2126366" y="0"/>
                  </a:lnTo>
                  <a:lnTo>
                    <a:pt x="2126366" y="2049044"/>
                  </a:lnTo>
                  <a:lnTo>
                    <a:pt x="0" y="20490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2" name="Freeform 22"/>
          <p:cNvSpPr/>
          <p:nvPr/>
        </p:nvSpPr>
        <p:spPr>
          <a:xfrm>
            <a:off x="3435298" y="6862762"/>
            <a:ext cx="3424238" cy="3424238"/>
          </a:xfrm>
          <a:custGeom>
            <a:avLst/>
            <a:gdLst/>
            <a:ahLst/>
            <a:cxnLst/>
            <a:rect l="l" t="t" r="r" b="b"/>
            <a:pathLst>
              <a:path w="3424238" h="3424238">
                <a:moveTo>
                  <a:pt x="0" y="0"/>
                </a:moveTo>
                <a:lnTo>
                  <a:pt x="3424238" y="0"/>
                </a:lnTo>
                <a:lnTo>
                  <a:pt x="3424238" y="3424238"/>
                </a:lnTo>
                <a:lnTo>
                  <a:pt x="0" y="34242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0" y="6867525"/>
            <a:ext cx="3435298" cy="3419475"/>
            <a:chOff x="0" y="0"/>
            <a:chExt cx="4580398" cy="4559300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4580398" cy="4559300"/>
              <a:chOff x="0" y="0"/>
              <a:chExt cx="904770" cy="900602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72116" y="0"/>
                    </a:moveTo>
                    <a:lnTo>
                      <a:pt x="832653" y="0"/>
                    </a:lnTo>
                    <a:cubicBezTo>
                      <a:pt x="851780" y="0"/>
                      <a:pt x="870123" y="7598"/>
                      <a:pt x="883647" y="21122"/>
                    </a:cubicBezTo>
                    <a:cubicBezTo>
                      <a:pt x="897172" y="34647"/>
                      <a:pt x="904770" y="52990"/>
                      <a:pt x="904770" y="72116"/>
                    </a:cubicBezTo>
                    <a:lnTo>
                      <a:pt x="904770" y="828486"/>
                    </a:lnTo>
                    <a:cubicBezTo>
                      <a:pt x="904770" y="868315"/>
                      <a:pt x="872482" y="900602"/>
                      <a:pt x="832653" y="900602"/>
                    </a:cubicBezTo>
                    <a:lnTo>
                      <a:pt x="72116" y="900602"/>
                    </a:lnTo>
                    <a:cubicBezTo>
                      <a:pt x="32288" y="900602"/>
                      <a:pt x="0" y="868315"/>
                      <a:pt x="0" y="828486"/>
                    </a:cubicBezTo>
                    <a:lnTo>
                      <a:pt x="0" y="72116"/>
                    </a:lnTo>
                    <a:cubicBezTo>
                      <a:pt x="0" y="32288"/>
                      <a:pt x="32288" y="0"/>
                      <a:pt x="72116" y="0"/>
                    </a:cubicBezTo>
                    <a:close/>
                  </a:path>
                </a:pathLst>
              </a:custGeom>
              <a:solidFill>
                <a:srgbClr val="FD9C37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7" name="Freeform 27"/>
            <p:cNvSpPr/>
            <p:nvPr/>
          </p:nvSpPr>
          <p:spPr>
            <a:xfrm>
              <a:off x="251049" y="381000"/>
              <a:ext cx="1987102" cy="1987102"/>
            </a:xfrm>
            <a:custGeom>
              <a:avLst/>
              <a:gdLst/>
              <a:ahLst/>
              <a:cxnLst/>
              <a:rect l="l" t="t" r="r" b="b"/>
              <a:pathLst>
                <a:path w="1987102" h="1987102">
                  <a:moveTo>
                    <a:pt x="0" y="0"/>
                  </a:moveTo>
                  <a:lnTo>
                    <a:pt x="1987102" y="0"/>
                  </a:lnTo>
                  <a:lnTo>
                    <a:pt x="1987102" y="1987102"/>
                  </a:lnTo>
                  <a:lnTo>
                    <a:pt x="0" y="19871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8" name="TextBox 28"/>
          <p:cNvSpPr txBox="1"/>
          <p:nvPr/>
        </p:nvSpPr>
        <p:spPr>
          <a:xfrm>
            <a:off x="7835886" y="1528345"/>
            <a:ext cx="9478959" cy="1123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18"/>
              </a:lnSpc>
            </a:pPr>
            <a:r>
              <a:rPr lang="en-US" sz="8418" b="1">
                <a:solidFill>
                  <a:srgbClr val="FFFFFF"/>
                </a:solidFill>
                <a:latin typeface="Charlevoix Heavy"/>
                <a:ea typeface="Charlevoix Heavy"/>
                <a:cs typeface="Charlevoix Heavy"/>
                <a:sym typeface="Charlevoix Heavy"/>
              </a:rPr>
              <a:t>AGENDA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7891317" y="3010964"/>
            <a:ext cx="1774109" cy="623124"/>
            <a:chOff x="0" y="0"/>
            <a:chExt cx="444025" cy="15595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44025" cy="155956"/>
            </a:xfrm>
            <a:custGeom>
              <a:avLst/>
              <a:gdLst/>
              <a:ahLst/>
              <a:cxnLst/>
              <a:rect l="l" t="t" r="r" b="b"/>
              <a:pathLst>
                <a:path w="444025" h="155956">
                  <a:moveTo>
                    <a:pt x="43638" y="0"/>
                  </a:moveTo>
                  <a:lnTo>
                    <a:pt x="400387" y="0"/>
                  </a:lnTo>
                  <a:cubicBezTo>
                    <a:pt x="411960" y="0"/>
                    <a:pt x="423060" y="4598"/>
                    <a:pt x="431244" y="12781"/>
                  </a:cubicBezTo>
                  <a:cubicBezTo>
                    <a:pt x="439428" y="20965"/>
                    <a:pt x="444025" y="32065"/>
                    <a:pt x="444025" y="43638"/>
                  </a:cubicBezTo>
                  <a:lnTo>
                    <a:pt x="444025" y="112317"/>
                  </a:lnTo>
                  <a:cubicBezTo>
                    <a:pt x="444025" y="136418"/>
                    <a:pt x="424488" y="155956"/>
                    <a:pt x="400387" y="155956"/>
                  </a:cubicBezTo>
                  <a:lnTo>
                    <a:pt x="43638" y="155956"/>
                  </a:lnTo>
                  <a:cubicBezTo>
                    <a:pt x="19538" y="155956"/>
                    <a:pt x="0" y="136418"/>
                    <a:pt x="0" y="112317"/>
                  </a:cubicBezTo>
                  <a:lnTo>
                    <a:pt x="0" y="43638"/>
                  </a:lnTo>
                  <a:cubicBezTo>
                    <a:pt x="0" y="19538"/>
                    <a:pt x="19538" y="0"/>
                    <a:pt x="4363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444025" cy="1940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7891317" y="3171355"/>
            <a:ext cx="1774109" cy="349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0"/>
              </a:lnSpc>
            </a:pPr>
            <a:r>
              <a:rPr lang="en-US" sz="2630" b="1">
                <a:solidFill>
                  <a:srgbClr val="082649"/>
                </a:solidFill>
                <a:latin typeface="Charlevoix Medium"/>
                <a:ea typeface="Charlevoix Medium"/>
                <a:cs typeface="Charlevoix Medium"/>
                <a:sym typeface="Charlevoix Medium"/>
              </a:rPr>
              <a:t>Agenda 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839262" y="3124738"/>
            <a:ext cx="7592900" cy="396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736" b="1">
                <a:solidFill>
                  <a:srgbClr val="FFFFFF"/>
                </a:solidFill>
                <a:latin typeface="Charlevoix Medium"/>
                <a:ea typeface="Charlevoix Medium"/>
                <a:cs typeface="Charlevoix Medium"/>
                <a:sym typeface="Charlevoix Medium"/>
              </a:rPr>
              <a:t>Order Review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7891317" y="4273972"/>
            <a:ext cx="1774109" cy="623124"/>
            <a:chOff x="0" y="0"/>
            <a:chExt cx="444025" cy="15595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44025" cy="155956"/>
            </a:xfrm>
            <a:custGeom>
              <a:avLst/>
              <a:gdLst/>
              <a:ahLst/>
              <a:cxnLst/>
              <a:rect l="l" t="t" r="r" b="b"/>
              <a:pathLst>
                <a:path w="444025" h="155956">
                  <a:moveTo>
                    <a:pt x="43638" y="0"/>
                  </a:moveTo>
                  <a:lnTo>
                    <a:pt x="400387" y="0"/>
                  </a:lnTo>
                  <a:cubicBezTo>
                    <a:pt x="411960" y="0"/>
                    <a:pt x="423060" y="4598"/>
                    <a:pt x="431244" y="12781"/>
                  </a:cubicBezTo>
                  <a:cubicBezTo>
                    <a:pt x="439428" y="20965"/>
                    <a:pt x="444025" y="32065"/>
                    <a:pt x="444025" y="43638"/>
                  </a:cubicBezTo>
                  <a:lnTo>
                    <a:pt x="444025" y="112317"/>
                  </a:lnTo>
                  <a:cubicBezTo>
                    <a:pt x="444025" y="136418"/>
                    <a:pt x="424488" y="155956"/>
                    <a:pt x="400387" y="155956"/>
                  </a:cubicBezTo>
                  <a:lnTo>
                    <a:pt x="43638" y="155956"/>
                  </a:lnTo>
                  <a:cubicBezTo>
                    <a:pt x="19538" y="155956"/>
                    <a:pt x="0" y="136418"/>
                    <a:pt x="0" y="112317"/>
                  </a:cubicBezTo>
                  <a:lnTo>
                    <a:pt x="0" y="43638"/>
                  </a:lnTo>
                  <a:cubicBezTo>
                    <a:pt x="0" y="19538"/>
                    <a:pt x="19538" y="0"/>
                    <a:pt x="4363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444025" cy="1940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7891317" y="4434363"/>
            <a:ext cx="1774109" cy="349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0"/>
              </a:lnSpc>
            </a:pPr>
            <a:r>
              <a:rPr lang="en-US" sz="2630" b="1">
                <a:solidFill>
                  <a:srgbClr val="082649"/>
                </a:solidFill>
                <a:latin typeface="Charlevoix Medium"/>
                <a:ea typeface="Charlevoix Medium"/>
                <a:cs typeface="Charlevoix Medium"/>
                <a:sym typeface="Charlevoix Medium"/>
              </a:rPr>
              <a:t>Agenda 2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839262" y="4387746"/>
            <a:ext cx="7592900" cy="396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736" b="1">
                <a:solidFill>
                  <a:srgbClr val="FFFFFF"/>
                </a:solidFill>
                <a:latin typeface="Charlevoix Medium"/>
                <a:ea typeface="Charlevoix Medium"/>
                <a:cs typeface="Charlevoix Medium"/>
                <a:sym typeface="Charlevoix Medium"/>
              </a:rPr>
              <a:t>Resident Direct (if applicable)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7891317" y="5535271"/>
            <a:ext cx="1774109" cy="623124"/>
            <a:chOff x="0" y="0"/>
            <a:chExt cx="444025" cy="15595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44025" cy="155956"/>
            </a:xfrm>
            <a:custGeom>
              <a:avLst/>
              <a:gdLst/>
              <a:ahLst/>
              <a:cxnLst/>
              <a:rect l="l" t="t" r="r" b="b"/>
              <a:pathLst>
                <a:path w="444025" h="155956">
                  <a:moveTo>
                    <a:pt x="43638" y="0"/>
                  </a:moveTo>
                  <a:lnTo>
                    <a:pt x="400387" y="0"/>
                  </a:lnTo>
                  <a:cubicBezTo>
                    <a:pt x="411960" y="0"/>
                    <a:pt x="423060" y="4598"/>
                    <a:pt x="431244" y="12781"/>
                  </a:cubicBezTo>
                  <a:cubicBezTo>
                    <a:pt x="439428" y="20965"/>
                    <a:pt x="444025" y="32065"/>
                    <a:pt x="444025" y="43638"/>
                  </a:cubicBezTo>
                  <a:lnTo>
                    <a:pt x="444025" y="112317"/>
                  </a:lnTo>
                  <a:cubicBezTo>
                    <a:pt x="444025" y="136418"/>
                    <a:pt x="424488" y="155956"/>
                    <a:pt x="400387" y="155956"/>
                  </a:cubicBezTo>
                  <a:lnTo>
                    <a:pt x="43638" y="155956"/>
                  </a:lnTo>
                  <a:cubicBezTo>
                    <a:pt x="19538" y="155956"/>
                    <a:pt x="0" y="136418"/>
                    <a:pt x="0" y="112317"/>
                  </a:cubicBezTo>
                  <a:lnTo>
                    <a:pt x="0" y="43638"/>
                  </a:lnTo>
                  <a:cubicBezTo>
                    <a:pt x="0" y="19538"/>
                    <a:pt x="19538" y="0"/>
                    <a:pt x="4363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444025" cy="1940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7891317" y="5695662"/>
            <a:ext cx="1774109" cy="349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0"/>
              </a:lnSpc>
            </a:pPr>
            <a:r>
              <a:rPr lang="en-US" sz="2630" b="1">
                <a:solidFill>
                  <a:srgbClr val="082649"/>
                </a:solidFill>
                <a:latin typeface="Charlevoix Medium"/>
                <a:ea typeface="Charlevoix Medium"/>
                <a:cs typeface="Charlevoix Medium"/>
                <a:sym typeface="Charlevoix Medium"/>
              </a:rPr>
              <a:t>Agenda 3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839262" y="5649045"/>
            <a:ext cx="7592900" cy="396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736" b="1">
                <a:solidFill>
                  <a:srgbClr val="FFFFFF"/>
                </a:solidFill>
                <a:latin typeface="Charlevoix Medium"/>
                <a:ea typeface="Charlevoix Medium"/>
                <a:cs typeface="Charlevoix Medium"/>
                <a:sym typeface="Charlevoix Medium"/>
              </a:rPr>
              <a:t>Consulting Orders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7891317" y="6796569"/>
            <a:ext cx="1774109" cy="623124"/>
            <a:chOff x="0" y="0"/>
            <a:chExt cx="444025" cy="15595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44025" cy="155956"/>
            </a:xfrm>
            <a:custGeom>
              <a:avLst/>
              <a:gdLst/>
              <a:ahLst/>
              <a:cxnLst/>
              <a:rect l="l" t="t" r="r" b="b"/>
              <a:pathLst>
                <a:path w="444025" h="155956">
                  <a:moveTo>
                    <a:pt x="43638" y="0"/>
                  </a:moveTo>
                  <a:lnTo>
                    <a:pt x="400387" y="0"/>
                  </a:lnTo>
                  <a:cubicBezTo>
                    <a:pt x="411960" y="0"/>
                    <a:pt x="423060" y="4598"/>
                    <a:pt x="431244" y="12781"/>
                  </a:cubicBezTo>
                  <a:cubicBezTo>
                    <a:pt x="439428" y="20965"/>
                    <a:pt x="444025" y="32065"/>
                    <a:pt x="444025" y="43638"/>
                  </a:cubicBezTo>
                  <a:lnTo>
                    <a:pt x="444025" y="112317"/>
                  </a:lnTo>
                  <a:cubicBezTo>
                    <a:pt x="444025" y="136418"/>
                    <a:pt x="424488" y="155956"/>
                    <a:pt x="400387" y="155956"/>
                  </a:cubicBezTo>
                  <a:lnTo>
                    <a:pt x="43638" y="155956"/>
                  </a:lnTo>
                  <a:cubicBezTo>
                    <a:pt x="19538" y="155956"/>
                    <a:pt x="0" y="136418"/>
                    <a:pt x="0" y="112317"/>
                  </a:cubicBezTo>
                  <a:lnTo>
                    <a:pt x="0" y="43638"/>
                  </a:lnTo>
                  <a:cubicBezTo>
                    <a:pt x="0" y="19538"/>
                    <a:pt x="19538" y="0"/>
                    <a:pt x="4363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444025" cy="1940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7891317" y="6956961"/>
            <a:ext cx="1774109" cy="349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0"/>
              </a:lnSpc>
            </a:pPr>
            <a:r>
              <a:rPr lang="en-US" sz="2630" b="1">
                <a:solidFill>
                  <a:srgbClr val="082649"/>
                </a:solidFill>
                <a:latin typeface="Charlevoix Medium"/>
                <a:ea typeface="Charlevoix Medium"/>
                <a:cs typeface="Charlevoix Medium"/>
                <a:sym typeface="Charlevoix Medium"/>
              </a:rPr>
              <a:t>Agenda 4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839262" y="6910344"/>
            <a:ext cx="7592900" cy="396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736" b="1">
                <a:solidFill>
                  <a:srgbClr val="FFFFFF"/>
                </a:solidFill>
                <a:latin typeface="Charlevoix Medium"/>
                <a:ea typeface="Charlevoix Medium"/>
                <a:cs typeface="Charlevoix Medium"/>
                <a:sym typeface="Charlevoix Medium"/>
              </a:rPr>
              <a:t>Sales Prep Questionnaire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7891317" y="8057868"/>
            <a:ext cx="1774109" cy="623124"/>
            <a:chOff x="0" y="0"/>
            <a:chExt cx="444025" cy="155956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44025" cy="155956"/>
            </a:xfrm>
            <a:custGeom>
              <a:avLst/>
              <a:gdLst/>
              <a:ahLst/>
              <a:cxnLst/>
              <a:rect l="l" t="t" r="r" b="b"/>
              <a:pathLst>
                <a:path w="444025" h="155956">
                  <a:moveTo>
                    <a:pt x="43638" y="0"/>
                  </a:moveTo>
                  <a:lnTo>
                    <a:pt x="400387" y="0"/>
                  </a:lnTo>
                  <a:cubicBezTo>
                    <a:pt x="411960" y="0"/>
                    <a:pt x="423060" y="4598"/>
                    <a:pt x="431244" y="12781"/>
                  </a:cubicBezTo>
                  <a:cubicBezTo>
                    <a:pt x="439428" y="20965"/>
                    <a:pt x="444025" y="32065"/>
                    <a:pt x="444025" y="43638"/>
                  </a:cubicBezTo>
                  <a:lnTo>
                    <a:pt x="444025" y="112317"/>
                  </a:lnTo>
                  <a:cubicBezTo>
                    <a:pt x="444025" y="136418"/>
                    <a:pt x="424488" y="155956"/>
                    <a:pt x="400387" y="155956"/>
                  </a:cubicBezTo>
                  <a:lnTo>
                    <a:pt x="43638" y="155956"/>
                  </a:lnTo>
                  <a:cubicBezTo>
                    <a:pt x="19538" y="155956"/>
                    <a:pt x="0" y="136418"/>
                    <a:pt x="0" y="112317"/>
                  </a:cubicBezTo>
                  <a:lnTo>
                    <a:pt x="0" y="43638"/>
                  </a:lnTo>
                  <a:cubicBezTo>
                    <a:pt x="0" y="19538"/>
                    <a:pt x="19538" y="0"/>
                    <a:pt x="4363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444025" cy="1940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7891317" y="8218259"/>
            <a:ext cx="1774109" cy="349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0"/>
              </a:lnSpc>
            </a:pPr>
            <a:r>
              <a:rPr lang="en-US" sz="2630" b="1">
                <a:solidFill>
                  <a:srgbClr val="082649"/>
                </a:solidFill>
                <a:latin typeface="Charlevoix Medium"/>
                <a:ea typeface="Charlevoix Medium"/>
                <a:cs typeface="Charlevoix Medium"/>
                <a:sym typeface="Charlevoix Medium"/>
              </a:rPr>
              <a:t>Agenda 5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894693" y="8171642"/>
            <a:ext cx="7592900" cy="396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736" b="1">
                <a:solidFill>
                  <a:srgbClr val="FFFFFF"/>
                </a:solidFill>
                <a:latin typeface="Charlevoix Medium"/>
                <a:ea typeface="Charlevoix Medium"/>
                <a:cs typeface="Charlevoix Medium"/>
                <a:sym typeface="Charlevoix Medium"/>
              </a:rPr>
              <a:t>Action Items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6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4482" y="774094"/>
            <a:ext cx="5032662" cy="1814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1"/>
              </a:lnSpc>
            </a:pPr>
            <a:r>
              <a:rPr lang="en-US" sz="7353" b="1">
                <a:solidFill>
                  <a:srgbClr val="FFFFFF"/>
                </a:solidFill>
                <a:latin typeface="Charlevoix Heavy"/>
                <a:ea typeface="Charlevoix Heavy"/>
                <a:cs typeface="Charlevoix Heavy"/>
                <a:sym typeface="Charlevoix Heavy"/>
              </a:rPr>
              <a:t>ORDER REVIEW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54482" y="6325601"/>
            <a:ext cx="1728476" cy="1720515"/>
            <a:chOff x="0" y="0"/>
            <a:chExt cx="2304635" cy="229402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304635" cy="2294020"/>
              <a:chOff x="0" y="0"/>
              <a:chExt cx="904770" cy="90060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72116" y="0"/>
                    </a:moveTo>
                    <a:lnTo>
                      <a:pt x="832653" y="0"/>
                    </a:lnTo>
                    <a:cubicBezTo>
                      <a:pt x="851780" y="0"/>
                      <a:pt x="870123" y="7598"/>
                      <a:pt x="883647" y="21122"/>
                    </a:cubicBezTo>
                    <a:cubicBezTo>
                      <a:pt x="897172" y="34647"/>
                      <a:pt x="904770" y="52990"/>
                      <a:pt x="904770" y="72116"/>
                    </a:cubicBezTo>
                    <a:lnTo>
                      <a:pt x="904770" y="828486"/>
                    </a:lnTo>
                    <a:cubicBezTo>
                      <a:pt x="904770" y="868315"/>
                      <a:pt x="872482" y="900602"/>
                      <a:pt x="832653" y="900602"/>
                    </a:cubicBezTo>
                    <a:lnTo>
                      <a:pt x="72116" y="900602"/>
                    </a:lnTo>
                    <a:cubicBezTo>
                      <a:pt x="32288" y="900602"/>
                      <a:pt x="0" y="868315"/>
                      <a:pt x="0" y="828486"/>
                    </a:cubicBezTo>
                    <a:lnTo>
                      <a:pt x="0" y="72116"/>
                    </a:lnTo>
                    <a:cubicBezTo>
                      <a:pt x="0" y="32288"/>
                      <a:pt x="32288" y="0"/>
                      <a:pt x="7211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/>
            <p:cNvSpPr/>
            <p:nvPr/>
          </p:nvSpPr>
          <p:spPr>
            <a:xfrm>
              <a:off x="269440" y="139873"/>
              <a:ext cx="1890733" cy="1890733"/>
            </a:xfrm>
            <a:custGeom>
              <a:avLst/>
              <a:gdLst/>
              <a:ahLst/>
              <a:cxnLst/>
              <a:rect l="l" t="t" r="r" b="b"/>
              <a:pathLst>
                <a:path w="1890733" h="1890733">
                  <a:moveTo>
                    <a:pt x="0" y="0"/>
                  </a:moveTo>
                  <a:lnTo>
                    <a:pt x="1890732" y="0"/>
                  </a:lnTo>
                  <a:lnTo>
                    <a:pt x="1890732" y="1890733"/>
                  </a:lnTo>
                  <a:lnTo>
                    <a:pt x="0" y="1890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2491950" y="2866588"/>
            <a:ext cx="1728476" cy="1720515"/>
            <a:chOff x="0" y="0"/>
            <a:chExt cx="2304635" cy="229402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2304635" cy="2294020"/>
              <a:chOff x="0" y="0"/>
              <a:chExt cx="904770" cy="900602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72116" y="0"/>
                    </a:moveTo>
                    <a:lnTo>
                      <a:pt x="832653" y="0"/>
                    </a:lnTo>
                    <a:cubicBezTo>
                      <a:pt x="851780" y="0"/>
                      <a:pt x="870123" y="7598"/>
                      <a:pt x="883647" y="21122"/>
                    </a:cubicBezTo>
                    <a:cubicBezTo>
                      <a:pt x="897172" y="34647"/>
                      <a:pt x="904770" y="52990"/>
                      <a:pt x="904770" y="72116"/>
                    </a:cubicBezTo>
                    <a:lnTo>
                      <a:pt x="904770" y="828486"/>
                    </a:lnTo>
                    <a:cubicBezTo>
                      <a:pt x="904770" y="868315"/>
                      <a:pt x="872482" y="900602"/>
                      <a:pt x="832653" y="900602"/>
                    </a:cubicBezTo>
                    <a:lnTo>
                      <a:pt x="72116" y="900602"/>
                    </a:lnTo>
                    <a:cubicBezTo>
                      <a:pt x="32288" y="900602"/>
                      <a:pt x="0" y="868315"/>
                      <a:pt x="0" y="828486"/>
                    </a:cubicBezTo>
                    <a:lnTo>
                      <a:pt x="0" y="72116"/>
                    </a:lnTo>
                    <a:cubicBezTo>
                      <a:pt x="0" y="32288"/>
                      <a:pt x="32288" y="0"/>
                      <a:pt x="72116" y="0"/>
                    </a:cubicBezTo>
                    <a:close/>
                  </a:path>
                </a:pathLst>
              </a:custGeom>
              <a:solidFill>
                <a:srgbClr val="FD9C37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216443" y="683733"/>
              <a:ext cx="1871749" cy="1078808"/>
            </a:xfrm>
            <a:custGeom>
              <a:avLst/>
              <a:gdLst/>
              <a:ahLst/>
              <a:cxnLst/>
              <a:rect l="l" t="t" r="r" b="b"/>
              <a:pathLst>
                <a:path w="1871749" h="1078808">
                  <a:moveTo>
                    <a:pt x="0" y="0"/>
                  </a:moveTo>
                  <a:lnTo>
                    <a:pt x="1871749" y="0"/>
                  </a:lnTo>
                  <a:lnTo>
                    <a:pt x="1871749" y="1078808"/>
                  </a:lnTo>
                  <a:lnTo>
                    <a:pt x="0" y="1078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754482" y="2866588"/>
            <a:ext cx="1728476" cy="1720515"/>
            <a:chOff x="0" y="0"/>
            <a:chExt cx="2304635" cy="2294020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2304635" cy="2294020"/>
              <a:chOff x="0" y="0"/>
              <a:chExt cx="904770" cy="900602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72116" y="0"/>
                    </a:moveTo>
                    <a:lnTo>
                      <a:pt x="832653" y="0"/>
                    </a:lnTo>
                    <a:cubicBezTo>
                      <a:pt x="851780" y="0"/>
                      <a:pt x="870123" y="7598"/>
                      <a:pt x="883647" y="21122"/>
                    </a:cubicBezTo>
                    <a:cubicBezTo>
                      <a:pt x="897172" y="34647"/>
                      <a:pt x="904770" y="52990"/>
                      <a:pt x="904770" y="72116"/>
                    </a:cubicBezTo>
                    <a:lnTo>
                      <a:pt x="904770" y="828486"/>
                    </a:lnTo>
                    <a:cubicBezTo>
                      <a:pt x="904770" y="868315"/>
                      <a:pt x="872482" y="900602"/>
                      <a:pt x="832653" y="900602"/>
                    </a:cubicBezTo>
                    <a:lnTo>
                      <a:pt x="72116" y="900602"/>
                    </a:lnTo>
                    <a:cubicBezTo>
                      <a:pt x="32288" y="900602"/>
                      <a:pt x="0" y="868315"/>
                      <a:pt x="0" y="828486"/>
                    </a:cubicBezTo>
                    <a:lnTo>
                      <a:pt x="0" y="72116"/>
                    </a:lnTo>
                    <a:cubicBezTo>
                      <a:pt x="0" y="32288"/>
                      <a:pt x="32288" y="0"/>
                      <a:pt x="7211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7" name="Freeform 17"/>
            <p:cNvSpPr/>
            <p:nvPr/>
          </p:nvSpPr>
          <p:spPr>
            <a:xfrm>
              <a:off x="268136" y="262828"/>
              <a:ext cx="1768364" cy="1768364"/>
            </a:xfrm>
            <a:custGeom>
              <a:avLst/>
              <a:gdLst/>
              <a:ahLst/>
              <a:cxnLst/>
              <a:rect l="l" t="t" r="r" b="b"/>
              <a:pathLst>
                <a:path w="1768364" h="1768364">
                  <a:moveTo>
                    <a:pt x="0" y="0"/>
                  </a:moveTo>
                  <a:lnTo>
                    <a:pt x="1768364" y="0"/>
                  </a:lnTo>
                  <a:lnTo>
                    <a:pt x="1768364" y="1768364"/>
                  </a:lnTo>
                  <a:lnTo>
                    <a:pt x="0" y="1768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754482" y="4596095"/>
            <a:ext cx="1728476" cy="1720515"/>
            <a:chOff x="0" y="0"/>
            <a:chExt cx="2304635" cy="229402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2304635" cy="2294020"/>
              <a:chOff x="0" y="0"/>
              <a:chExt cx="904770" cy="900602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72116" y="0"/>
                    </a:moveTo>
                    <a:lnTo>
                      <a:pt x="832653" y="0"/>
                    </a:lnTo>
                    <a:cubicBezTo>
                      <a:pt x="851780" y="0"/>
                      <a:pt x="870123" y="7598"/>
                      <a:pt x="883647" y="21122"/>
                    </a:cubicBezTo>
                    <a:cubicBezTo>
                      <a:pt x="897172" y="34647"/>
                      <a:pt x="904770" y="52990"/>
                      <a:pt x="904770" y="72116"/>
                    </a:cubicBezTo>
                    <a:lnTo>
                      <a:pt x="904770" y="828486"/>
                    </a:lnTo>
                    <a:cubicBezTo>
                      <a:pt x="904770" y="868315"/>
                      <a:pt x="872482" y="900602"/>
                      <a:pt x="832653" y="900602"/>
                    </a:cubicBezTo>
                    <a:lnTo>
                      <a:pt x="72116" y="900602"/>
                    </a:lnTo>
                    <a:cubicBezTo>
                      <a:pt x="32288" y="900602"/>
                      <a:pt x="0" y="868315"/>
                      <a:pt x="0" y="828486"/>
                    </a:cubicBezTo>
                    <a:lnTo>
                      <a:pt x="0" y="72116"/>
                    </a:lnTo>
                    <a:cubicBezTo>
                      <a:pt x="0" y="32288"/>
                      <a:pt x="32288" y="0"/>
                      <a:pt x="72116" y="0"/>
                    </a:cubicBezTo>
                    <a:close/>
                  </a:path>
                </a:pathLst>
              </a:custGeom>
              <a:solidFill>
                <a:srgbClr val="FD9C37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126316" y="191701"/>
              <a:ext cx="999814" cy="999814"/>
            </a:xfrm>
            <a:custGeom>
              <a:avLst/>
              <a:gdLst/>
              <a:ahLst/>
              <a:cxnLst/>
              <a:rect l="l" t="t" r="r" b="b"/>
              <a:pathLst>
                <a:path w="999814" h="999814">
                  <a:moveTo>
                    <a:pt x="0" y="0"/>
                  </a:moveTo>
                  <a:lnTo>
                    <a:pt x="999814" y="0"/>
                  </a:lnTo>
                  <a:lnTo>
                    <a:pt x="999814" y="999814"/>
                  </a:lnTo>
                  <a:lnTo>
                    <a:pt x="0" y="999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3" name="Freeform 23"/>
          <p:cNvSpPr/>
          <p:nvPr/>
        </p:nvSpPr>
        <p:spPr>
          <a:xfrm>
            <a:off x="2499911" y="4596095"/>
            <a:ext cx="1720515" cy="1720515"/>
          </a:xfrm>
          <a:custGeom>
            <a:avLst/>
            <a:gdLst/>
            <a:ahLst/>
            <a:cxnLst/>
            <a:rect l="l" t="t" r="r" b="b"/>
            <a:pathLst>
              <a:path w="1720515" h="1720515">
                <a:moveTo>
                  <a:pt x="0" y="0"/>
                </a:moveTo>
                <a:lnTo>
                  <a:pt x="1720515" y="0"/>
                </a:lnTo>
                <a:lnTo>
                  <a:pt x="1720515" y="1720515"/>
                </a:lnTo>
                <a:lnTo>
                  <a:pt x="0" y="17205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2482959" y="6325601"/>
            <a:ext cx="1722911" cy="1722911"/>
          </a:xfrm>
          <a:custGeom>
            <a:avLst/>
            <a:gdLst/>
            <a:ahLst/>
            <a:cxnLst/>
            <a:rect l="l" t="t" r="r" b="b"/>
            <a:pathLst>
              <a:path w="1722911" h="1722911">
                <a:moveTo>
                  <a:pt x="0" y="0"/>
                </a:moveTo>
                <a:lnTo>
                  <a:pt x="1722911" y="0"/>
                </a:lnTo>
                <a:lnTo>
                  <a:pt x="1722911" y="1722911"/>
                </a:lnTo>
                <a:lnTo>
                  <a:pt x="0" y="17229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754482" y="8055107"/>
            <a:ext cx="1720515" cy="1720515"/>
          </a:xfrm>
          <a:custGeom>
            <a:avLst/>
            <a:gdLst/>
            <a:ahLst/>
            <a:cxnLst/>
            <a:rect l="l" t="t" r="r" b="b"/>
            <a:pathLst>
              <a:path w="1720515" h="1720515">
                <a:moveTo>
                  <a:pt x="0" y="0"/>
                </a:moveTo>
                <a:lnTo>
                  <a:pt x="1720515" y="0"/>
                </a:lnTo>
                <a:lnTo>
                  <a:pt x="1720515" y="1720515"/>
                </a:lnTo>
                <a:lnTo>
                  <a:pt x="0" y="17205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2474997" y="8057503"/>
            <a:ext cx="1720515" cy="1720515"/>
          </a:xfrm>
          <a:custGeom>
            <a:avLst/>
            <a:gdLst/>
            <a:ahLst/>
            <a:cxnLst/>
            <a:rect l="l" t="t" r="r" b="b"/>
            <a:pathLst>
              <a:path w="1720515" h="1720515">
                <a:moveTo>
                  <a:pt x="0" y="0"/>
                </a:moveTo>
                <a:lnTo>
                  <a:pt x="1720515" y="0"/>
                </a:lnTo>
                <a:lnTo>
                  <a:pt x="1720515" y="1720515"/>
                </a:lnTo>
                <a:lnTo>
                  <a:pt x="0" y="17205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4516292" y="789665"/>
            <a:ext cx="13017226" cy="8985957"/>
            <a:chOff x="0" y="0"/>
            <a:chExt cx="3451381" cy="238253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451381" cy="2382532"/>
            </a:xfrm>
            <a:custGeom>
              <a:avLst/>
              <a:gdLst/>
              <a:ahLst/>
              <a:cxnLst/>
              <a:rect l="l" t="t" r="r" b="b"/>
              <a:pathLst>
                <a:path w="3451381" h="2382532">
                  <a:moveTo>
                    <a:pt x="5947" y="0"/>
                  </a:moveTo>
                  <a:lnTo>
                    <a:pt x="3445434" y="0"/>
                  </a:lnTo>
                  <a:cubicBezTo>
                    <a:pt x="3447011" y="0"/>
                    <a:pt x="3448524" y="627"/>
                    <a:pt x="3449639" y="1742"/>
                  </a:cubicBezTo>
                  <a:cubicBezTo>
                    <a:pt x="3450754" y="2857"/>
                    <a:pt x="3451381" y="4370"/>
                    <a:pt x="3451381" y="5947"/>
                  </a:cubicBezTo>
                  <a:lnTo>
                    <a:pt x="3451381" y="2376585"/>
                  </a:lnTo>
                  <a:cubicBezTo>
                    <a:pt x="3451381" y="2378162"/>
                    <a:pt x="3450754" y="2379675"/>
                    <a:pt x="3449639" y="2380791"/>
                  </a:cubicBezTo>
                  <a:cubicBezTo>
                    <a:pt x="3448524" y="2381906"/>
                    <a:pt x="3447011" y="2382532"/>
                    <a:pt x="3445434" y="2382532"/>
                  </a:cubicBezTo>
                  <a:lnTo>
                    <a:pt x="5947" y="2382532"/>
                  </a:lnTo>
                  <a:cubicBezTo>
                    <a:pt x="4370" y="2382532"/>
                    <a:pt x="2857" y="2381906"/>
                    <a:pt x="1742" y="2380791"/>
                  </a:cubicBezTo>
                  <a:cubicBezTo>
                    <a:pt x="627" y="2379675"/>
                    <a:pt x="0" y="2378162"/>
                    <a:pt x="0" y="2376585"/>
                  </a:cubicBezTo>
                  <a:lnTo>
                    <a:pt x="0" y="5947"/>
                  </a:lnTo>
                  <a:cubicBezTo>
                    <a:pt x="0" y="4370"/>
                    <a:pt x="627" y="2857"/>
                    <a:pt x="1742" y="1742"/>
                  </a:cubicBezTo>
                  <a:cubicBezTo>
                    <a:pt x="2857" y="627"/>
                    <a:pt x="4370" y="0"/>
                    <a:pt x="5947" y="0"/>
                  </a:cubicBezTo>
                  <a:close/>
                </a:path>
              </a:pathLst>
            </a:custGeom>
            <a:solidFill>
              <a:srgbClr val="FFFFFF">
                <a:alpha val="24706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3451381" cy="2420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001400" y="2198097"/>
            <a:ext cx="12257900" cy="6516510"/>
            <a:chOff x="0" y="0"/>
            <a:chExt cx="16343867" cy="8688680"/>
          </a:xfrm>
        </p:grpSpPr>
        <p:sp>
          <p:nvSpPr>
            <p:cNvPr id="31" name="TextBox 31"/>
            <p:cNvSpPr txBox="1"/>
            <p:nvPr/>
          </p:nvSpPr>
          <p:spPr>
            <a:xfrm>
              <a:off x="0" y="955900"/>
              <a:ext cx="16343867" cy="14051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04840" lvl="1" indent="-252420" algn="l">
                <a:lnSpc>
                  <a:spcPts val="2805"/>
                </a:lnSpc>
                <a:buFont typeface="Arial"/>
                <a:buChar char="•"/>
              </a:pPr>
              <a:r>
                <a:rPr lang="en-US" sz="2338" b="1">
                  <a:solidFill>
                    <a:srgbClr val="FFFFFF"/>
                  </a:solidFill>
                  <a:latin typeface="Charlevoix Medium"/>
                  <a:ea typeface="Charlevoix Medium"/>
                  <a:cs typeface="Charlevoix Medium"/>
                  <a:sym typeface="Charlevoix Medium"/>
                </a:rPr>
                <a:t>RealPage Price Schedule (Salesforce)​</a:t>
              </a:r>
            </a:p>
            <a:p>
              <a:pPr marL="504840" lvl="1" indent="-252420" algn="l">
                <a:lnSpc>
                  <a:spcPts val="2805"/>
                </a:lnSpc>
                <a:buFont typeface="Arial"/>
                <a:buChar char="•"/>
              </a:pPr>
              <a:r>
                <a:rPr lang="en-US" sz="2338" b="1">
                  <a:solidFill>
                    <a:srgbClr val="FFFFFF"/>
                  </a:solidFill>
                  <a:latin typeface="Charlevoix Medium"/>
                  <a:ea typeface="Charlevoix Medium"/>
                  <a:cs typeface="Charlevoix Medium"/>
                  <a:sym typeface="Charlevoix Medium"/>
                </a:rPr>
                <a:t>Sample Price Schedule Email​</a:t>
              </a:r>
            </a:p>
            <a:p>
              <a:pPr algn="l">
                <a:lnSpc>
                  <a:spcPts val="2805"/>
                </a:lnSpc>
              </a:pPr>
              <a:endParaRPr lang="en-US" sz="2338" b="1">
                <a:solidFill>
                  <a:srgbClr val="FFFFFF"/>
                </a:solidFill>
                <a:latin typeface="Charlevoix Medium"/>
                <a:ea typeface="Charlevoix Medium"/>
                <a:cs typeface="Charlevoix Medium"/>
                <a:sym typeface="Charlevoix Medium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3652372"/>
              <a:ext cx="16343867" cy="14051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04840" lvl="1" indent="-252420" algn="l">
                <a:lnSpc>
                  <a:spcPts val="2805"/>
                </a:lnSpc>
                <a:buFont typeface="Arial"/>
                <a:buChar char="•"/>
              </a:pPr>
              <a:r>
                <a:rPr lang="en-US" sz="2338" b="1">
                  <a:solidFill>
                    <a:srgbClr val="FFFFFF"/>
                  </a:solidFill>
                  <a:latin typeface="Charlevoix Medium"/>
                  <a:ea typeface="Charlevoix Medium"/>
                  <a:cs typeface="Charlevoix Medium"/>
                  <a:sym typeface="Charlevoix Medium"/>
                </a:rPr>
                <a:t>PMC Name, Address &amp; Phone Number​</a:t>
              </a:r>
            </a:p>
            <a:p>
              <a:pPr marL="504840" lvl="1" indent="-252420" algn="l">
                <a:lnSpc>
                  <a:spcPts val="2805"/>
                </a:lnSpc>
                <a:buFont typeface="Arial"/>
                <a:buChar char="•"/>
              </a:pPr>
              <a:r>
                <a:rPr lang="en-US" sz="2338" b="1">
                  <a:solidFill>
                    <a:srgbClr val="FFFFFF"/>
                  </a:solidFill>
                  <a:latin typeface="Charlevoix Medium"/>
                  <a:ea typeface="Charlevoix Medium"/>
                  <a:cs typeface="Charlevoix Medium"/>
                  <a:sym typeface="Charlevoix Medium"/>
                </a:rPr>
                <a:t>Site ID &amp; Site Name​</a:t>
              </a:r>
            </a:p>
            <a:p>
              <a:pPr algn="l">
                <a:lnSpc>
                  <a:spcPts val="2805"/>
                </a:lnSpc>
              </a:pPr>
              <a:endParaRPr lang="en-US" sz="2338" b="1">
                <a:solidFill>
                  <a:srgbClr val="FFFFFF"/>
                </a:solidFill>
                <a:latin typeface="Charlevoix Medium"/>
                <a:ea typeface="Charlevoix Medium"/>
                <a:cs typeface="Charlevoix Medium"/>
                <a:sym typeface="Charlevoix Medium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6353137"/>
              <a:ext cx="16343867" cy="23355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04840" lvl="1" indent="-252420" algn="l">
                <a:lnSpc>
                  <a:spcPts val="2805"/>
                </a:lnSpc>
                <a:buFont typeface="Arial"/>
                <a:buChar char="•"/>
              </a:pPr>
              <a:r>
                <a:rPr lang="en-US" sz="2338" b="1">
                  <a:solidFill>
                    <a:srgbClr val="FFFFFF"/>
                  </a:solidFill>
                  <a:latin typeface="Charlevoix Medium"/>
                  <a:ea typeface="Charlevoix Medium"/>
                  <a:cs typeface="Charlevoix Medium"/>
                  <a:sym typeface="Charlevoix Medium"/>
                </a:rPr>
                <a:t>Site Count​</a:t>
              </a:r>
            </a:p>
            <a:p>
              <a:pPr marL="504840" lvl="1" indent="-252420" algn="l">
                <a:lnSpc>
                  <a:spcPts val="2805"/>
                </a:lnSpc>
                <a:buFont typeface="Arial"/>
                <a:buChar char="•"/>
              </a:pPr>
              <a:r>
                <a:rPr lang="en-US" sz="2338" b="1">
                  <a:solidFill>
                    <a:srgbClr val="FFFFFF"/>
                  </a:solidFill>
                  <a:latin typeface="Charlevoix Medium"/>
                  <a:ea typeface="Charlevoix Medium"/>
                  <a:cs typeface="Charlevoix Medium"/>
                  <a:sym typeface="Charlevoix Medium"/>
                </a:rPr>
                <a:t>Units vs. Beds​</a:t>
              </a:r>
            </a:p>
            <a:p>
              <a:pPr marL="504840" lvl="1" indent="-252420" algn="l">
                <a:lnSpc>
                  <a:spcPts val="2805"/>
                </a:lnSpc>
                <a:buFont typeface="Arial"/>
                <a:buChar char="•"/>
              </a:pPr>
              <a:r>
                <a:rPr lang="en-US" sz="2338" b="1">
                  <a:solidFill>
                    <a:srgbClr val="FFFFFF"/>
                  </a:solidFill>
                  <a:latin typeface="Charlevoix Medium"/>
                  <a:ea typeface="Charlevoix Medium"/>
                  <a:cs typeface="Charlevoix Medium"/>
                  <a:sym typeface="Charlevoix Medium"/>
                </a:rPr>
                <a:t>Order Number​</a:t>
              </a:r>
            </a:p>
            <a:p>
              <a:pPr marL="504840" lvl="1" indent="-252420" algn="l">
                <a:lnSpc>
                  <a:spcPts val="2805"/>
                </a:lnSpc>
                <a:buFont typeface="Arial"/>
                <a:buChar char="•"/>
              </a:pPr>
              <a:r>
                <a:rPr lang="en-US" sz="2338" b="1">
                  <a:solidFill>
                    <a:srgbClr val="FFFFFF"/>
                  </a:solidFill>
                  <a:latin typeface="Charlevoix Medium"/>
                  <a:ea typeface="Charlevoix Medium"/>
                  <a:cs typeface="Charlevoix Medium"/>
                  <a:sym typeface="Charlevoix Medium"/>
                </a:rPr>
                <a:t>Default License Term Start Date​</a:t>
              </a:r>
            </a:p>
            <a:p>
              <a:pPr algn="l">
                <a:lnSpc>
                  <a:spcPts val="2805"/>
                </a:lnSpc>
              </a:pPr>
              <a:endParaRPr lang="en-US" sz="2338" b="1">
                <a:solidFill>
                  <a:srgbClr val="FFFFFF"/>
                </a:solidFill>
                <a:latin typeface="Charlevoix Medium"/>
                <a:ea typeface="Charlevoix Medium"/>
                <a:cs typeface="Charlevoix Medium"/>
                <a:sym typeface="Charlevoix Medium"/>
              </a:endParaRP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0" y="0"/>
              <a:ext cx="8171934" cy="845376"/>
              <a:chOff x="0" y="0"/>
              <a:chExt cx="1507567" cy="15595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1507567" cy="155956"/>
              </a:xfrm>
              <a:custGeom>
                <a:avLst/>
                <a:gdLst/>
                <a:ahLst/>
                <a:cxnLst/>
                <a:rect l="l" t="t" r="r" b="b"/>
                <a:pathLst>
                  <a:path w="1507567" h="155956">
                    <a:moveTo>
                      <a:pt x="12853" y="0"/>
                    </a:moveTo>
                    <a:lnTo>
                      <a:pt x="1494714" y="0"/>
                    </a:lnTo>
                    <a:cubicBezTo>
                      <a:pt x="1498123" y="0"/>
                      <a:pt x="1501392" y="1354"/>
                      <a:pt x="1503802" y="3765"/>
                    </a:cubicBezTo>
                    <a:cubicBezTo>
                      <a:pt x="1506213" y="6175"/>
                      <a:pt x="1507567" y="9444"/>
                      <a:pt x="1507567" y="12853"/>
                    </a:cubicBezTo>
                    <a:lnTo>
                      <a:pt x="1507567" y="143103"/>
                    </a:lnTo>
                    <a:cubicBezTo>
                      <a:pt x="1507567" y="146512"/>
                      <a:pt x="1506213" y="149781"/>
                      <a:pt x="1503802" y="152191"/>
                    </a:cubicBezTo>
                    <a:cubicBezTo>
                      <a:pt x="1501392" y="154602"/>
                      <a:pt x="1498123" y="155956"/>
                      <a:pt x="1494714" y="155956"/>
                    </a:cubicBezTo>
                    <a:lnTo>
                      <a:pt x="12853" y="155956"/>
                    </a:lnTo>
                    <a:cubicBezTo>
                      <a:pt x="9444" y="155956"/>
                      <a:pt x="6175" y="154602"/>
                      <a:pt x="3765" y="152191"/>
                    </a:cubicBezTo>
                    <a:cubicBezTo>
                      <a:pt x="1354" y="149781"/>
                      <a:pt x="0" y="146512"/>
                      <a:pt x="0" y="143103"/>
                    </a:cubicBezTo>
                    <a:lnTo>
                      <a:pt x="0" y="12853"/>
                    </a:lnTo>
                    <a:cubicBezTo>
                      <a:pt x="0" y="9444"/>
                      <a:pt x="1354" y="6175"/>
                      <a:pt x="3765" y="3765"/>
                    </a:cubicBezTo>
                    <a:cubicBezTo>
                      <a:pt x="6175" y="1354"/>
                      <a:pt x="9444" y="0"/>
                      <a:pt x="1285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38100"/>
                <a:ext cx="1507567" cy="1940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250836" y="170703"/>
              <a:ext cx="9592341" cy="503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50"/>
                </a:lnSpc>
              </a:pPr>
              <a:r>
                <a:rPr lang="en-US" sz="2541" b="1">
                  <a:solidFill>
                    <a:srgbClr val="082649"/>
                  </a:solidFill>
                  <a:latin typeface="Charlevoix Bold"/>
                  <a:ea typeface="Charlevoix Bold"/>
                  <a:cs typeface="Charlevoix Bold"/>
                  <a:sym typeface="Charlevoix Bold"/>
                </a:rPr>
                <a:t>01 Review the Order Documentation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0" y="2754561"/>
              <a:ext cx="7476473" cy="845376"/>
              <a:chOff x="0" y="0"/>
              <a:chExt cx="1379268" cy="15595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1379268" cy="155956"/>
              </a:xfrm>
              <a:custGeom>
                <a:avLst/>
                <a:gdLst/>
                <a:ahLst/>
                <a:cxnLst/>
                <a:rect l="l" t="t" r="r" b="b"/>
                <a:pathLst>
                  <a:path w="1379268" h="155956">
                    <a:moveTo>
                      <a:pt x="14048" y="0"/>
                    </a:moveTo>
                    <a:lnTo>
                      <a:pt x="1365219" y="0"/>
                    </a:lnTo>
                    <a:cubicBezTo>
                      <a:pt x="1368945" y="0"/>
                      <a:pt x="1372518" y="1480"/>
                      <a:pt x="1375153" y="4115"/>
                    </a:cubicBezTo>
                    <a:cubicBezTo>
                      <a:pt x="1377788" y="6749"/>
                      <a:pt x="1379268" y="10323"/>
                      <a:pt x="1379268" y="14048"/>
                    </a:cubicBezTo>
                    <a:lnTo>
                      <a:pt x="1379268" y="141907"/>
                    </a:lnTo>
                    <a:cubicBezTo>
                      <a:pt x="1379268" y="145633"/>
                      <a:pt x="1377788" y="149207"/>
                      <a:pt x="1375153" y="151841"/>
                    </a:cubicBezTo>
                    <a:cubicBezTo>
                      <a:pt x="1372518" y="154476"/>
                      <a:pt x="1368945" y="155956"/>
                      <a:pt x="1365219" y="155956"/>
                    </a:cubicBezTo>
                    <a:lnTo>
                      <a:pt x="14048" y="155956"/>
                    </a:lnTo>
                    <a:cubicBezTo>
                      <a:pt x="10323" y="155956"/>
                      <a:pt x="6749" y="154476"/>
                      <a:pt x="4115" y="151841"/>
                    </a:cubicBezTo>
                    <a:cubicBezTo>
                      <a:pt x="1480" y="149207"/>
                      <a:pt x="0" y="145633"/>
                      <a:pt x="0" y="141907"/>
                    </a:cubicBezTo>
                    <a:lnTo>
                      <a:pt x="0" y="14048"/>
                    </a:lnTo>
                    <a:cubicBezTo>
                      <a:pt x="0" y="10323"/>
                      <a:pt x="1480" y="6749"/>
                      <a:pt x="4115" y="4115"/>
                    </a:cubicBezTo>
                    <a:cubicBezTo>
                      <a:pt x="6749" y="1480"/>
                      <a:pt x="10323" y="0"/>
                      <a:pt x="14048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0" y="-38100"/>
                <a:ext cx="1379268" cy="1940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250836" y="2925263"/>
              <a:ext cx="8377712" cy="503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50"/>
                </a:lnSpc>
              </a:pPr>
              <a:r>
                <a:rPr lang="en-US" sz="2541" b="1">
                  <a:solidFill>
                    <a:srgbClr val="082649"/>
                  </a:solidFill>
                  <a:latin typeface="Charlevoix Bold"/>
                  <a:ea typeface="Charlevoix Bold"/>
                  <a:cs typeface="Charlevoix Bold"/>
                  <a:sym typeface="Charlevoix Bold"/>
                </a:rPr>
                <a:t>02 Verify Customer Information​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0" y="5445178"/>
              <a:ext cx="6180389" cy="845376"/>
              <a:chOff x="0" y="0"/>
              <a:chExt cx="1140165" cy="15595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1140165" cy="155956"/>
              </a:xfrm>
              <a:custGeom>
                <a:avLst/>
                <a:gdLst/>
                <a:ahLst/>
                <a:cxnLst/>
                <a:rect l="l" t="t" r="r" b="b"/>
                <a:pathLst>
                  <a:path w="1140165" h="155956">
                    <a:moveTo>
                      <a:pt x="16994" y="0"/>
                    </a:moveTo>
                    <a:lnTo>
                      <a:pt x="1123170" y="0"/>
                    </a:lnTo>
                    <a:cubicBezTo>
                      <a:pt x="1127677" y="0"/>
                      <a:pt x="1132000" y="1790"/>
                      <a:pt x="1135187" y="4978"/>
                    </a:cubicBezTo>
                    <a:cubicBezTo>
                      <a:pt x="1138374" y="8165"/>
                      <a:pt x="1140165" y="12487"/>
                      <a:pt x="1140165" y="16994"/>
                    </a:cubicBezTo>
                    <a:lnTo>
                      <a:pt x="1140165" y="138961"/>
                    </a:lnTo>
                    <a:cubicBezTo>
                      <a:pt x="1140165" y="143469"/>
                      <a:pt x="1138374" y="147791"/>
                      <a:pt x="1135187" y="150978"/>
                    </a:cubicBezTo>
                    <a:cubicBezTo>
                      <a:pt x="1132000" y="154165"/>
                      <a:pt x="1127677" y="155956"/>
                      <a:pt x="1123170" y="155956"/>
                    </a:cubicBezTo>
                    <a:lnTo>
                      <a:pt x="16994" y="155956"/>
                    </a:lnTo>
                    <a:cubicBezTo>
                      <a:pt x="7609" y="155956"/>
                      <a:pt x="0" y="148347"/>
                      <a:pt x="0" y="138961"/>
                    </a:cubicBezTo>
                    <a:lnTo>
                      <a:pt x="0" y="16994"/>
                    </a:lnTo>
                    <a:cubicBezTo>
                      <a:pt x="0" y="7609"/>
                      <a:pt x="7609" y="0"/>
                      <a:pt x="1699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0" y="-38100"/>
                <a:ext cx="1140165" cy="1940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45" name="TextBox 45"/>
            <p:cNvSpPr txBox="1"/>
            <p:nvPr/>
          </p:nvSpPr>
          <p:spPr>
            <a:xfrm>
              <a:off x="250836" y="5615880"/>
              <a:ext cx="5929553" cy="503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50"/>
                </a:lnSpc>
              </a:pPr>
              <a:r>
                <a:rPr lang="en-US" sz="2541" b="1">
                  <a:solidFill>
                    <a:srgbClr val="082649"/>
                  </a:solidFill>
                  <a:latin typeface="Charlevoix Bold"/>
                  <a:ea typeface="Charlevoix Bold"/>
                  <a:cs typeface="Charlevoix Bold"/>
                  <a:sym typeface="Charlevoix Bold"/>
                </a:rPr>
                <a:t>03 Review Order Details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6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4482" y="774094"/>
            <a:ext cx="5032662" cy="1814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1"/>
              </a:lnSpc>
            </a:pPr>
            <a:r>
              <a:rPr lang="en-US" sz="7353" b="1">
                <a:solidFill>
                  <a:srgbClr val="FFFFFF"/>
                </a:solidFill>
                <a:latin typeface="Charlevoix Heavy"/>
                <a:ea typeface="Charlevoix Heavy"/>
                <a:cs typeface="Charlevoix Heavy"/>
                <a:sym typeface="Charlevoix Heavy"/>
              </a:rPr>
              <a:t>ORDER REVIEW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754482" y="6325601"/>
            <a:ext cx="1728476" cy="1720515"/>
            <a:chOff x="0" y="0"/>
            <a:chExt cx="2304635" cy="229402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304635" cy="2294020"/>
              <a:chOff x="0" y="0"/>
              <a:chExt cx="904770" cy="90060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72116" y="0"/>
                    </a:moveTo>
                    <a:lnTo>
                      <a:pt x="832653" y="0"/>
                    </a:lnTo>
                    <a:cubicBezTo>
                      <a:pt x="851780" y="0"/>
                      <a:pt x="870123" y="7598"/>
                      <a:pt x="883647" y="21122"/>
                    </a:cubicBezTo>
                    <a:cubicBezTo>
                      <a:pt x="897172" y="34647"/>
                      <a:pt x="904770" y="52990"/>
                      <a:pt x="904770" y="72116"/>
                    </a:cubicBezTo>
                    <a:lnTo>
                      <a:pt x="904770" y="828486"/>
                    </a:lnTo>
                    <a:cubicBezTo>
                      <a:pt x="904770" y="868315"/>
                      <a:pt x="872482" y="900602"/>
                      <a:pt x="832653" y="900602"/>
                    </a:cubicBezTo>
                    <a:lnTo>
                      <a:pt x="72116" y="900602"/>
                    </a:lnTo>
                    <a:cubicBezTo>
                      <a:pt x="32288" y="900602"/>
                      <a:pt x="0" y="868315"/>
                      <a:pt x="0" y="828486"/>
                    </a:cubicBezTo>
                    <a:lnTo>
                      <a:pt x="0" y="72116"/>
                    </a:lnTo>
                    <a:cubicBezTo>
                      <a:pt x="0" y="32288"/>
                      <a:pt x="32288" y="0"/>
                      <a:pt x="7211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Freeform 7"/>
            <p:cNvSpPr/>
            <p:nvPr/>
          </p:nvSpPr>
          <p:spPr>
            <a:xfrm>
              <a:off x="269440" y="139873"/>
              <a:ext cx="1890733" cy="1890733"/>
            </a:xfrm>
            <a:custGeom>
              <a:avLst/>
              <a:gdLst/>
              <a:ahLst/>
              <a:cxnLst/>
              <a:rect l="l" t="t" r="r" b="b"/>
              <a:pathLst>
                <a:path w="1890733" h="1890733">
                  <a:moveTo>
                    <a:pt x="0" y="0"/>
                  </a:moveTo>
                  <a:lnTo>
                    <a:pt x="1890732" y="0"/>
                  </a:lnTo>
                  <a:lnTo>
                    <a:pt x="1890732" y="1890733"/>
                  </a:lnTo>
                  <a:lnTo>
                    <a:pt x="0" y="18907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2491950" y="2866588"/>
            <a:ext cx="1728476" cy="1720515"/>
            <a:chOff x="0" y="0"/>
            <a:chExt cx="2304635" cy="2294020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2304635" cy="2294020"/>
              <a:chOff x="0" y="0"/>
              <a:chExt cx="904770" cy="900602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72116" y="0"/>
                    </a:moveTo>
                    <a:lnTo>
                      <a:pt x="832653" y="0"/>
                    </a:lnTo>
                    <a:cubicBezTo>
                      <a:pt x="851780" y="0"/>
                      <a:pt x="870123" y="7598"/>
                      <a:pt x="883647" y="21122"/>
                    </a:cubicBezTo>
                    <a:cubicBezTo>
                      <a:pt x="897172" y="34647"/>
                      <a:pt x="904770" y="52990"/>
                      <a:pt x="904770" y="72116"/>
                    </a:cubicBezTo>
                    <a:lnTo>
                      <a:pt x="904770" y="828486"/>
                    </a:lnTo>
                    <a:cubicBezTo>
                      <a:pt x="904770" y="868315"/>
                      <a:pt x="872482" y="900602"/>
                      <a:pt x="832653" y="900602"/>
                    </a:cubicBezTo>
                    <a:lnTo>
                      <a:pt x="72116" y="900602"/>
                    </a:lnTo>
                    <a:cubicBezTo>
                      <a:pt x="32288" y="900602"/>
                      <a:pt x="0" y="868315"/>
                      <a:pt x="0" y="828486"/>
                    </a:cubicBezTo>
                    <a:lnTo>
                      <a:pt x="0" y="72116"/>
                    </a:lnTo>
                    <a:cubicBezTo>
                      <a:pt x="0" y="32288"/>
                      <a:pt x="32288" y="0"/>
                      <a:pt x="72116" y="0"/>
                    </a:cubicBezTo>
                    <a:close/>
                  </a:path>
                </a:pathLst>
              </a:custGeom>
              <a:solidFill>
                <a:srgbClr val="FD9C37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Freeform 12"/>
            <p:cNvSpPr/>
            <p:nvPr/>
          </p:nvSpPr>
          <p:spPr>
            <a:xfrm>
              <a:off x="216443" y="683733"/>
              <a:ext cx="1871749" cy="1078808"/>
            </a:xfrm>
            <a:custGeom>
              <a:avLst/>
              <a:gdLst/>
              <a:ahLst/>
              <a:cxnLst/>
              <a:rect l="l" t="t" r="r" b="b"/>
              <a:pathLst>
                <a:path w="1871749" h="1078808">
                  <a:moveTo>
                    <a:pt x="0" y="0"/>
                  </a:moveTo>
                  <a:lnTo>
                    <a:pt x="1871749" y="0"/>
                  </a:lnTo>
                  <a:lnTo>
                    <a:pt x="1871749" y="1078808"/>
                  </a:lnTo>
                  <a:lnTo>
                    <a:pt x="0" y="1078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754482" y="2866588"/>
            <a:ext cx="1728476" cy="1720515"/>
            <a:chOff x="0" y="0"/>
            <a:chExt cx="2304635" cy="2294020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2304635" cy="2294020"/>
              <a:chOff x="0" y="0"/>
              <a:chExt cx="904770" cy="900602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72116" y="0"/>
                    </a:moveTo>
                    <a:lnTo>
                      <a:pt x="832653" y="0"/>
                    </a:lnTo>
                    <a:cubicBezTo>
                      <a:pt x="851780" y="0"/>
                      <a:pt x="870123" y="7598"/>
                      <a:pt x="883647" y="21122"/>
                    </a:cubicBezTo>
                    <a:cubicBezTo>
                      <a:pt x="897172" y="34647"/>
                      <a:pt x="904770" y="52990"/>
                      <a:pt x="904770" y="72116"/>
                    </a:cubicBezTo>
                    <a:lnTo>
                      <a:pt x="904770" y="828486"/>
                    </a:lnTo>
                    <a:cubicBezTo>
                      <a:pt x="904770" y="868315"/>
                      <a:pt x="872482" y="900602"/>
                      <a:pt x="832653" y="900602"/>
                    </a:cubicBezTo>
                    <a:lnTo>
                      <a:pt x="72116" y="900602"/>
                    </a:lnTo>
                    <a:cubicBezTo>
                      <a:pt x="32288" y="900602"/>
                      <a:pt x="0" y="868315"/>
                      <a:pt x="0" y="828486"/>
                    </a:cubicBezTo>
                    <a:lnTo>
                      <a:pt x="0" y="72116"/>
                    </a:lnTo>
                    <a:cubicBezTo>
                      <a:pt x="0" y="32288"/>
                      <a:pt x="32288" y="0"/>
                      <a:pt x="7211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7" name="Freeform 17"/>
            <p:cNvSpPr/>
            <p:nvPr/>
          </p:nvSpPr>
          <p:spPr>
            <a:xfrm>
              <a:off x="268136" y="262828"/>
              <a:ext cx="1768364" cy="1768364"/>
            </a:xfrm>
            <a:custGeom>
              <a:avLst/>
              <a:gdLst/>
              <a:ahLst/>
              <a:cxnLst/>
              <a:rect l="l" t="t" r="r" b="b"/>
              <a:pathLst>
                <a:path w="1768364" h="1768364">
                  <a:moveTo>
                    <a:pt x="0" y="0"/>
                  </a:moveTo>
                  <a:lnTo>
                    <a:pt x="1768364" y="0"/>
                  </a:lnTo>
                  <a:lnTo>
                    <a:pt x="1768364" y="1768364"/>
                  </a:lnTo>
                  <a:lnTo>
                    <a:pt x="0" y="17683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754482" y="4596095"/>
            <a:ext cx="1728476" cy="1720515"/>
            <a:chOff x="0" y="0"/>
            <a:chExt cx="2304635" cy="2294020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2304635" cy="2294020"/>
              <a:chOff x="0" y="0"/>
              <a:chExt cx="904770" cy="900602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72116" y="0"/>
                    </a:moveTo>
                    <a:lnTo>
                      <a:pt x="832653" y="0"/>
                    </a:lnTo>
                    <a:cubicBezTo>
                      <a:pt x="851780" y="0"/>
                      <a:pt x="870123" y="7598"/>
                      <a:pt x="883647" y="21122"/>
                    </a:cubicBezTo>
                    <a:cubicBezTo>
                      <a:pt x="897172" y="34647"/>
                      <a:pt x="904770" y="52990"/>
                      <a:pt x="904770" y="72116"/>
                    </a:cubicBezTo>
                    <a:lnTo>
                      <a:pt x="904770" y="828486"/>
                    </a:lnTo>
                    <a:cubicBezTo>
                      <a:pt x="904770" y="868315"/>
                      <a:pt x="872482" y="900602"/>
                      <a:pt x="832653" y="900602"/>
                    </a:cubicBezTo>
                    <a:lnTo>
                      <a:pt x="72116" y="900602"/>
                    </a:lnTo>
                    <a:cubicBezTo>
                      <a:pt x="32288" y="900602"/>
                      <a:pt x="0" y="868315"/>
                      <a:pt x="0" y="828486"/>
                    </a:cubicBezTo>
                    <a:lnTo>
                      <a:pt x="0" y="72116"/>
                    </a:lnTo>
                    <a:cubicBezTo>
                      <a:pt x="0" y="32288"/>
                      <a:pt x="32288" y="0"/>
                      <a:pt x="72116" y="0"/>
                    </a:cubicBezTo>
                    <a:close/>
                  </a:path>
                </a:pathLst>
              </a:custGeom>
              <a:solidFill>
                <a:srgbClr val="FD9C37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126316" y="191701"/>
              <a:ext cx="999814" cy="999814"/>
            </a:xfrm>
            <a:custGeom>
              <a:avLst/>
              <a:gdLst/>
              <a:ahLst/>
              <a:cxnLst/>
              <a:rect l="l" t="t" r="r" b="b"/>
              <a:pathLst>
                <a:path w="999814" h="999814">
                  <a:moveTo>
                    <a:pt x="0" y="0"/>
                  </a:moveTo>
                  <a:lnTo>
                    <a:pt x="999814" y="0"/>
                  </a:lnTo>
                  <a:lnTo>
                    <a:pt x="999814" y="999814"/>
                  </a:lnTo>
                  <a:lnTo>
                    <a:pt x="0" y="999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3" name="Freeform 23"/>
          <p:cNvSpPr/>
          <p:nvPr/>
        </p:nvSpPr>
        <p:spPr>
          <a:xfrm>
            <a:off x="2499911" y="4596095"/>
            <a:ext cx="1720515" cy="1720515"/>
          </a:xfrm>
          <a:custGeom>
            <a:avLst/>
            <a:gdLst/>
            <a:ahLst/>
            <a:cxnLst/>
            <a:rect l="l" t="t" r="r" b="b"/>
            <a:pathLst>
              <a:path w="1720515" h="1720515">
                <a:moveTo>
                  <a:pt x="0" y="0"/>
                </a:moveTo>
                <a:lnTo>
                  <a:pt x="1720515" y="0"/>
                </a:lnTo>
                <a:lnTo>
                  <a:pt x="1720515" y="1720515"/>
                </a:lnTo>
                <a:lnTo>
                  <a:pt x="0" y="17205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2482959" y="6325601"/>
            <a:ext cx="1722911" cy="1722911"/>
          </a:xfrm>
          <a:custGeom>
            <a:avLst/>
            <a:gdLst/>
            <a:ahLst/>
            <a:cxnLst/>
            <a:rect l="l" t="t" r="r" b="b"/>
            <a:pathLst>
              <a:path w="1722911" h="1722911">
                <a:moveTo>
                  <a:pt x="0" y="0"/>
                </a:moveTo>
                <a:lnTo>
                  <a:pt x="1722911" y="0"/>
                </a:lnTo>
                <a:lnTo>
                  <a:pt x="1722911" y="1722911"/>
                </a:lnTo>
                <a:lnTo>
                  <a:pt x="0" y="17229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754482" y="8055107"/>
            <a:ext cx="1720515" cy="1720515"/>
          </a:xfrm>
          <a:custGeom>
            <a:avLst/>
            <a:gdLst/>
            <a:ahLst/>
            <a:cxnLst/>
            <a:rect l="l" t="t" r="r" b="b"/>
            <a:pathLst>
              <a:path w="1720515" h="1720515">
                <a:moveTo>
                  <a:pt x="0" y="0"/>
                </a:moveTo>
                <a:lnTo>
                  <a:pt x="1720515" y="0"/>
                </a:lnTo>
                <a:lnTo>
                  <a:pt x="1720515" y="1720515"/>
                </a:lnTo>
                <a:lnTo>
                  <a:pt x="0" y="17205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2474997" y="8057503"/>
            <a:ext cx="1720515" cy="1720515"/>
          </a:xfrm>
          <a:custGeom>
            <a:avLst/>
            <a:gdLst/>
            <a:ahLst/>
            <a:cxnLst/>
            <a:rect l="l" t="t" r="r" b="b"/>
            <a:pathLst>
              <a:path w="1720515" h="1720515">
                <a:moveTo>
                  <a:pt x="0" y="0"/>
                </a:moveTo>
                <a:lnTo>
                  <a:pt x="1720515" y="0"/>
                </a:lnTo>
                <a:lnTo>
                  <a:pt x="1720515" y="1720515"/>
                </a:lnTo>
                <a:lnTo>
                  <a:pt x="0" y="17205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4516292" y="789665"/>
            <a:ext cx="13017226" cy="8985957"/>
            <a:chOff x="0" y="0"/>
            <a:chExt cx="3451381" cy="238253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451381" cy="2382532"/>
            </a:xfrm>
            <a:custGeom>
              <a:avLst/>
              <a:gdLst/>
              <a:ahLst/>
              <a:cxnLst/>
              <a:rect l="l" t="t" r="r" b="b"/>
              <a:pathLst>
                <a:path w="3451381" h="2382532">
                  <a:moveTo>
                    <a:pt x="5947" y="0"/>
                  </a:moveTo>
                  <a:lnTo>
                    <a:pt x="3445434" y="0"/>
                  </a:lnTo>
                  <a:cubicBezTo>
                    <a:pt x="3447011" y="0"/>
                    <a:pt x="3448524" y="627"/>
                    <a:pt x="3449639" y="1742"/>
                  </a:cubicBezTo>
                  <a:cubicBezTo>
                    <a:pt x="3450754" y="2857"/>
                    <a:pt x="3451381" y="4370"/>
                    <a:pt x="3451381" y="5947"/>
                  </a:cubicBezTo>
                  <a:lnTo>
                    <a:pt x="3451381" y="2376585"/>
                  </a:lnTo>
                  <a:cubicBezTo>
                    <a:pt x="3451381" y="2378162"/>
                    <a:pt x="3450754" y="2379675"/>
                    <a:pt x="3449639" y="2380791"/>
                  </a:cubicBezTo>
                  <a:cubicBezTo>
                    <a:pt x="3448524" y="2381906"/>
                    <a:pt x="3447011" y="2382532"/>
                    <a:pt x="3445434" y="2382532"/>
                  </a:cubicBezTo>
                  <a:lnTo>
                    <a:pt x="5947" y="2382532"/>
                  </a:lnTo>
                  <a:cubicBezTo>
                    <a:pt x="4370" y="2382532"/>
                    <a:pt x="2857" y="2381906"/>
                    <a:pt x="1742" y="2380791"/>
                  </a:cubicBezTo>
                  <a:cubicBezTo>
                    <a:pt x="627" y="2379675"/>
                    <a:pt x="0" y="2378162"/>
                    <a:pt x="0" y="2376585"/>
                  </a:cubicBezTo>
                  <a:lnTo>
                    <a:pt x="0" y="5947"/>
                  </a:lnTo>
                  <a:cubicBezTo>
                    <a:pt x="0" y="4370"/>
                    <a:pt x="627" y="2857"/>
                    <a:pt x="1742" y="1742"/>
                  </a:cubicBezTo>
                  <a:cubicBezTo>
                    <a:pt x="2857" y="627"/>
                    <a:pt x="4370" y="0"/>
                    <a:pt x="5947" y="0"/>
                  </a:cubicBezTo>
                  <a:close/>
                </a:path>
              </a:pathLst>
            </a:custGeom>
            <a:solidFill>
              <a:srgbClr val="FFFFFF">
                <a:alpha val="24706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3451381" cy="2420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001400" y="3742828"/>
            <a:ext cx="12257900" cy="3444228"/>
            <a:chOff x="0" y="0"/>
            <a:chExt cx="16343867" cy="4592304"/>
          </a:xfrm>
        </p:grpSpPr>
        <p:sp>
          <p:nvSpPr>
            <p:cNvPr id="31" name="TextBox 31"/>
            <p:cNvSpPr txBox="1"/>
            <p:nvPr/>
          </p:nvSpPr>
          <p:spPr>
            <a:xfrm>
              <a:off x="0" y="955900"/>
              <a:ext cx="16343867" cy="14051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04840" lvl="1" indent="-252420" algn="l">
                <a:lnSpc>
                  <a:spcPts val="2805"/>
                </a:lnSpc>
                <a:buFont typeface="Arial"/>
                <a:buChar char="•"/>
              </a:pPr>
              <a:r>
                <a:rPr lang="en-US" sz="2338" b="1">
                  <a:solidFill>
                    <a:srgbClr val="FFFFFF"/>
                  </a:solidFill>
                  <a:latin typeface="Charlevoix Medium"/>
                  <a:ea typeface="Charlevoix Medium"/>
                  <a:cs typeface="Charlevoix Medium"/>
                  <a:sym typeface="Charlevoix Medium"/>
                </a:rPr>
                <a:t>Product Bundles (confirm billing)​</a:t>
              </a:r>
            </a:p>
            <a:p>
              <a:pPr marL="504840" lvl="1" indent="-252420" algn="l">
                <a:lnSpc>
                  <a:spcPts val="2805"/>
                </a:lnSpc>
                <a:buFont typeface="Arial"/>
                <a:buChar char="•"/>
              </a:pPr>
              <a:r>
                <a:rPr lang="en-US" sz="2338" b="1">
                  <a:solidFill>
                    <a:srgbClr val="FFFFFF"/>
                  </a:solidFill>
                  <a:latin typeface="Charlevoix Medium"/>
                  <a:ea typeface="Charlevoix Medium"/>
                  <a:cs typeface="Charlevoix Medium"/>
                  <a:sym typeface="Charlevoix Medium"/>
                </a:rPr>
                <a:t>Ordered Products: ILF, Access, Measure &amp; Billing​</a:t>
              </a:r>
            </a:p>
            <a:p>
              <a:pPr algn="l">
                <a:lnSpc>
                  <a:spcPts val="2805"/>
                </a:lnSpc>
              </a:pPr>
              <a:endParaRPr lang="en-US" sz="2338" b="1">
                <a:solidFill>
                  <a:srgbClr val="FFFFFF"/>
                </a:solidFill>
                <a:latin typeface="Charlevoix Medium"/>
                <a:ea typeface="Charlevoix Medium"/>
                <a:cs typeface="Charlevoix Medium"/>
                <a:sym typeface="Charlevoix Medium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3652372"/>
              <a:ext cx="16343867" cy="9399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04840" lvl="1" indent="-252420" algn="l">
                <a:lnSpc>
                  <a:spcPts val="2805"/>
                </a:lnSpc>
                <a:buFont typeface="Arial"/>
                <a:buChar char="•"/>
              </a:pPr>
              <a:r>
                <a:rPr lang="en-US" sz="2338" b="1">
                  <a:solidFill>
                    <a:srgbClr val="FFFFFF"/>
                  </a:solidFill>
                  <a:latin typeface="Charlevoix Medium"/>
                  <a:ea typeface="Charlevoix Medium"/>
                  <a:cs typeface="Charlevoix Medium"/>
                  <a:sym typeface="Charlevoix Medium"/>
                </a:rPr>
                <a:t>Review any product or implementationdependencies before proceeding</a:t>
              </a:r>
            </a:p>
            <a:p>
              <a:pPr algn="l">
                <a:lnSpc>
                  <a:spcPts val="2805"/>
                </a:lnSpc>
              </a:pPr>
              <a:endParaRPr lang="en-US" sz="2338" b="1">
                <a:solidFill>
                  <a:srgbClr val="FFFFFF"/>
                </a:solidFill>
                <a:latin typeface="Charlevoix Medium"/>
                <a:ea typeface="Charlevoix Medium"/>
                <a:cs typeface="Charlevoix Medium"/>
                <a:sym typeface="Charlevoix Medium"/>
              </a:endParaRP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0" y="0"/>
              <a:ext cx="8171934" cy="845376"/>
              <a:chOff x="0" y="0"/>
              <a:chExt cx="1507567" cy="15595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507567" cy="155956"/>
              </a:xfrm>
              <a:custGeom>
                <a:avLst/>
                <a:gdLst/>
                <a:ahLst/>
                <a:cxnLst/>
                <a:rect l="l" t="t" r="r" b="b"/>
                <a:pathLst>
                  <a:path w="1507567" h="155956">
                    <a:moveTo>
                      <a:pt x="12632" y="0"/>
                    </a:moveTo>
                    <a:lnTo>
                      <a:pt x="1494935" y="0"/>
                    </a:lnTo>
                    <a:cubicBezTo>
                      <a:pt x="1501912" y="0"/>
                      <a:pt x="1507567" y="5655"/>
                      <a:pt x="1507567" y="12632"/>
                    </a:cubicBezTo>
                    <a:lnTo>
                      <a:pt x="1507567" y="143324"/>
                    </a:lnTo>
                    <a:cubicBezTo>
                      <a:pt x="1507567" y="150300"/>
                      <a:pt x="1501912" y="155956"/>
                      <a:pt x="1494935" y="155956"/>
                    </a:cubicBezTo>
                    <a:lnTo>
                      <a:pt x="12632" y="155956"/>
                    </a:lnTo>
                    <a:cubicBezTo>
                      <a:pt x="5655" y="155956"/>
                      <a:pt x="0" y="150300"/>
                      <a:pt x="0" y="143324"/>
                    </a:cubicBezTo>
                    <a:lnTo>
                      <a:pt x="0" y="12632"/>
                    </a:lnTo>
                    <a:cubicBezTo>
                      <a:pt x="0" y="5655"/>
                      <a:pt x="5655" y="0"/>
                      <a:pt x="12632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1507567" cy="194056"/>
              </a:xfrm>
              <a:prstGeom prst="rect">
                <a:avLst/>
              </a:prstGeom>
            </p:spPr>
            <p:txBody>
              <a:bodyPr lIns="51689" tIns="51689" rIns="51689" bIns="51689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250836" y="170703"/>
              <a:ext cx="9592341" cy="503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50"/>
                </a:lnSpc>
              </a:pPr>
              <a:r>
                <a:rPr lang="en-US" sz="2541" b="1">
                  <a:solidFill>
                    <a:srgbClr val="082649"/>
                  </a:solidFill>
                  <a:latin typeface="Charlevoix Bold"/>
                  <a:ea typeface="Charlevoix Bold"/>
                  <a:cs typeface="Charlevoix Bold"/>
                  <a:sym typeface="Charlevoix Bold"/>
                </a:rPr>
                <a:t>04 Review Products &amp; Billing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0" y="2754561"/>
              <a:ext cx="7476473" cy="845376"/>
              <a:chOff x="0" y="0"/>
              <a:chExt cx="1379268" cy="155956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1379268" cy="155956"/>
              </a:xfrm>
              <a:custGeom>
                <a:avLst/>
                <a:gdLst/>
                <a:ahLst/>
                <a:cxnLst/>
                <a:rect l="l" t="t" r="r" b="b"/>
                <a:pathLst>
                  <a:path w="1379268" h="155956">
                    <a:moveTo>
                      <a:pt x="13807" y="0"/>
                    </a:moveTo>
                    <a:lnTo>
                      <a:pt x="1365461" y="0"/>
                    </a:lnTo>
                    <a:cubicBezTo>
                      <a:pt x="1369123" y="0"/>
                      <a:pt x="1372635" y="1455"/>
                      <a:pt x="1375224" y="4044"/>
                    </a:cubicBezTo>
                    <a:cubicBezTo>
                      <a:pt x="1377813" y="6633"/>
                      <a:pt x="1379268" y="10145"/>
                      <a:pt x="1379268" y="13807"/>
                    </a:cubicBezTo>
                    <a:lnTo>
                      <a:pt x="1379268" y="142149"/>
                    </a:lnTo>
                    <a:cubicBezTo>
                      <a:pt x="1379268" y="145811"/>
                      <a:pt x="1377813" y="149323"/>
                      <a:pt x="1375224" y="151912"/>
                    </a:cubicBezTo>
                    <a:cubicBezTo>
                      <a:pt x="1372635" y="154501"/>
                      <a:pt x="1369123" y="155956"/>
                      <a:pt x="1365461" y="155956"/>
                    </a:cubicBezTo>
                    <a:lnTo>
                      <a:pt x="13807" y="155956"/>
                    </a:lnTo>
                    <a:cubicBezTo>
                      <a:pt x="10145" y="155956"/>
                      <a:pt x="6633" y="154501"/>
                      <a:pt x="4044" y="151912"/>
                    </a:cubicBezTo>
                    <a:cubicBezTo>
                      <a:pt x="1455" y="149323"/>
                      <a:pt x="0" y="145811"/>
                      <a:pt x="0" y="142149"/>
                    </a:cubicBezTo>
                    <a:lnTo>
                      <a:pt x="0" y="13807"/>
                    </a:lnTo>
                    <a:cubicBezTo>
                      <a:pt x="0" y="10145"/>
                      <a:pt x="1455" y="6633"/>
                      <a:pt x="4044" y="4044"/>
                    </a:cubicBezTo>
                    <a:cubicBezTo>
                      <a:pt x="6633" y="1455"/>
                      <a:pt x="10145" y="0"/>
                      <a:pt x="1380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0" y="-38100"/>
                <a:ext cx="1379268" cy="194056"/>
              </a:xfrm>
              <a:prstGeom prst="rect">
                <a:avLst/>
              </a:prstGeom>
            </p:spPr>
            <p:txBody>
              <a:bodyPr lIns="51689" tIns="51689" rIns="51689" bIns="51689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250836" y="2925263"/>
              <a:ext cx="8377712" cy="503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50"/>
                </a:lnSpc>
              </a:pPr>
              <a:r>
                <a:rPr lang="en-US" sz="2541" b="1">
                  <a:solidFill>
                    <a:srgbClr val="082649"/>
                  </a:solidFill>
                  <a:latin typeface="Charlevoix Bold"/>
                  <a:ea typeface="Charlevoix Bold"/>
                  <a:cs typeface="Charlevoix Bold"/>
                  <a:sym typeface="Charlevoix Bold"/>
                </a:rPr>
                <a:t>05 Identify Dependencies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6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12667" y="1639313"/>
            <a:ext cx="11975894" cy="1456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5600" b="1">
                <a:solidFill>
                  <a:srgbClr val="FFFFFF"/>
                </a:solidFill>
                <a:latin typeface="Charlevoix Heavy"/>
                <a:ea typeface="Charlevoix Heavy"/>
                <a:cs typeface="Charlevoix Heavy"/>
                <a:sym typeface="Charlevoix Heavy"/>
              </a:rPr>
              <a:t>RESIDENT</a:t>
            </a:r>
          </a:p>
          <a:p>
            <a:pPr algn="ctr">
              <a:lnSpc>
                <a:spcPts val="5600"/>
              </a:lnSpc>
            </a:pPr>
            <a:r>
              <a:rPr lang="en-US" sz="5600" b="1">
                <a:solidFill>
                  <a:srgbClr val="FFFFFF"/>
                </a:solidFill>
                <a:latin typeface="Charlevoix Heavy"/>
                <a:ea typeface="Charlevoix Heavy"/>
                <a:cs typeface="Charlevoix Heavy"/>
                <a:sym typeface="Charlevoix Heavy"/>
              </a:rPr>
              <a:t>DIRECT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146868" y="3096100"/>
            <a:ext cx="6853746" cy="2699306"/>
            <a:chOff x="0" y="0"/>
            <a:chExt cx="1513922" cy="5962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13922" cy="596249"/>
            </a:xfrm>
            <a:custGeom>
              <a:avLst/>
              <a:gdLst/>
              <a:ahLst/>
              <a:cxnLst/>
              <a:rect l="l" t="t" r="r" b="b"/>
              <a:pathLst>
                <a:path w="1513922" h="596249">
                  <a:moveTo>
                    <a:pt x="11296" y="0"/>
                  </a:moveTo>
                  <a:lnTo>
                    <a:pt x="1502626" y="0"/>
                  </a:lnTo>
                  <a:cubicBezTo>
                    <a:pt x="1505622" y="0"/>
                    <a:pt x="1508495" y="1190"/>
                    <a:pt x="1510613" y="3308"/>
                  </a:cubicBezTo>
                  <a:cubicBezTo>
                    <a:pt x="1512732" y="5427"/>
                    <a:pt x="1513922" y="8300"/>
                    <a:pt x="1513922" y="11296"/>
                  </a:cubicBezTo>
                  <a:lnTo>
                    <a:pt x="1513922" y="584953"/>
                  </a:lnTo>
                  <a:cubicBezTo>
                    <a:pt x="1513922" y="591191"/>
                    <a:pt x="1508864" y="596249"/>
                    <a:pt x="1502626" y="596249"/>
                  </a:cubicBezTo>
                  <a:lnTo>
                    <a:pt x="11296" y="596249"/>
                  </a:lnTo>
                  <a:cubicBezTo>
                    <a:pt x="5057" y="596249"/>
                    <a:pt x="0" y="591191"/>
                    <a:pt x="0" y="584953"/>
                  </a:cubicBezTo>
                  <a:lnTo>
                    <a:pt x="0" y="11296"/>
                  </a:lnTo>
                  <a:cubicBezTo>
                    <a:pt x="0" y="5057"/>
                    <a:pt x="5057" y="0"/>
                    <a:pt x="112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513922" cy="634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3221320" y="1820629"/>
            <a:ext cx="998905" cy="998905"/>
          </a:xfrm>
          <a:custGeom>
            <a:avLst/>
            <a:gdLst/>
            <a:ahLst/>
            <a:cxnLst/>
            <a:rect l="l" t="t" r="r" b="b"/>
            <a:pathLst>
              <a:path w="998905" h="998905">
                <a:moveTo>
                  <a:pt x="0" y="0"/>
                </a:moveTo>
                <a:lnTo>
                  <a:pt x="998906" y="0"/>
                </a:lnTo>
                <a:lnTo>
                  <a:pt x="998906" y="998906"/>
                </a:lnTo>
                <a:lnTo>
                  <a:pt x="0" y="9989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295772" y="1820629"/>
            <a:ext cx="998905" cy="998905"/>
          </a:xfrm>
          <a:custGeom>
            <a:avLst/>
            <a:gdLst/>
            <a:ahLst/>
            <a:cxnLst/>
            <a:rect l="l" t="t" r="r" b="b"/>
            <a:pathLst>
              <a:path w="998905" h="998905">
                <a:moveTo>
                  <a:pt x="0" y="0"/>
                </a:moveTo>
                <a:lnTo>
                  <a:pt x="998906" y="0"/>
                </a:lnTo>
                <a:lnTo>
                  <a:pt x="998906" y="998906"/>
                </a:lnTo>
                <a:lnTo>
                  <a:pt x="0" y="9989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370224" y="1820629"/>
            <a:ext cx="998905" cy="998905"/>
          </a:xfrm>
          <a:custGeom>
            <a:avLst/>
            <a:gdLst/>
            <a:ahLst/>
            <a:cxnLst/>
            <a:rect l="l" t="t" r="r" b="b"/>
            <a:pathLst>
              <a:path w="998905" h="998905">
                <a:moveTo>
                  <a:pt x="0" y="0"/>
                </a:moveTo>
                <a:lnTo>
                  <a:pt x="998906" y="0"/>
                </a:lnTo>
                <a:lnTo>
                  <a:pt x="998906" y="998906"/>
                </a:lnTo>
                <a:lnTo>
                  <a:pt x="0" y="9989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146868" y="1820629"/>
            <a:ext cx="998905" cy="998905"/>
          </a:xfrm>
          <a:custGeom>
            <a:avLst/>
            <a:gdLst/>
            <a:ahLst/>
            <a:cxnLst/>
            <a:rect l="l" t="t" r="r" b="b"/>
            <a:pathLst>
              <a:path w="998905" h="998905">
                <a:moveTo>
                  <a:pt x="0" y="0"/>
                </a:moveTo>
                <a:lnTo>
                  <a:pt x="998906" y="0"/>
                </a:lnTo>
                <a:lnTo>
                  <a:pt x="998906" y="998906"/>
                </a:lnTo>
                <a:lnTo>
                  <a:pt x="0" y="9989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067774" y="1820629"/>
            <a:ext cx="998905" cy="998905"/>
          </a:xfrm>
          <a:custGeom>
            <a:avLst/>
            <a:gdLst/>
            <a:ahLst/>
            <a:cxnLst/>
            <a:rect l="l" t="t" r="r" b="b"/>
            <a:pathLst>
              <a:path w="998905" h="998905">
                <a:moveTo>
                  <a:pt x="0" y="0"/>
                </a:moveTo>
                <a:lnTo>
                  <a:pt x="998906" y="0"/>
                </a:lnTo>
                <a:lnTo>
                  <a:pt x="998906" y="998906"/>
                </a:lnTo>
                <a:lnTo>
                  <a:pt x="0" y="9989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993322" y="1820629"/>
            <a:ext cx="998905" cy="998905"/>
          </a:xfrm>
          <a:custGeom>
            <a:avLst/>
            <a:gdLst/>
            <a:ahLst/>
            <a:cxnLst/>
            <a:rect l="l" t="t" r="r" b="b"/>
            <a:pathLst>
              <a:path w="998905" h="998905">
                <a:moveTo>
                  <a:pt x="0" y="0"/>
                </a:moveTo>
                <a:lnTo>
                  <a:pt x="998906" y="0"/>
                </a:lnTo>
                <a:lnTo>
                  <a:pt x="998906" y="998906"/>
                </a:lnTo>
                <a:lnTo>
                  <a:pt x="0" y="9989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1898804" y="1820629"/>
            <a:ext cx="998905" cy="998905"/>
          </a:xfrm>
          <a:custGeom>
            <a:avLst/>
            <a:gdLst/>
            <a:ahLst/>
            <a:cxnLst/>
            <a:rect l="l" t="t" r="r" b="b"/>
            <a:pathLst>
              <a:path w="998905" h="998905">
                <a:moveTo>
                  <a:pt x="0" y="0"/>
                </a:moveTo>
                <a:lnTo>
                  <a:pt x="998906" y="0"/>
                </a:lnTo>
                <a:lnTo>
                  <a:pt x="998906" y="998906"/>
                </a:lnTo>
                <a:lnTo>
                  <a:pt x="0" y="9989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5142226" y="1820629"/>
            <a:ext cx="998905" cy="998905"/>
          </a:xfrm>
          <a:custGeom>
            <a:avLst/>
            <a:gdLst/>
            <a:ahLst/>
            <a:cxnLst/>
            <a:rect l="l" t="t" r="r" b="b"/>
            <a:pathLst>
              <a:path w="998905" h="998905">
                <a:moveTo>
                  <a:pt x="0" y="0"/>
                </a:moveTo>
                <a:lnTo>
                  <a:pt x="998906" y="0"/>
                </a:lnTo>
                <a:lnTo>
                  <a:pt x="998906" y="998906"/>
                </a:lnTo>
                <a:lnTo>
                  <a:pt x="0" y="9989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264918" y="3697094"/>
            <a:ext cx="6617646" cy="318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3"/>
              </a:lnSpc>
            </a:pPr>
            <a:r>
              <a:rPr lang="en-US" sz="2373" b="1">
                <a:solidFill>
                  <a:srgbClr val="082649"/>
                </a:solidFill>
                <a:latin typeface="Charlevoix Medium"/>
                <a:ea typeface="Charlevoix Medium"/>
                <a:cs typeface="Charlevoix Medium"/>
                <a:sym typeface="Charlevoix Medium"/>
              </a:rPr>
              <a:t>GOAL 1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146868" y="3096100"/>
            <a:ext cx="833121" cy="829284"/>
            <a:chOff x="0" y="0"/>
            <a:chExt cx="904770" cy="90060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04770" cy="900602"/>
            </a:xfrm>
            <a:custGeom>
              <a:avLst/>
              <a:gdLst/>
              <a:ahLst/>
              <a:cxnLst/>
              <a:rect l="l" t="t" r="r" b="b"/>
              <a:pathLst>
                <a:path w="904770" h="900602">
                  <a:moveTo>
                    <a:pt x="92927" y="0"/>
                  </a:moveTo>
                  <a:lnTo>
                    <a:pt x="811843" y="0"/>
                  </a:lnTo>
                  <a:cubicBezTo>
                    <a:pt x="863165" y="0"/>
                    <a:pt x="904770" y="41605"/>
                    <a:pt x="904770" y="92927"/>
                  </a:cubicBezTo>
                  <a:lnTo>
                    <a:pt x="904770" y="807676"/>
                  </a:lnTo>
                  <a:cubicBezTo>
                    <a:pt x="904770" y="858998"/>
                    <a:pt x="863165" y="900602"/>
                    <a:pt x="811843" y="900602"/>
                  </a:cubicBezTo>
                  <a:lnTo>
                    <a:pt x="92927" y="900602"/>
                  </a:lnTo>
                  <a:cubicBezTo>
                    <a:pt x="41605" y="900602"/>
                    <a:pt x="0" y="858998"/>
                    <a:pt x="0" y="807676"/>
                  </a:cubicBezTo>
                  <a:lnTo>
                    <a:pt x="0" y="92927"/>
                  </a:lnTo>
                  <a:cubicBezTo>
                    <a:pt x="0" y="41605"/>
                    <a:pt x="41605" y="0"/>
                    <a:pt x="92927" y="0"/>
                  </a:cubicBezTo>
                  <a:close/>
                </a:path>
              </a:pathLst>
            </a:custGeom>
            <a:solidFill>
              <a:srgbClr val="6C757D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904770" cy="938702"/>
            </a:xfrm>
            <a:prstGeom prst="rect">
              <a:avLst/>
            </a:prstGeom>
          </p:spPr>
          <p:txBody>
            <a:bodyPr lIns="10873" tIns="10873" rIns="10873" bIns="10873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167492" y="3096100"/>
            <a:ext cx="833121" cy="829284"/>
            <a:chOff x="0" y="0"/>
            <a:chExt cx="904770" cy="90060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04770" cy="900602"/>
            </a:xfrm>
            <a:custGeom>
              <a:avLst/>
              <a:gdLst/>
              <a:ahLst/>
              <a:cxnLst/>
              <a:rect l="l" t="t" r="r" b="b"/>
              <a:pathLst>
                <a:path w="904770" h="900602">
                  <a:moveTo>
                    <a:pt x="92927" y="0"/>
                  </a:moveTo>
                  <a:lnTo>
                    <a:pt x="811843" y="0"/>
                  </a:lnTo>
                  <a:cubicBezTo>
                    <a:pt x="863165" y="0"/>
                    <a:pt x="904770" y="41605"/>
                    <a:pt x="904770" y="92927"/>
                  </a:cubicBezTo>
                  <a:lnTo>
                    <a:pt x="904770" y="807676"/>
                  </a:lnTo>
                  <a:cubicBezTo>
                    <a:pt x="904770" y="858998"/>
                    <a:pt x="863165" y="900602"/>
                    <a:pt x="811843" y="900602"/>
                  </a:cubicBezTo>
                  <a:lnTo>
                    <a:pt x="92927" y="900602"/>
                  </a:lnTo>
                  <a:cubicBezTo>
                    <a:pt x="41605" y="900602"/>
                    <a:pt x="0" y="858998"/>
                    <a:pt x="0" y="807676"/>
                  </a:cubicBezTo>
                  <a:lnTo>
                    <a:pt x="0" y="92927"/>
                  </a:lnTo>
                  <a:cubicBezTo>
                    <a:pt x="0" y="41605"/>
                    <a:pt x="41605" y="0"/>
                    <a:pt x="92927" y="0"/>
                  </a:cubicBezTo>
                  <a:close/>
                </a:path>
              </a:pathLst>
            </a:custGeom>
            <a:solidFill>
              <a:srgbClr val="6C757D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904770" cy="938702"/>
            </a:xfrm>
            <a:prstGeom prst="rect">
              <a:avLst/>
            </a:prstGeom>
          </p:spPr>
          <p:txBody>
            <a:bodyPr lIns="10873" tIns="10873" rIns="10873" bIns="10873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8317143" y="3200663"/>
            <a:ext cx="576213" cy="576213"/>
          </a:xfrm>
          <a:custGeom>
            <a:avLst/>
            <a:gdLst/>
            <a:ahLst/>
            <a:cxnLst/>
            <a:rect l="l" t="t" r="r" b="b"/>
            <a:pathLst>
              <a:path w="576213" h="576213">
                <a:moveTo>
                  <a:pt x="0" y="0"/>
                </a:moveTo>
                <a:lnTo>
                  <a:pt x="576213" y="0"/>
                </a:lnTo>
                <a:lnTo>
                  <a:pt x="576213" y="576213"/>
                </a:lnTo>
                <a:lnTo>
                  <a:pt x="0" y="5762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2146868" y="4966122"/>
            <a:ext cx="833121" cy="829284"/>
            <a:chOff x="0" y="0"/>
            <a:chExt cx="904770" cy="90060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04770" cy="900602"/>
            </a:xfrm>
            <a:custGeom>
              <a:avLst/>
              <a:gdLst/>
              <a:ahLst/>
              <a:cxnLst/>
              <a:rect l="l" t="t" r="r" b="b"/>
              <a:pathLst>
                <a:path w="904770" h="900602">
                  <a:moveTo>
                    <a:pt x="92927" y="0"/>
                  </a:moveTo>
                  <a:lnTo>
                    <a:pt x="811843" y="0"/>
                  </a:lnTo>
                  <a:cubicBezTo>
                    <a:pt x="863165" y="0"/>
                    <a:pt x="904770" y="41605"/>
                    <a:pt x="904770" y="92927"/>
                  </a:cubicBezTo>
                  <a:lnTo>
                    <a:pt x="904770" y="807676"/>
                  </a:lnTo>
                  <a:cubicBezTo>
                    <a:pt x="904770" y="858998"/>
                    <a:pt x="863165" y="900602"/>
                    <a:pt x="811843" y="900602"/>
                  </a:cubicBezTo>
                  <a:lnTo>
                    <a:pt x="92927" y="900602"/>
                  </a:lnTo>
                  <a:cubicBezTo>
                    <a:pt x="41605" y="900602"/>
                    <a:pt x="0" y="858998"/>
                    <a:pt x="0" y="807676"/>
                  </a:cubicBezTo>
                  <a:lnTo>
                    <a:pt x="0" y="92927"/>
                  </a:lnTo>
                  <a:cubicBezTo>
                    <a:pt x="0" y="41605"/>
                    <a:pt x="41605" y="0"/>
                    <a:pt x="92927" y="0"/>
                  </a:cubicBezTo>
                  <a:close/>
                </a:path>
              </a:pathLst>
            </a:custGeom>
            <a:solidFill>
              <a:srgbClr val="6C757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904770" cy="938702"/>
            </a:xfrm>
            <a:prstGeom prst="rect">
              <a:avLst/>
            </a:prstGeom>
          </p:spPr>
          <p:txBody>
            <a:bodyPr lIns="10873" tIns="10873" rIns="10873" bIns="10873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67492" y="4966122"/>
            <a:ext cx="833121" cy="829284"/>
            <a:chOff x="0" y="0"/>
            <a:chExt cx="904770" cy="90060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04770" cy="900602"/>
            </a:xfrm>
            <a:custGeom>
              <a:avLst/>
              <a:gdLst/>
              <a:ahLst/>
              <a:cxnLst/>
              <a:rect l="l" t="t" r="r" b="b"/>
              <a:pathLst>
                <a:path w="904770" h="900602">
                  <a:moveTo>
                    <a:pt x="92927" y="0"/>
                  </a:moveTo>
                  <a:lnTo>
                    <a:pt x="811843" y="0"/>
                  </a:lnTo>
                  <a:cubicBezTo>
                    <a:pt x="863165" y="0"/>
                    <a:pt x="904770" y="41605"/>
                    <a:pt x="904770" y="92927"/>
                  </a:cubicBezTo>
                  <a:lnTo>
                    <a:pt x="904770" y="807676"/>
                  </a:lnTo>
                  <a:cubicBezTo>
                    <a:pt x="904770" y="858998"/>
                    <a:pt x="863165" y="900602"/>
                    <a:pt x="811843" y="900602"/>
                  </a:cubicBezTo>
                  <a:lnTo>
                    <a:pt x="92927" y="900602"/>
                  </a:lnTo>
                  <a:cubicBezTo>
                    <a:pt x="41605" y="900602"/>
                    <a:pt x="0" y="858998"/>
                    <a:pt x="0" y="807676"/>
                  </a:cubicBezTo>
                  <a:lnTo>
                    <a:pt x="0" y="92927"/>
                  </a:lnTo>
                  <a:cubicBezTo>
                    <a:pt x="0" y="41605"/>
                    <a:pt x="41605" y="0"/>
                    <a:pt x="92927" y="0"/>
                  </a:cubicBezTo>
                  <a:close/>
                </a:path>
              </a:pathLst>
            </a:custGeom>
            <a:solidFill>
              <a:srgbClr val="6C757D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904770" cy="938702"/>
            </a:xfrm>
            <a:prstGeom prst="rect">
              <a:avLst/>
            </a:prstGeom>
          </p:spPr>
          <p:txBody>
            <a:bodyPr lIns="10873" tIns="10873" rIns="10873" bIns="10873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2253245" y="5089711"/>
            <a:ext cx="603818" cy="603818"/>
          </a:xfrm>
          <a:custGeom>
            <a:avLst/>
            <a:gdLst/>
            <a:ahLst/>
            <a:cxnLst/>
            <a:rect l="l" t="t" r="r" b="b"/>
            <a:pathLst>
              <a:path w="603818" h="603818">
                <a:moveTo>
                  <a:pt x="0" y="0"/>
                </a:moveTo>
                <a:lnTo>
                  <a:pt x="603819" y="0"/>
                </a:lnTo>
                <a:lnTo>
                  <a:pt x="603819" y="603819"/>
                </a:lnTo>
                <a:lnTo>
                  <a:pt x="0" y="6038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8275688" y="5119969"/>
            <a:ext cx="573561" cy="573561"/>
          </a:xfrm>
          <a:custGeom>
            <a:avLst/>
            <a:gdLst/>
            <a:ahLst/>
            <a:cxnLst/>
            <a:rect l="l" t="t" r="r" b="b"/>
            <a:pathLst>
              <a:path w="573561" h="573561">
                <a:moveTo>
                  <a:pt x="0" y="0"/>
                </a:moveTo>
                <a:lnTo>
                  <a:pt x="573561" y="0"/>
                </a:lnTo>
                <a:lnTo>
                  <a:pt x="573561" y="573561"/>
                </a:lnTo>
                <a:lnTo>
                  <a:pt x="0" y="5735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30" name="Group 30"/>
          <p:cNvGrpSpPr/>
          <p:nvPr/>
        </p:nvGrpSpPr>
        <p:grpSpPr>
          <a:xfrm>
            <a:off x="9287386" y="3096100"/>
            <a:ext cx="6853746" cy="2699306"/>
            <a:chOff x="0" y="0"/>
            <a:chExt cx="1513922" cy="59624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513922" cy="596249"/>
            </a:xfrm>
            <a:custGeom>
              <a:avLst/>
              <a:gdLst/>
              <a:ahLst/>
              <a:cxnLst/>
              <a:rect l="l" t="t" r="r" b="b"/>
              <a:pathLst>
                <a:path w="1513922" h="596249">
                  <a:moveTo>
                    <a:pt x="11296" y="0"/>
                  </a:moveTo>
                  <a:lnTo>
                    <a:pt x="1502626" y="0"/>
                  </a:lnTo>
                  <a:cubicBezTo>
                    <a:pt x="1505622" y="0"/>
                    <a:pt x="1508495" y="1190"/>
                    <a:pt x="1510613" y="3308"/>
                  </a:cubicBezTo>
                  <a:cubicBezTo>
                    <a:pt x="1512732" y="5427"/>
                    <a:pt x="1513922" y="8300"/>
                    <a:pt x="1513922" y="11296"/>
                  </a:cubicBezTo>
                  <a:lnTo>
                    <a:pt x="1513922" y="584953"/>
                  </a:lnTo>
                  <a:cubicBezTo>
                    <a:pt x="1513922" y="591191"/>
                    <a:pt x="1508864" y="596249"/>
                    <a:pt x="1502626" y="596249"/>
                  </a:cubicBezTo>
                  <a:lnTo>
                    <a:pt x="11296" y="596249"/>
                  </a:lnTo>
                  <a:cubicBezTo>
                    <a:pt x="5057" y="596249"/>
                    <a:pt x="0" y="591191"/>
                    <a:pt x="0" y="584953"/>
                  </a:cubicBezTo>
                  <a:lnTo>
                    <a:pt x="0" y="11296"/>
                  </a:lnTo>
                  <a:cubicBezTo>
                    <a:pt x="0" y="5057"/>
                    <a:pt x="5057" y="0"/>
                    <a:pt x="112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513922" cy="634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9405436" y="3697094"/>
            <a:ext cx="6617646" cy="318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3"/>
              </a:lnSpc>
            </a:pPr>
            <a:r>
              <a:rPr lang="en-US" sz="2373" b="1">
                <a:solidFill>
                  <a:srgbClr val="082649"/>
                </a:solidFill>
                <a:latin typeface="Charlevoix Medium"/>
                <a:ea typeface="Charlevoix Medium"/>
                <a:cs typeface="Charlevoix Medium"/>
                <a:sym typeface="Charlevoix Medium"/>
              </a:rPr>
              <a:t>GOAL 2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287386" y="3096100"/>
            <a:ext cx="833121" cy="829284"/>
            <a:chOff x="0" y="0"/>
            <a:chExt cx="904770" cy="90060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04770" cy="900602"/>
            </a:xfrm>
            <a:custGeom>
              <a:avLst/>
              <a:gdLst/>
              <a:ahLst/>
              <a:cxnLst/>
              <a:rect l="l" t="t" r="r" b="b"/>
              <a:pathLst>
                <a:path w="904770" h="900602">
                  <a:moveTo>
                    <a:pt x="92927" y="0"/>
                  </a:moveTo>
                  <a:lnTo>
                    <a:pt x="811843" y="0"/>
                  </a:lnTo>
                  <a:cubicBezTo>
                    <a:pt x="863165" y="0"/>
                    <a:pt x="904770" y="41605"/>
                    <a:pt x="904770" y="92927"/>
                  </a:cubicBezTo>
                  <a:lnTo>
                    <a:pt x="904770" y="807676"/>
                  </a:lnTo>
                  <a:cubicBezTo>
                    <a:pt x="904770" y="858998"/>
                    <a:pt x="863165" y="900602"/>
                    <a:pt x="811843" y="900602"/>
                  </a:cubicBezTo>
                  <a:lnTo>
                    <a:pt x="92927" y="900602"/>
                  </a:lnTo>
                  <a:cubicBezTo>
                    <a:pt x="41605" y="900602"/>
                    <a:pt x="0" y="858998"/>
                    <a:pt x="0" y="807676"/>
                  </a:cubicBezTo>
                  <a:lnTo>
                    <a:pt x="0" y="92927"/>
                  </a:lnTo>
                  <a:cubicBezTo>
                    <a:pt x="0" y="41605"/>
                    <a:pt x="41605" y="0"/>
                    <a:pt x="92927" y="0"/>
                  </a:cubicBezTo>
                  <a:close/>
                </a:path>
              </a:pathLst>
            </a:custGeom>
            <a:solidFill>
              <a:srgbClr val="6C757D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904770" cy="938702"/>
            </a:xfrm>
            <a:prstGeom prst="rect">
              <a:avLst/>
            </a:prstGeom>
          </p:spPr>
          <p:txBody>
            <a:bodyPr lIns="10873" tIns="10873" rIns="10873" bIns="10873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5308011" y="3096100"/>
            <a:ext cx="833121" cy="829284"/>
            <a:chOff x="0" y="0"/>
            <a:chExt cx="904770" cy="90060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04770" cy="900602"/>
            </a:xfrm>
            <a:custGeom>
              <a:avLst/>
              <a:gdLst/>
              <a:ahLst/>
              <a:cxnLst/>
              <a:rect l="l" t="t" r="r" b="b"/>
              <a:pathLst>
                <a:path w="904770" h="900602">
                  <a:moveTo>
                    <a:pt x="92927" y="0"/>
                  </a:moveTo>
                  <a:lnTo>
                    <a:pt x="811843" y="0"/>
                  </a:lnTo>
                  <a:cubicBezTo>
                    <a:pt x="863165" y="0"/>
                    <a:pt x="904770" y="41605"/>
                    <a:pt x="904770" y="92927"/>
                  </a:cubicBezTo>
                  <a:lnTo>
                    <a:pt x="904770" y="807676"/>
                  </a:lnTo>
                  <a:cubicBezTo>
                    <a:pt x="904770" y="858998"/>
                    <a:pt x="863165" y="900602"/>
                    <a:pt x="811843" y="900602"/>
                  </a:cubicBezTo>
                  <a:lnTo>
                    <a:pt x="92927" y="900602"/>
                  </a:lnTo>
                  <a:cubicBezTo>
                    <a:pt x="41605" y="900602"/>
                    <a:pt x="0" y="858998"/>
                    <a:pt x="0" y="807676"/>
                  </a:cubicBezTo>
                  <a:lnTo>
                    <a:pt x="0" y="92927"/>
                  </a:lnTo>
                  <a:cubicBezTo>
                    <a:pt x="0" y="41605"/>
                    <a:pt x="41605" y="0"/>
                    <a:pt x="92927" y="0"/>
                  </a:cubicBezTo>
                  <a:close/>
                </a:path>
              </a:pathLst>
            </a:custGeom>
            <a:solidFill>
              <a:srgbClr val="6C757D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904770" cy="938702"/>
            </a:xfrm>
            <a:prstGeom prst="rect">
              <a:avLst/>
            </a:prstGeom>
          </p:spPr>
          <p:txBody>
            <a:bodyPr lIns="10873" tIns="10873" rIns="10873" bIns="10873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287386" y="4966122"/>
            <a:ext cx="833121" cy="829284"/>
            <a:chOff x="0" y="0"/>
            <a:chExt cx="904770" cy="90060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04770" cy="900602"/>
            </a:xfrm>
            <a:custGeom>
              <a:avLst/>
              <a:gdLst/>
              <a:ahLst/>
              <a:cxnLst/>
              <a:rect l="l" t="t" r="r" b="b"/>
              <a:pathLst>
                <a:path w="904770" h="900602">
                  <a:moveTo>
                    <a:pt x="92927" y="0"/>
                  </a:moveTo>
                  <a:lnTo>
                    <a:pt x="811843" y="0"/>
                  </a:lnTo>
                  <a:cubicBezTo>
                    <a:pt x="863165" y="0"/>
                    <a:pt x="904770" y="41605"/>
                    <a:pt x="904770" y="92927"/>
                  </a:cubicBezTo>
                  <a:lnTo>
                    <a:pt x="904770" y="807676"/>
                  </a:lnTo>
                  <a:cubicBezTo>
                    <a:pt x="904770" y="858998"/>
                    <a:pt x="863165" y="900602"/>
                    <a:pt x="811843" y="900602"/>
                  </a:cubicBezTo>
                  <a:lnTo>
                    <a:pt x="92927" y="900602"/>
                  </a:lnTo>
                  <a:cubicBezTo>
                    <a:pt x="41605" y="900602"/>
                    <a:pt x="0" y="858998"/>
                    <a:pt x="0" y="807676"/>
                  </a:cubicBezTo>
                  <a:lnTo>
                    <a:pt x="0" y="92927"/>
                  </a:lnTo>
                  <a:cubicBezTo>
                    <a:pt x="0" y="41605"/>
                    <a:pt x="41605" y="0"/>
                    <a:pt x="92927" y="0"/>
                  </a:cubicBezTo>
                  <a:close/>
                </a:path>
              </a:pathLst>
            </a:custGeom>
            <a:solidFill>
              <a:srgbClr val="6C757D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904770" cy="938702"/>
            </a:xfrm>
            <a:prstGeom prst="rect">
              <a:avLst/>
            </a:prstGeom>
          </p:spPr>
          <p:txBody>
            <a:bodyPr lIns="10873" tIns="10873" rIns="10873" bIns="10873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5308011" y="4966122"/>
            <a:ext cx="833121" cy="829284"/>
            <a:chOff x="0" y="0"/>
            <a:chExt cx="904770" cy="90060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904770" cy="900602"/>
            </a:xfrm>
            <a:custGeom>
              <a:avLst/>
              <a:gdLst/>
              <a:ahLst/>
              <a:cxnLst/>
              <a:rect l="l" t="t" r="r" b="b"/>
              <a:pathLst>
                <a:path w="904770" h="900602">
                  <a:moveTo>
                    <a:pt x="92927" y="0"/>
                  </a:moveTo>
                  <a:lnTo>
                    <a:pt x="811843" y="0"/>
                  </a:lnTo>
                  <a:cubicBezTo>
                    <a:pt x="863165" y="0"/>
                    <a:pt x="904770" y="41605"/>
                    <a:pt x="904770" y="92927"/>
                  </a:cubicBezTo>
                  <a:lnTo>
                    <a:pt x="904770" y="807676"/>
                  </a:lnTo>
                  <a:cubicBezTo>
                    <a:pt x="904770" y="858998"/>
                    <a:pt x="863165" y="900602"/>
                    <a:pt x="811843" y="900602"/>
                  </a:cubicBezTo>
                  <a:lnTo>
                    <a:pt x="92927" y="900602"/>
                  </a:lnTo>
                  <a:cubicBezTo>
                    <a:pt x="41605" y="900602"/>
                    <a:pt x="0" y="858998"/>
                    <a:pt x="0" y="807676"/>
                  </a:cubicBezTo>
                  <a:lnTo>
                    <a:pt x="0" y="92927"/>
                  </a:lnTo>
                  <a:cubicBezTo>
                    <a:pt x="0" y="41605"/>
                    <a:pt x="41605" y="0"/>
                    <a:pt x="92927" y="0"/>
                  </a:cubicBezTo>
                  <a:close/>
                </a:path>
              </a:pathLst>
            </a:custGeom>
            <a:solidFill>
              <a:srgbClr val="6C757D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904770" cy="938702"/>
            </a:xfrm>
            <a:prstGeom prst="rect">
              <a:avLst/>
            </a:prstGeom>
          </p:spPr>
          <p:txBody>
            <a:bodyPr lIns="10873" tIns="10873" rIns="10873" bIns="10873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46" name="Freeform 46"/>
          <p:cNvSpPr/>
          <p:nvPr/>
        </p:nvSpPr>
        <p:spPr>
          <a:xfrm>
            <a:off x="9342139" y="3302210"/>
            <a:ext cx="723615" cy="417065"/>
          </a:xfrm>
          <a:custGeom>
            <a:avLst/>
            <a:gdLst/>
            <a:ahLst/>
            <a:cxnLst/>
            <a:rect l="l" t="t" r="r" b="b"/>
            <a:pathLst>
              <a:path w="723615" h="417065">
                <a:moveTo>
                  <a:pt x="0" y="0"/>
                </a:moveTo>
                <a:lnTo>
                  <a:pt x="723615" y="0"/>
                </a:lnTo>
                <a:lnTo>
                  <a:pt x="723615" y="417065"/>
                </a:lnTo>
                <a:lnTo>
                  <a:pt x="0" y="4170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15424220" y="3210392"/>
            <a:ext cx="600702" cy="600702"/>
          </a:xfrm>
          <a:custGeom>
            <a:avLst/>
            <a:gdLst/>
            <a:ahLst/>
            <a:cxnLst/>
            <a:rect l="l" t="t" r="r" b="b"/>
            <a:pathLst>
              <a:path w="600702" h="600702">
                <a:moveTo>
                  <a:pt x="0" y="0"/>
                </a:moveTo>
                <a:lnTo>
                  <a:pt x="600702" y="0"/>
                </a:lnTo>
                <a:lnTo>
                  <a:pt x="600702" y="600701"/>
                </a:lnTo>
                <a:lnTo>
                  <a:pt x="0" y="6007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2315418" y="3234617"/>
            <a:ext cx="496021" cy="552251"/>
          </a:xfrm>
          <a:custGeom>
            <a:avLst/>
            <a:gdLst/>
            <a:ahLst/>
            <a:cxnLst/>
            <a:rect l="l" t="t" r="r" b="b"/>
            <a:pathLst>
              <a:path w="496021" h="552251">
                <a:moveTo>
                  <a:pt x="0" y="0"/>
                </a:moveTo>
                <a:lnTo>
                  <a:pt x="496022" y="0"/>
                </a:lnTo>
                <a:lnTo>
                  <a:pt x="496022" y="552251"/>
                </a:lnTo>
                <a:lnTo>
                  <a:pt x="0" y="5522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9379508" y="5052863"/>
            <a:ext cx="648877" cy="648877"/>
          </a:xfrm>
          <a:custGeom>
            <a:avLst/>
            <a:gdLst/>
            <a:ahLst/>
            <a:cxnLst/>
            <a:rect l="l" t="t" r="r" b="b"/>
            <a:pathLst>
              <a:path w="648877" h="648877">
                <a:moveTo>
                  <a:pt x="0" y="0"/>
                </a:moveTo>
                <a:lnTo>
                  <a:pt x="648878" y="0"/>
                </a:lnTo>
                <a:lnTo>
                  <a:pt x="648878" y="648877"/>
                </a:lnTo>
                <a:lnTo>
                  <a:pt x="0" y="648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15448448" y="5089711"/>
            <a:ext cx="596219" cy="549606"/>
          </a:xfrm>
          <a:custGeom>
            <a:avLst/>
            <a:gdLst/>
            <a:ahLst/>
            <a:cxnLst/>
            <a:rect l="l" t="t" r="r" b="b"/>
            <a:pathLst>
              <a:path w="596219" h="549606">
                <a:moveTo>
                  <a:pt x="0" y="0"/>
                </a:moveTo>
                <a:lnTo>
                  <a:pt x="596219" y="0"/>
                </a:lnTo>
                <a:lnTo>
                  <a:pt x="596219" y="549606"/>
                </a:lnTo>
                <a:lnTo>
                  <a:pt x="0" y="5496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51" name="TextBox 51"/>
          <p:cNvSpPr txBox="1"/>
          <p:nvPr/>
        </p:nvSpPr>
        <p:spPr>
          <a:xfrm>
            <a:off x="2146868" y="4278365"/>
            <a:ext cx="6853746" cy="382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871" b="1">
                <a:solidFill>
                  <a:srgbClr val="082649"/>
                </a:solidFill>
                <a:latin typeface="Charlevoix Bold"/>
                <a:ea typeface="Charlevoix Bold"/>
                <a:cs typeface="Charlevoix Bold"/>
                <a:sym typeface="Charlevoix Bold"/>
              </a:rPr>
              <a:t>Was Resident Direct Purchased?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287386" y="4278365"/>
            <a:ext cx="6853746" cy="382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871" b="1">
                <a:solidFill>
                  <a:srgbClr val="082649"/>
                </a:solidFill>
                <a:latin typeface="Charlevoix Bold"/>
                <a:ea typeface="Charlevoix Bold"/>
                <a:cs typeface="Charlevoix Bold"/>
                <a:sym typeface="Charlevoix Bold"/>
              </a:rPr>
              <a:t>Does it require additonal setup?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5717127" y="6176406"/>
            <a:ext cx="6853746" cy="2699306"/>
            <a:chOff x="0" y="0"/>
            <a:chExt cx="1513922" cy="596249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513922" cy="596249"/>
            </a:xfrm>
            <a:custGeom>
              <a:avLst/>
              <a:gdLst/>
              <a:ahLst/>
              <a:cxnLst/>
              <a:rect l="l" t="t" r="r" b="b"/>
              <a:pathLst>
                <a:path w="1513922" h="596249">
                  <a:moveTo>
                    <a:pt x="11296" y="0"/>
                  </a:moveTo>
                  <a:lnTo>
                    <a:pt x="1502626" y="0"/>
                  </a:lnTo>
                  <a:cubicBezTo>
                    <a:pt x="1505622" y="0"/>
                    <a:pt x="1508495" y="1190"/>
                    <a:pt x="1510613" y="3308"/>
                  </a:cubicBezTo>
                  <a:cubicBezTo>
                    <a:pt x="1512732" y="5427"/>
                    <a:pt x="1513922" y="8300"/>
                    <a:pt x="1513922" y="11296"/>
                  </a:cubicBezTo>
                  <a:lnTo>
                    <a:pt x="1513922" y="584953"/>
                  </a:lnTo>
                  <a:cubicBezTo>
                    <a:pt x="1513922" y="591191"/>
                    <a:pt x="1508864" y="596249"/>
                    <a:pt x="1502626" y="596249"/>
                  </a:cubicBezTo>
                  <a:lnTo>
                    <a:pt x="11296" y="596249"/>
                  </a:lnTo>
                  <a:cubicBezTo>
                    <a:pt x="5057" y="596249"/>
                    <a:pt x="0" y="591191"/>
                    <a:pt x="0" y="584953"/>
                  </a:cubicBezTo>
                  <a:lnTo>
                    <a:pt x="0" y="11296"/>
                  </a:lnTo>
                  <a:cubicBezTo>
                    <a:pt x="0" y="5057"/>
                    <a:pt x="5057" y="0"/>
                    <a:pt x="112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5" name="TextBox 55"/>
            <p:cNvSpPr txBox="1"/>
            <p:nvPr/>
          </p:nvSpPr>
          <p:spPr>
            <a:xfrm>
              <a:off x="0" y="-38100"/>
              <a:ext cx="1513922" cy="6343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5835177" y="6777399"/>
            <a:ext cx="6617646" cy="318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3"/>
              </a:lnSpc>
            </a:pPr>
            <a:r>
              <a:rPr lang="en-US" sz="2373" b="1">
                <a:solidFill>
                  <a:srgbClr val="082649"/>
                </a:solidFill>
                <a:latin typeface="Charlevoix Medium"/>
                <a:ea typeface="Charlevoix Medium"/>
                <a:cs typeface="Charlevoix Medium"/>
                <a:sym typeface="Charlevoix Medium"/>
              </a:rPr>
              <a:t>GOAL 3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5717127" y="6176406"/>
            <a:ext cx="833121" cy="829284"/>
            <a:chOff x="0" y="0"/>
            <a:chExt cx="904770" cy="900602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904770" cy="900602"/>
            </a:xfrm>
            <a:custGeom>
              <a:avLst/>
              <a:gdLst/>
              <a:ahLst/>
              <a:cxnLst/>
              <a:rect l="l" t="t" r="r" b="b"/>
              <a:pathLst>
                <a:path w="904770" h="900602">
                  <a:moveTo>
                    <a:pt x="92927" y="0"/>
                  </a:moveTo>
                  <a:lnTo>
                    <a:pt x="811843" y="0"/>
                  </a:lnTo>
                  <a:cubicBezTo>
                    <a:pt x="863165" y="0"/>
                    <a:pt x="904770" y="41605"/>
                    <a:pt x="904770" y="92927"/>
                  </a:cubicBezTo>
                  <a:lnTo>
                    <a:pt x="904770" y="807676"/>
                  </a:lnTo>
                  <a:cubicBezTo>
                    <a:pt x="904770" y="858998"/>
                    <a:pt x="863165" y="900602"/>
                    <a:pt x="811843" y="900602"/>
                  </a:cubicBezTo>
                  <a:lnTo>
                    <a:pt x="92927" y="900602"/>
                  </a:lnTo>
                  <a:cubicBezTo>
                    <a:pt x="41605" y="900602"/>
                    <a:pt x="0" y="858998"/>
                    <a:pt x="0" y="807676"/>
                  </a:cubicBezTo>
                  <a:lnTo>
                    <a:pt x="0" y="92927"/>
                  </a:lnTo>
                  <a:cubicBezTo>
                    <a:pt x="0" y="41605"/>
                    <a:pt x="41605" y="0"/>
                    <a:pt x="92927" y="0"/>
                  </a:cubicBezTo>
                  <a:close/>
                </a:path>
              </a:pathLst>
            </a:custGeom>
            <a:solidFill>
              <a:srgbClr val="6C757D"/>
            </a:solidFill>
          </p:spPr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904770" cy="938702"/>
            </a:xfrm>
            <a:prstGeom prst="rect">
              <a:avLst/>
            </a:prstGeom>
          </p:spPr>
          <p:txBody>
            <a:bodyPr lIns="10873" tIns="10873" rIns="10873" bIns="10873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1737751" y="6176406"/>
            <a:ext cx="833121" cy="829284"/>
            <a:chOff x="0" y="0"/>
            <a:chExt cx="904770" cy="90060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904770" cy="900602"/>
            </a:xfrm>
            <a:custGeom>
              <a:avLst/>
              <a:gdLst/>
              <a:ahLst/>
              <a:cxnLst/>
              <a:rect l="l" t="t" r="r" b="b"/>
              <a:pathLst>
                <a:path w="904770" h="900602">
                  <a:moveTo>
                    <a:pt x="92927" y="0"/>
                  </a:moveTo>
                  <a:lnTo>
                    <a:pt x="811843" y="0"/>
                  </a:lnTo>
                  <a:cubicBezTo>
                    <a:pt x="863165" y="0"/>
                    <a:pt x="904770" y="41605"/>
                    <a:pt x="904770" y="92927"/>
                  </a:cubicBezTo>
                  <a:lnTo>
                    <a:pt x="904770" y="807676"/>
                  </a:lnTo>
                  <a:cubicBezTo>
                    <a:pt x="904770" y="858998"/>
                    <a:pt x="863165" y="900602"/>
                    <a:pt x="811843" y="900602"/>
                  </a:cubicBezTo>
                  <a:lnTo>
                    <a:pt x="92927" y="900602"/>
                  </a:lnTo>
                  <a:cubicBezTo>
                    <a:pt x="41605" y="900602"/>
                    <a:pt x="0" y="858998"/>
                    <a:pt x="0" y="807676"/>
                  </a:cubicBezTo>
                  <a:lnTo>
                    <a:pt x="0" y="92927"/>
                  </a:lnTo>
                  <a:cubicBezTo>
                    <a:pt x="0" y="41605"/>
                    <a:pt x="41605" y="0"/>
                    <a:pt x="92927" y="0"/>
                  </a:cubicBezTo>
                  <a:close/>
                </a:path>
              </a:pathLst>
            </a:custGeom>
            <a:solidFill>
              <a:srgbClr val="6C757D"/>
            </a:solidFill>
          </p:spPr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904770" cy="938702"/>
            </a:xfrm>
            <a:prstGeom prst="rect">
              <a:avLst/>
            </a:prstGeom>
          </p:spPr>
          <p:txBody>
            <a:bodyPr lIns="10873" tIns="10873" rIns="10873" bIns="10873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717127" y="8046428"/>
            <a:ext cx="833121" cy="829284"/>
            <a:chOff x="0" y="0"/>
            <a:chExt cx="904770" cy="900602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904770" cy="900602"/>
            </a:xfrm>
            <a:custGeom>
              <a:avLst/>
              <a:gdLst/>
              <a:ahLst/>
              <a:cxnLst/>
              <a:rect l="l" t="t" r="r" b="b"/>
              <a:pathLst>
                <a:path w="904770" h="900602">
                  <a:moveTo>
                    <a:pt x="92927" y="0"/>
                  </a:moveTo>
                  <a:lnTo>
                    <a:pt x="811843" y="0"/>
                  </a:lnTo>
                  <a:cubicBezTo>
                    <a:pt x="863165" y="0"/>
                    <a:pt x="904770" y="41605"/>
                    <a:pt x="904770" y="92927"/>
                  </a:cubicBezTo>
                  <a:lnTo>
                    <a:pt x="904770" y="807676"/>
                  </a:lnTo>
                  <a:cubicBezTo>
                    <a:pt x="904770" y="858998"/>
                    <a:pt x="863165" y="900602"/>
                    <a:pt x="811843" y="900602"/>
                  </a:cubicBezTo>
                  <a:lnTo>
                    <a:pt x="92927" y="900602"/>
                  </a:lnTo>
                  <a:cubicBezTo>
                    <a:pt x="41605" y="900602"/>
                    <a:pt x="0" y="858998"/>
                    <a:pt x="0" y="807676"/>
                  </a:cubicBezTo>
                  <a:lnTo>
                    <a:pt x="0" y="92927"/>
                  </a:lnTo>
                  <a:cubicBezTo>
                    <a:pt x="0" y="41605"/>
                    <a:pt x="41605" y="0"/>
                    <a:pt x="92927" y="0"/>
                  </a:cubicBezTo>
                  <a:close/>
                </a:path>
              </a:pathLst>
            </a:custGeom>
            <a:solidFill>
              <a:srgbClr val="6C757D"/>
            </a:solidFill>
          </p:spPr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904770" cy="938702"/>
            </a:xfrm>
            <a:prstGeom prst="rect">
              <a:avLst/>
            </a:prstGeom>
          </p:spPr>
          <p:txBody>
            <a:bodyPr lIns="10873" tIns="10873" rIns="10873" bIns="10873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1737751" y="8046428"/>
            <a:ext cx="833121" cy="829284"/>
            <a:chOff x="0" y="0"/>
            <a:chExt cx="904770" cy="900602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904770" cy="900602"/>
            </a:xfrm>
            <a:custGeom>
              <a:avLst/>
              <a:gdLst/>
              <a:ahLst/>
              <a:cxnLst/>
              <a:rect l="l" t="t" r="r" b="b"/>
              <a:pathLst>
                <a:path w="904770" h="900602">
                  <a:moveTo>
                    <a:pt x="92927" y="0"/>
                  </a:moveTo>
                  <a:lnTo>
                    <a:pt x="811843" y="0"/>
                  </a:lnTo>
                  <a:cubicBezTo>
                    <a:pt x="863165" y="0"/>
                    <a:pt x="904770" y="41605"/>
                    <a:pt x="904770" y="92927"/>
                  </a:cubicBezTo>
                  <a:lnTo>
                    <a:pt x="904770" y="807676"/>
                  </a:lnTo>
                  <a:cubicBezTo>
                    <a:pt x="904770" y="858998"/>
                    <a:pt x="863165" y="900602"/>
                    <a:pt x="811843" y="900602"/>
                  </a:cubicBezTo>
                  <a:lnTo>
                    <a:pt x="92927" y="900602"/>
                  </a:lnTo>
                  <a:cubicBezTo>
                    <a:pt x="41605" y="900602"/>
                    <a:pt x="0" y="858998"/>
                    <a:pt x="0" y="807676"/>
                  </a:cubicBezTo>
                  <a:lnTo>
                    <a:pt x="0" y="92927"/>
                  </a:lnTo>
                  <a:cubicBezTo>
                    <a:pt x="0" y="41605"/>
                    <a:pt x="41605" y="0"/>
                    <a:pt x="92927" y="0"/>
                  </a:cubicBezTo>
                  <a:close/>
                </a:path>
              </a:pathLst>
            </a:custGeom>
            <a:solidFill>
              <a:srgbClr val="6C757D"/>
            </a:solidFill>
          </p:spPr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904770" cy="938702"/>
            </a:xfrm>
            <a:prstGeom prst="rect">
              <a:avLst/>
            </a:prstGeom>
          </p:spPr>
          <p:txBody>
            <a:bodyPr lIns="10873" tIns="10873" rIns="10873" bIns="10873" rtlCol="0" anchor="ctr"/>
            <a:lstStyle/>
            <a:p>
              <a:pPr algn="ctr">
                <a:lnSpc>
                  <a:spcPts val="2660"/>
                </a:lnSpc>
              </a:pPr>
              <a:endParaRPr/>
            </a:p>
          </p:txBody>
        </p:sp>
      </p:grpSp>
      <p:sp>
        <p:nvSpPr>
          <p:cNvPr id="69" name="Freeform 69"/>
          <p:cNvSpPr/>
          <p:nvPr/>
        </p:nvSpPr>
        <p:spPr>
          <a:xfrm>
            <a:off x="5771880" y="6382516"/>
            <a:ext cx="723615" cy="417065"/>
          </a:xfrm>
          <a:custGeom>
            <a:avLst/>
            <a:gdLst/>
            <a:ahLst/>
            <a:cxnLst/>
            <a:rect l="l" t="t" r="r" b="b"/>
            <a:pathLst>
              <a:path w="723615" h="417065">
                <a:moveTo>
                  <a:pt x="0" y="0"/>
                </a:moveTo>
                <a:lnTo>
                  <a:pt x="723615" y="0"/>
                </a:lnTo>
                <a:lnTo>
                  <a:pt x="723615" y="417065"/>
                </a:lnTo>
                <a:lnTo>
                  <a:pt x="0" y="4170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0" name="Freeform 70"/>
          <p:cNvSpPr/>
          <p:nvPr/>
        </p:nvSpPr>
        <p:spPr>
          <a:xfrm>
            <a:off x="11853961" y="6290697"/>
            <a:ext cx="600702" cy="600702"/>
          </a:xfrm>
          <a:custGeom>
            <a:avLst/>
            <a:gdLst/>
            <a:ahLst/>
            <a:cxnLst/>
            <a:rect l="l" t="t" r="r" b="b"/>
            <a:pathLst>
              <a:path w="600702" h="600702">
                <a:moveTo>
                  <a:pt x="0" y="0"/>
                </a:moveTo>
                <a:lnTo>
                  <a:pt x="600702" y="0"/>
                </a:lnTo>
                <a:lnTo>
                  <a:pt x="600702" y="600702"/>
                </a:lnTo>
                <a:lnTo>
                  <a:pt x="0" y="600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1" name="Freeform 71"/>
          <p:cNvSpPr/>
          <p:nvPr/>
        </p:nvSpPr>
        <p:spPr>
          <a:xfrm>
            <a:off x="5809249" y="8133168"/>
            <a:ext cx="648877" cy="648877"/>
          </a:xfrm>
          <a:custGeom>
            <a:avLst/>
            <a:gdLst/>
            <a:ahLst/>
            <a:cxnLst/>
            <a:rect l="l" t="t" r="r" b="b"/>
            <a:pathLst>
              <a:path w="648877" h="648877">
                <a:moveTo>
                  <a:pt x="0" y="0"/>
                </a:moveTo>
                <a:lnTo>
                  <a:pt x="648878" y="0"/>
                </a:lnTo>
                <a:lnTo>
                  <a:pt x="648878" y="648878"/>
                </a:lnTo>
                <a:lnTo>
                  <a:pt x="0" y="6488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72" name="Freeform 72"/>
          <p:cNvSpPr/>
          <p:nvPr/>
        </p:nvSpPr>
        <p:spPr>
          <a:xfrm>
            <a:off x="11878188" y="8170017"/>
            <a:ext cx="596219" cy="549606"/>
          </a:xfrm>
          <a:custGeom>
            <a:avLst/>
            <a:gdLst/>
            <a:ahLst/>
            <a:cxnLst/>
            <a:rect l="l" t="t" r="r" b="b"/>
            <a:pathLst>
              <a:path w="596219" h="549606">
                <a:moveTo>
                  <a:pt x="0" y="0"/>
                </a:moveTo>
                <a:lnTo>
                  <a:pt x="596220" y="0"/>
                </a:lnTo>
                <a:lnTo>
                  <a:pt x="596220" y="549606"/>
                </a:lnTo>
                <a:lnTo>
                  <a:pt x="0" y="5496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73" name="TextBox 73"/>
          <p:cNvSpPr txBox="1"/>
          <p:nvPr/>
        </p:nvSpPr>
        <p:spPr>
          <a:xfrm>
            <a:off x="5620662" y="7403548"/>
            <a:ext cx="6853746" cy="382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1"/>
              </a:lnSpc>
            </a:pPr>
            <a:r>
              <a:rPr lang="en-US" sz="2871" b="1">
                <a:solidFill>
                  <a:srgbClr val="082649"/>
                </a:solidFill>
                <a:latin typeface="Charlevoix Bold"/>
                <a:ea typeface="Charlevoix Bold"/>
                <a:cs typeface="Charlevoix Bold"/>
                <a:sym typeface="Charlevoix Bold"/>
              </a:rPr>
              <a:t>Are there dependencies?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6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012667" y="1639313"/>
            <a:ext cx="11975894" cy="1456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5600" b="1">
                <a:solidFill>
                  <a:srgbClr val="FFFFFF"/>
                </a:solidFill>
                <a:latin typeface="Charlevoix Bold"/>
                <a:ea typeface="Charlevoix Bold"/>
                <a:cs typeface="Charlevoix Bold"/>
                <a:sym typeface="Charlevoix Bold"/>
              </a:rPr>
              <a:t>CONSULTING</a:t>
            </a:r>
          </a:p>
          <a:p>
            <a:pPr algn="ctr">
              <a:lnSpc>
                <a:spcPts val="5600"/>
              </a:lnSpc>
            </a:pPr>
            <a:r>
              <a:rPr lang="en-US" sz="5600" b="1">
                <a:solidFill>
                  <a:srgbClr val="FFFFFF"/>
                </a:solidFill>
                <a:latin typeface="Charlevoix Bold"/>
                <a:ea typeface="Charlevoix Bold"/>
                <a:cs typeface="Charlevoix Bold"/>
                <a:sym typeface="Charlevoix Bold"/>
              </a:rPr>
              <a:t>ORDERS</a:t>
            </a:r>
          </a:p>
        </p:txBody>
      </p:sp>
      <p:sp>
        <p:nvSpPr>
          <p:cNvPr id="3" name="Freeform 3"/>
          <p:cNvSpPr/>
          <p:nvPr/>
        </p:nvSpPr>
        <p:spPr>
          <a:xfrm>
            <a:off x="3221320" y="1820629"/>
            <a:ext cx="998905" cy="998905"/>
          </a:xfrm>
          <a:custGeom>
            <a:avLst/>
            <a:gdLst/>
            <a:ahLst/>
            <a:cxnLst/>
            <a:rect l="l" t="t" r="r" b="b"/>
            <a:pathLst>
              <a:path w="998905" h="998905">
                <a:moveTo>
                  <a:pt x="0" y="0"/>
                </a:moveTo>
                <a:lnTo>
                  <a:pt x="998906" y="0"/>
                </a:lnTo>
                <a:lnTo>
                  <a:pt x="998906" y="998906"/>
                </a:lnTo>
                <a:lnTo>
                  <a:pt x="0" y="9989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295772" y="1820629"/>
            <a:ext cx="998905" cy="998905"/>
          </a:xfrm>
          <a:custGeom>
            <a:avLst/>
            <a:gdLst/>
            <a:ahLst/>
            <a:cxnLst/>
            <a:rect l="l" t="t" r="r" b="b"/>
            <a:pathLst>
              <a:path w="998905" h="998905">
                <a:moveTo>
                  <a:pt x="0" y="0"/>
                </a:moveTo>
                <a:lnTo>
                  <a:pt x="998906" y="0"/>
                </a:lnTo>
                <a:lnTo>
                  <a:pt x="998906" y="998906"/>
                </a:lnTo>
                <a:lnTo>
                  <a:pt x="0" y="9989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370224" y="1820629"/>
            <a:ext cx="998905" cy="998905"/>
          </a:xfrm>
          <a:custGeom>
            <a:avLst/>
            <a:gdLst/>
            <a:ahLst/>
            <a:cxnLst/>
            <a:rect l="l" t="t" r="r" b="b"/>
            <a:pathLst>
              <a:path w="998905" h="998905">
                <a:moveTo>
                  <a:pt x="0" y="0"/>
                </a:moveTo>
                <a:lnTo>
                  <a:pt x="998906" y="0"/>
                </a:lnTo>
                <a:lnTo>
                  <a:pt x="998906" y="998906"/>
                </a:lnTo>
                <a:lnTo>
                  <a:pt x="0" y="9989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146868" y="1820629"/>
            <a:ext cx="998905" cy="998905"/>
          </a:xfrm>
          <a:custGeom>
            <a:avLst/>
            <a:gdLst/>
            <a:ahLst/>
            <a:cxnLst/>
            <a:rect l="l" t="t" r="r" b="b"/>
            <a:pathLst>
              <a:path w="998905" h="998905">
                <a:moveTo>
                  <a:pt x="0" y="0"/>
                </a:moveTo>
                <a:lnTo>
                  <a:pt x="998906" y="0"/>
                </a:lnTo>
                <a:lnTo>
                  <a:pt x="998906" y="998906"/>
                </a:lnTo>
                <a:lnTo>
                  <a:pt x="0" y="9989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67774" y="1820629"/>
            <a:ext cx="998905" cy="998905"/>
          </a:xfrm>
          <a:custGeom>
            <a:avLst/>
            <a:gdLst/>
            <a:ahLst/>
            <a:cxnLst/>
            <a:rect l="l" t="t" r="r" b="b"/>
            <a:pathLst>
              <a:path w="998905" h="998905">
                <a:moveTo>
                  <a:pt x="0" y="0"/>
                </a:moveTo>
                <a:lnTo>
                  <a:pt x="998906" y="0"/>
                </a:lnTo>
                <a:lnTo>
                  <a:pt x="998906" y="998906"/>
                </a:lnTo>
                <a:lnTo>
                  <a:pt x="0" y="9989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993322" y="1820629"/>
            <a:ext cx="998905" cy="998905"/>
          </a:xfrm>
          <a:custGeom>
            <a:avLst/>
            <a:gdLst/>
            <a:ahLst/>
            <a:cxnLst/>
            <a:rect l="l" t="t" r="r" b="b"/>
            <a:pathLst>
              <a:path w="998905" h="998905">
                <a:moveTo>
                  <a:pt x="0" y="0"/>
                </a:moveTo>
                <a:lnTo>
                  <a:pt x="998906" y="0"/>
                </a:lnTo>
                <a:lnTo>
                  <a:pt x="998906" y="998906"/>
                </a:lnTo>
                <a:lnTo>
                  <a:pt x="0" y="9989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898804" y="1820629"/>
            <a:ext cx="998905" cy="998905"/>
          </a:xfrm>
          <a:custGeom>
            <a:avLst/>
            <a:gdLst/>
            <a:ahLst/>
            <a:cxnLst/>
            <a:rect l="l" t="t" r="r" b="b"/>
            <a:pathLst>
              <a:path w="998905" h="998905">
                <a:moveTo>
                  <a:pt x="0" y="0"/>
                </a:moveTo>
                <a:lnTo>
                  <a:pt x="998906" y="0"/>
                </a:lnTo>
                <a:lnTo>
                  <a:pt x="998906" y="998906"/>
                </a:lnTo>
                <a:lnTo>
                  <a:pt x="0" y="9989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142226" y="1820629"/>
            <a:ext cx="998905" cy="998905"/>
          </a:xfrm>
          <a:custGeom>
            <a:avLst/>
            <a:gdLst/>
            <a:ahLst/>
            <a:cxnLst/>
            <a:rect l="l" t="t" r="r" b="b"/>
            <a:pathLst>
              <a:path w="998905" h="998905">
                <a:moveTo>
                  <a:pt x="0" y="0"/>
                </a:moveTo>
                <a:lnTo>
                  <a:pt x="998906" y="0"/>
                </a:lnTo>
                <a:lnTo>
                  <a:pt x="998906" y="998906"/>
                </a:lnTo>
                <a:lnTo>
                  <a:pt x="0" y="9989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2371857" y="3871810"/>
            <a:ext cx="13994264" cy="5779612"/>
            <a:chOff x="0" y="0"/>
            <a:chExt cx="18659019" cy="7706149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9138328" cy="3599074"/>
              <a:chOff x="0" y="0"/>
              <a:chExt cx="1513922" cy="596249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513922" cy="596249"/>
              </a:xfrm>
              <a:custGeom>
                <a:avLst/>
                <a:gdLst/>
                <a:ahLst/>
                <a:cxnLst/>
                <a:rect l="l" t="t" r="r" b="b"/>
                <a:pathLst>
                  <a:path w="1513922" h="596249">
                    <a:moveTo>
                      <a:pt x="11296" y="0"/>
                    </a:moveTo>
                    <a:lnTo>
                      <a:pt x="1502626" y="0"/>
                    </a:lnTo>
                    <a:cubicBezTo>
                      <a:pt x="1505622" y="0"/>
                      <a:pt x="1508495" y="1190"/>
                      <a:pt x="1510613" y="3308"/>
                    </a:cubicBezTo>
                    <a:cubicBezTo>
                      <a:pt x="1512732" y="5427"/>
                      <a:pt x="1513922" y="8300"/>
                      <a:pt x="1513922" y="11296"/>
                    </a:cubicBezTo>
                    <a:lnTo>
                      <a:pt x="1513922" y="584953"/>
                    </a:lnTo>
                    <a:cubicBezTo>
                      <a:pt x="1513922" y="591191"/>
                      <a:pt x="1508864" y="596249"/>
                      <a:pt x="1502626" y="596249"/>
                    </a:cubicBezTo>
                    <a:lnTo>
                      <a:pt x="11296" y="596249"/>
                    </a:lnTo>
                    <a:cubicBezTo>
                      <a:pt x="5057" y="596249"/>
                      <a:pt x="0" y="591191"/>
                      <a:pt x="0" y="584953"/>
                    </a:cubicBezTo>
                    <a:lnTo>
                      <a:pt x="0" y="11296"/>
                    </a:lnTo>
                    <a:cubicBezTo>
                      <a:pt x="0" y="5057"/>
                      <a:pt x="5057" y="0"/>
                      <a:pt x="1129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1513922" cy="6343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157400" y="788624"/>
              <a:ext cx="8823528" cy="436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3"/>
                </a:lnSpc>
              </a:pPr>
              <a:r>
                <a:rPr lang="en-US" sz="2373" b="1">
                  <a:solidFill>
                    <a:srgbClr val="082649"/>
                  </a:solidFill>
                  <a:latin typeface="Charlevoix Medium"/>
                  <a:ea typeface="Charlevoix Medium"/>
                  <a:cs typeface="Charlevoix Medium"/>
                  <a:sym typeface="Charlevoix Medium"/>
                </a:rPr>
                <a:t>IDENTIFY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0" y="0"/>
              <a:ext cx="1110829" cy="1105712"/>
              <a:chOff x="0" y="0"/>
              <a:chExt cx="904770" cy="900602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92927" y="0"/>
                    </a:moveTo>
                    <a:lnTo>
                      <a:pt x="811843" y="0"/>
                    </a:lnTo>
                    <a:cubicBezTo>
                      <a:pt x="863165" y="0"/>
                      <a:pt x="904770" y="41605"/>
                      <a:pt x="904770" y="92927"/>
                    </a:cubicBezTo>
                    <a:lnTo>
                      <a:pt x="904770" y="807676"/>
                    </a:lnTo>
                    <a:cubicBezTo>
                      <a:pt x="904770" y="858998"/>
                      <a:pt x="863165" y="900602"/>
                      <a:pt x="811843" y="900602"/>
                    </a:cubicBezTo>
                    <a:lnTo>
                      <a:pt x="92927" y="900602"/>
                    </a:lnTo>
                    <a:cubicBezTo>
                      <a:pt x="41605" y="900602"/>
                      <a:pt x="0" y="858998"/>
                      <a:pt x="0" y="807676"/>
                    </a:cubicBezTo>
                    <a:lnTo>
                      <a:pt x="0" y="92927"/>
                    </a:lnTo>
                    <a:cubicBezTo>
                      <a:pt x="0" y="41605"/>
                      <a:pt x="41605" y="0"/>
                      <a:pt x="92927" y="0"/>
                    </a:cubicBezTo>
                    <a:close/>
                  </a:path>
                </a:pathLst>
              </a:custGeom>
              <a:solidFill>
                <a:srgbClr val="6C757D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10873" tIns="10873" rIns="10873" bIns="1087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8027499" y="0"/>
              <a:ext cx="1110829" cy="1105712"/>
              <a:chOff x="0" y="0"/>
              <a:chExt cx="904770" cy="900602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92927" y="0"/>
                    </a:moveTo>
                    <a:lnTo>
                      <a:pt x="811843" y="0"/>
                    </a:lnTo>
                    <a:cubicBezTo>
                      <a:pt x="863165" y="0"/>
                      <a:pt x="904770" y="41605"/>
                      <a:pt x="904770" y="92927"/>
                    </a:cubicBezTo>
                    <a:lnTo>
                      <a:pt x="904770" y="807676"/>
                    </a:lnTo>
                    <a:cubicBezTo>
                      <a:pt x="904770" y="858998"/>
                      <a:pt x="863165" y="900602"/>
                      <a:pt x="811843" y="900602"/>
                    </a:cubicBezTo>
                    <a:lnTo>
                      <a:pt x="92927" y="900602"/>
                    </a:lnTo>
                    <a:cubicBezTo>
                      <a:pt x="41605" y="900602"/>
                      <a:pt x="0" y="858998"/>
                      <a:pt x="0" y="807676"/>
                    </a:cubicBezTo>
                    <a:lnTo>
                      <a:pt x="0" y="92927"/>
                    </a:lnTo>
                    <a:cubicBezTo>
                      <a:pt x="0" y="41605"/>
                      <a:pt x="41605" y="0"/>
                      <a:pt x="92927" y="0"/>
                    </a:cubicBezTo>
                    <a:close/>
                  </a:path>
                </a:pathLst>
              </a:custGeom>
              <a:solidFill>
                <a:srgbClr val="6C757D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10873" tIns="10873" rIns="10873" bIns="1087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8227033" y="139417"/>
              <a:ext cx="768284" cy="768284"/>
            </a:xfrm>
            <a:custGeom>
              <a:avLst/>
              <a:gdLst/>
              <a:ahLst/>
              <a:cxnLst/>
              <a:rect l="l" t="t" r="r" b="b"/>
              <a:pathLst>
                <a:path w="768284" h="768284">
                  <a:moveTo>
                    <a:pt x="0" y="0"/>
                  </a:moveTo>
                  <a:lnTo>
                    <a:pt x="768285" y="0"/>
                  </a:lnTo>
                  <a:lnTo>
                    <a:pt x="768285" y="768284"/>
                  </a:lnTo>
                  <a:lnTo>
                    <a:pt x="0" y="768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3" name="Group 23"/>
            <p:cNvGrpSpPr/>
            <p:nvPr/>
          </p:nvGrpSpPr>
          <p:grpSpPr>
            <a:xfrm>
              <a:off x="0" y="2493362"/>
              <a:ext cx="1110829" cy="1105712"/>
              <a:chOff x="0" y="0"/>
              <a:chExt cx="904770" cy="90060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92927" y="0"/>
                    </a:moveTo>
                    <a:lnTo>
                      <a:pt x="811843" y="0"/>
                    </a:lnTo>
                    <a:cubicBezTo>
                      <a:pt x="863165" y="0"/>
                      <a:pt x="904770" y="41605"/>
                      <a:pt x="904770" y="92927"/>
                    </a:cubicBezTo>
                    <a:lnTo>
                      <a:pt x="904770" y="807676"/>
                    </a:lnTo>
                    <a:cubicBezTo>
                      <a:pt x="904770" y="858998"/>
                      <a:pt x="863165" y="900602"/>
                      <a:pt x="811843" y="900602"/>
                    </a:cubicBezTo>
                    <a:lnTo>
                      <a:pt x="92927" y="900602"/>
                    </a:lnTo>
                    <a:cubicBezTo>
                      <a:pt x="41605" y="900602"/>
                      <a:pt x="0" y="858998"/>
                      <a:pt x="0" y="807676"/>
                    </a:cubicBezTo>
                    <a:lnTo>
                      <a:pt x="0" y="92927"/>
                    </a:lnTo>
                    <a:cubicBezTo>
                      <a:pt x="0" y="41605"/>
                      <a:pt x="41605" y="0"/>
                      <a:pt x="92927" y="0"/>
                    </a:cubicBezTo>
                    <a:close/>
                  </a:path>
                </a:pathLst>
              </a:custGeom>
              <a:solidFill>
                <a:srgbClr val="6C757D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10873" tIns="10873" rIns="10873" bIns="1087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8027499" y="2493362"/>
              <a:ext cx="1110829" cy="1105712"/>
              <a:chOff x="0" y="0"/>
              <a:chExt cx="904770" cy="900602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92927" y="0"/>
                    </a:moveTo>
                    <a:lnTo>
                      <a:pt x="811843" y="0"/>
                    </a:lnTo>
                    <a:cubicBezTo>
                      <a:pt x="863165" y="0"/>
                      <a:pt x="904770" y="41605"/>
                      <a:pt x="904770" y="92927"/>
                    </a:cubicBezTo>
                    <a:lnTo>
                      <a:pt x="904770" y="807676"/>
                    </a:lnTo>
                    <a:cubicBezTo>
                      <a:pt x="904770" y="858998"/>
                      <a:pt x="863165" y="900602"/>
                      <a:pt x="811843" y="900602"/>
                    </a:cubicBezTo>
                    <a:lnTo>
                      <a:pt x="92927" y="900602"/>
                    </a:lnTo>
                    <a:cubicBezTo>
                      <a:pt x="41605" y="900602"/>
                      <a:pt x="0" y="858998"/>
                      <a:pt x="0" y="807676"/>
                    </a:cubicBezTo>
                    <a:lnTo>
                      <a:pt x="0" y="92927"/>
                    </a:lnTo>
                    <a:cubicBezTo>
                      <a:pt x="0" y="41605"/>
                      <a:pt x="41605" y="0"/>
                      <a:pt x="92927" y="0"/>
                    </a:cubicBezTo>
                    <a:close/>
                  </a:path>
                </a:pathLst>
              </a:custGeom>
              <a:solidFill>
                <a:srgbClr val="6C757D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10873" tIns="10873" rIns="10873" bIns="1087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9" name="Freeform 29"/>
            <p:cNvSpPr/>
            <p:nvPr/>
          </p:nvSpPr>
          <p:spPr>
            <a:xfrm>
              <a:off x="141836" y="2658148"/>
              <a:ext cx="805091" cy="805091"/>
            </a:xfrm>
            <a:custGeom>
              <a:avLst/>
              <a:gdLst/>
              <a:ahLst/>
              <a:cxnLst/>
              <a:rect l="l" t="t" r="r" b="b"/>
              <a:pathLst>
                <a:path w="805091" h="805091">
                  <a:moveTo>
                    <a:pt x="0" y="0"/>
                  </a:moveTo>
                  <a:lnTo>
                    <a:pt x="805092" y="0"/>
                  </a:lnTo>
                  <a:lnTo>
                    <a:pt x="805092" y="805091"/>
                  </a:lnTo>
                  <a:lnTo>
                    <a:pt x="0" y="8050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>
              <a:off x="8171760" y="2698491"/>
              <a:ext cx="764748" cy="764748"/>
            </a:xfrm>
            <a:custGeom>
              <a:avLst/>
              <a:gdLst/>
              <a:ahLst/>
              <a:cxnLst/>
              <a:rect l="l" t="t" r="r" b="b"/>
              <a:pathLst>
                <a:path w="764748" h="764748">
                  <a:moveTo>
                    <a:pt x="0" y="0"/>
                  </a:moveTo>
                  <a:lnTo>
                    <a:pt x="764748" y="0"/>
                  </a:lnTo>
                  <a:lnTo>
                    <a:pt x="764748" y="764748"/>
                  </a:lnTo>
                  <a:lnTo>
                    <a:pt x="0" y="7647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31" name="Group 31"/>
            <p:cNvGrpSpPr/>
            <p:nvPr/>
          </p:nvGrpSpPr>
          <p:grpSpPr>
            <a:xfrm>
              <a:off x="9520691" y="0"/>
              <a:ext cx="9138328" cy="3599074"/>
              <a:chOff x="0" y="0"/>
              <a:chExt cx="1513922" cy="596249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1513922" cy="596249"/>
              </a:xfrm>
              <a:custGeom>
                <a:avLst/>
                <a:gdLst/>
                <a:ahLst/>
                <a:cxnLst/>
                <a:rect l="l" t="t" r="r" b="b"/>
                <a:pathLst>
                  <a:path w="1513922" h="596249">
                    <a:moveTo>
                      <a:pt x="11296" y="0"/>
                    </a:moveTo>
                    <a:lnTo>
                      <a:pt x="1502626" y="0"/>
                    </a:lnTo>
                    <a:cubicBezTo>
                      <a:pt x="1505622" y="0"/>
                      <a:pt x="1508495" y="1190"/>
                      <a:pt x="1510613" y="3308"/>
                    </a:cubicBezTo>
                    <a:cubicBezTo>
                      <a:pt x="1512732" y="5427"/>
                      <a:pt x="1513922" y="8300"/>
                      <a:pt x="1513922" y="11296"/>
                    </a:cubicBezTo>
                    <a:lnTo>
                      <a:pt x="1513922" y="584953"/>
                    </a:lnTo>
                    <a:cubicBezTo>
                      <a:pt x="1513922" y="591191"/>
                      <a:pt x="1508864" y="596249"/>
                      <a:pt x="1502626" y="596249"/>
                    </a:cubicBezTo>
                    <a:lnTo>
                      <a:pt x="11296" y="596249"/>
                    </a:lnTo>
                    <a:cubicBezTo>
                      <a:pt x="5057" y="596249"/>
                      <a:pt x="0" y="591191"/>
                      <a:pt x="0" y="584953"/>
                    </a:cubicBezTo>
                    <a:lnTo>
                      <a:pt x="0" y="11296"/>
                    </a:lnTo>
                    <a:cubicBezTo>
                      <a:pt x="0" y="5057"/>
                      <a:pt x="5057" y="0"/>
                      <a:pt x="1129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0" y="-38100"/>
                <a:ext cx="1513922" cy="6343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9678091" y="788624"/>
              <a:ext cx="8823528" cy="436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3"/>
                </a:lnSpc>
              </a:pPr>
              <a:r>
                <a:rPr lang="en-US" sz="2373" b="1">
                  <a:solidFill>
                    <a:srgbClr val="082649"/>
                  </a:solidFill>
                  <a:latin typeface="Charlevoix Medium"/>
                  <a:ea typeface="Charlevoix Medium"/>
                  <a:cs typeface="Charlevoix Medium"/>
                  <a:sym typeface="Charlevoix Medium"/>
                </a:rPr>
                <a:t>IDENTIFY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9520691" y="0"/>
              <a:ext cx="1110829" cy="1105712"/>
              <a:chOff x="0" y="0"/>
              <a:chExt cx="904770" cy="900602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92927" y="0"/>
                    </a:moveTo>
                    <a:lnTo>
                      <a:pt x="811843" y="0"/>
                    </a:lnTo>
                    <a:cubicBezTo>
                      <a:pt x="863165" y="0"/>
                      <a:pt x="904770" y="41605"/>
                      <a:pt x="904770" y="92927"/>
                    </a:cubicBezTo>
                    <a:lnTo>
                      <a:pt x="904770" y="807676"/>
                    </a:lnTo>
                    <a:cubicBezTo>
                      <a:pt x="904770" y="858998"/>
                      <a:pt x="863165" y="900602"/>
                      <a:pt x="811843" y="900602"/>
                    </a:cubicBezTo>
                    <a:lnTo>
                      <a:pt x="92927" y="900602"/>
                    </a:lnTo>
                    <a:cubicBezTo>
                      <a:pt x="41605" y="900602"/>
                      <a:pt x="0" y="858998"/>
                      <a:pt x="0" y="807676"/>
                    </a:cubicBezTo>
                    <a:lnTo>
                      <a:pt x="0" y="92927"/>
                    </a:lnTo>
                    <a:cubicBezTo>
                      <a:pt x="0" y="41605"/>
                      <a:pt x="41605" y="0"/>
                      <a:pt x="92927" y="0"/>
                    </a:cubicBezTo>
                    <a:close/>
                  </a:path>
                </a:pathLst>
              </a:custGeom>
              <a:solidFill>
                <a:srgbClr val="6C757D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10873" tIns="10873" rIns="10873" bIns="1087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17548190" y="0"/>
              <a:ext cx="1110829" cy="1105712"/>
              <a:chOff x="0" y="0"/>
              <a:chExt cx="904770" cy="900602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92927" y="0"/>
                    </a:moveTo>
                    <a:lnTo>
                      <a:pt x="811843" y="0"/>
                    </a:lnTo>
                    <a:cubicBezTo>
                      <a:pt x="863165" y="0"/>
                      <a:pt x="904770" y="41605"/>
                      <a:pt x="904770" y="92927"/>
                    </a:cubicBezTo>
                    <a:lnTo>
                      <a:pt x="904770" y="807676"/>
                    </a:lnTo>
                    <a:cubicBezTo>
                      <a:pt x="904770" y="858998"/>
                      <a:pt x="863165" y="900602"/>
                      <a:pt x="811843" y="900602"/>
                    </a:cubicBezTo>
                    <a:lnTo>
                      <a:pt x="92927" y="900602"/>
                    </a:lnTo>
                    <a:cubicBezTo>
                      <a:pt x="41605" y="900602"/>
                      <a:pt x="0" y="858998"/>
                      <a:pt x="0" y="807676"/>
                    </a:cubicBezTo>
                    <a:lnTo>
                      <a:pt x="0" y="92927"/>
                    </a:lnTo>
                    <a:cubicBezTo>
                      <a:pt x="0" y="41605"/>
                      <a:pt x="41605" y="0"/>
                      <a:pt x="92927" y="0"/>
                    </a:cubicBezTo>
                    <a:close/>
                  </a:path>
                </a:pathLst>
              </a:custGeom>
              <a:solidFill>
                <a:srgbClr val="6C757D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10873" tIns="10873" rIns="10873" bIns="1087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9520691" y="2493362"/>
              <a:ext cx="1110829" cy="1105712"/>
              <a:chOff x="0" y="0"/>
              <a:chExt cx="904770" cy="900602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92927" y="0"/>
                    </a:moveTo>
                    <a:lnTo>
                      <a:pt x="811843" y="0"/>
                    </a:lnTo>
                    <a:cubicBezTo>
                      <a:pt x="863165" y="0"/>
                      <a:pt x="904770" y="41605"/>
                      <a:pt x="904770" y="92927"/>
                    </a:cubicBezTo>
                    <a:lnTo>
                      <a:pt x="904770" y="807676"/>
                    </a:lnTo>
                    <a:cubicBezTo>
                      <a:pt x="904770" y="858998"/>
                      <a:pt x="863165" y="900602"/>
                      <a:pt x="811843" y="900602"/>
                    </a:cubicBezTo>
                    <a:lnTo>
                      <a:pt x="92927" y="900602"/>
                    </a:lnTo>
                    <a:cubicBezTo>
                      <a:pt x="41605" y="900602"/>
                      <a:pt x="0" y="858998"/>
                      <a:pt x="0" y="807676"/>
                    </a:cubicBezTo>
                    <a:lnTo>
                      <a:pt x="0" y="92927"/>
                    </a:lnTo>
                    <a:cubicBezTo>
                      <a:pt x="0" y="41605"/>
                      <a:pt x="41605" y="0"/>
                      <a:pt x="92927" y="0"/>
                    </a:cubicBezTo>
                    <a:close/>
                  </a:path>
                </a:pathLst>
              </a:custGeom>
              <a:solidFill>
                <a:srgbClr val="6C757D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10873" tIns="10873" rIns="10873" bIns="1087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17548190" y="2493362"/>
              <a:ext cx="1110829" cy="1105712"/>
              <a:chOff x="0" y="0"/>
              <a:chExt cx="904770" cy="900602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92927" y="0"/>
                    </a:moveTo>
                    <a:lnTo>
                      <a:pt x="811843" y="0"/>
                    </a:lnTo>
                    <a:cubicBezTo>
                      <a:pt x="863165" y="0"/>
                      <a:pt x="904770" y="41605"/>
                      <a:pt x="904770" y="92927"/>
                    </a:cubicBezTo>
                    <a:lnTo>
                      <a:pt x="904770" y="807676"/>
                    </a:lnTo>
                    <a:cubicBezTo>
                      <a:pt x="904770" y="858998"/>
                      <a:pt x="863165" y="900602"/>
                      <a:pt x="811843" y="900602"/>
                    </a:cubicBezTo>
                    <a:lnTo>
                      <a:pt x="92927" y="900602"/>
                    </a:lnTo>
                    <a:cubicBezTo>
                      <a:pt x="41605" y="900602"/>
                      <a:pt x="0" y="858998"/>
                      <a:pt x="0" y="807676"/>
                    </a:cubicBezTo>
                    <a:lnTo>
                      <a:pt x="0" y="92927"/>
                    </a:lnTo>
                    <a:cubicBezTo>
                      <a:pt x="0" y="41605"/>
                      <a:pt x="41605" y="0"/>
                      <a:pt x="92927" y="0"/>
                    </a:cubicBezTo>
                    <a:close/>
                  </a:path>
                </a:pathLst>
              </a:custGeom>
              <a:solidFill>
                <a:srgbClr val="6C757D"/>
              </a:solidFill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10873" tIns="10873" rIns="10873" bIns="1087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47" name="Freeform 47"/>
            <p:cNvSpPr/>
            <p:nvPr/>
          </p:nvSpPr>
          <p:spPr>
            <a:xfrm>
              <a:off x="9593695" y="274812"/>
              <a:ext cx="964820" cy="556087"/>
            </a:xfrm>
            <a:custGeom>
              <a:avLst/>
              <a:gdLst/>
              <a:ahLst/>
              <a:cxnLst/>
              <a:rect l="l" t="t" r="r" b="b"/>
              <a:pathLst>
                <a:path w="964820" h="556087">
                  <a:moveTo>
                    <a:pt x="0" y="0"/>
                  </a:moveTo>
                  <a:lnTo>
                    <a:pt x="964820" y="0"/>
                  </a:lnTo>
                  <a:lnTo>
                    <a:pt x="964820" y="556088"/>
                  </a:lnTo>
                  <a:lnTo>
                    <a:pt x="0" y="556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8" name="Freeform 48"/>
            <p:cNvSpPr/>
            <p:nvPr/>
          </p:nvSpPr>
          <p:spPr>
            <a:xfrm>
              <a:off x="17703136" y="152388"/>
              <a:ext cx="800936" cy="800936"/>
            </a:xfrm>
            <a:custGeom>
              <a:avLst/>
              <a:gdLst/>
              <a:ahLst/>
              <a:cxnLst/>
              <a:rect l="l" t="t" r="r" b="b"/>
              <a:pathLst>
                <a:path w="800936" h="800936">
                  <a:moveTo>
                    <a:pt x="0" y="0"/>
                  </a:moveTo>
                  <a:lnTo>
                    <a:pt x="800936" y="0"/>
                  </a:lnTo>
                  <a:lnTo>
                    <a:pt x="800936" y="800936"/>
                  </a:lnTo>
                  <a:lnTo>
                    <a:pt x="0" y="800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9" name="Freeform 49"/>
            <p:cNvSpPr/>
            <p:nvPr/>
          </p:nvSpPr>
          <p:spPr>
            <a:xfrm>
              <a:off x="224733" y="184689"/>
              <a:ext cx="661362" cy="736334"/>
            </a:xfrm>
            <a:custGeom>
              <a:avLst/>
              <a:gdLst/>
              <a:ahLst/>
              <a:cxnLst/>
              <a:rect l="l" t="t" r="r" b="b"/>
              <a:pathLst>
                <a:path w="661362" h="736334">
                  <a:moveTo>
                    <a:pt x="0" y="0"/>
                  </a:moveTo>
                  <a:lnTo>
                    <a:pt x="661362" y="0"/>
                  </a:lnTo>
                  <a:lnTo>
                    <a:pt x="661362" y="736334"/>
                  </a:lnTo>
                  <a:lnTo>
                    <a:pt x="0" y="736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0" name="Freeform 50"/>
            <p:cNvSpPr/>
            <p:nvPr/>
          </p:nvSpPr>
          <p:spPr>
            <a:xfrm>
              <a:off x="9643520" y="2609016"/>
              <a:ext cx="865170" cy="865170"/>
            </a:xfrm>
            <a:custGeom>
              <a:avLst/>
              <a:gdLst/>
              <a:ahLst/>
              <a:cxnLst/>
              <a:rect l="l" t="t" r="r" b="b"/>
              <a:pathLst>
                <a:path w="865170" h="865170">
                  <a:moveTo>
                    <a:pt x="0" y="0"/>
                  </a:moveTo>
                  <a:lnTo>
                    <a:pt x="865170" y="0"/>
                  </a:lnTo>
                  <a:lnTo>
                    <a:pt x="865170" y="865170"/>
                  </a:lnTo>
                  <a:lnTo>
                    <a:pt x="0" y="865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1" name="Freeform 51"/>
            <p:cNvSpPr/>
            <p:nvPr/>
          </p:nvSpPr>
          <p:spPr>
            <a:xfrm>
              <a:off x="17735439" y="2658148"/>
              <a:ext cx="794959" cy="732807"/>
            </a:xfrm>
            <a:custGeom>
              <a:avLst/>
              <a:gdLst/>
              <a:ahLst/>
              <a:cxnLst/>
              <a:rect l="l" t="t" r="r" b="b"/>
              <a:pathLst>
                <a:path w="794959" h="732807">
                  <a:moveTo>
                    <a:pt x="0" y="0"/>
                  </a:moveTo>
                  <a:lnTo>
                    <a:pt x="794959" y="0"/>
                  </a:lnTo>
                  <a:lnTo>
                    <a:pt x="794959" y="732807"/>
                  </a:lnTo>
                  <a:lnTo>
                    <a:pt x="0" y="732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1560478"/>
              <a:ext cx="9138328" cy="5257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71"/>
                </a:lnSpc>
              </a:pPr>
              <a:r>
                <a:rPr lang="en-US" sz="2871" b="1">
                  <a:solidFill>
                    <a:srgbClr val="082649"/>
                  </a:solidFill>
                  <a:latin typeface="Charlevoix Bold"/>
                  <a:ea typeface="Charlevoix Bold"/>
                  <a:cs typeface="Charlevoix Bold"/>
                  <a:sym typeface="Charlevoix Bold"/>
                </a:rPr>
                <a:t>ORDERS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520691" y="1560478"/>
              <a:ext cx="9138328" cy="5257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71"/>
                </a:lnSpc>
              </a:pPr>
              <a:r>
                <a:rPr lang="en-US" sz="2871" b="1">
                  <a:solidFill>
                    <a:srgbClr val="082649"/>
                  </a:solidFill>
                  <a:latin typeface="Charlevoix Bold"/>
                  <a:ea typeface="Charlevoix Bold"/>
                  <a:cs typeface="Charlevoix Bold"/>
                  <a:sym typeface="Charlevoix Bold"/>
                </a:rPr>
                <a:t>WHERE TO CHECK</a:t>
              </a:r>
            </a:p>
          </p:txBody>
        </p:sp>
        <p:grpSp>
          <p:nvGrpSpPr>
            <p:cNvPr id="54" name="Group 54"/>
            <p:cNvGrpSpPr/>
            <p:nvPr/>
          </p:nvGrpSpPr>
          <p:grpSpPr>
            <a:xfrm>
              <a:off x="4760345" y="4107074"/>
              <a:ext cx="9138328" cy="3599074"/>
              <a:chOff x="0" y="0"/>
              <a:chExt cx="1513922" cy="596249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1513922" cy="596249"/>
              </a:xfrm>
              <a:custGeom>
                <a:avLst/>
                <a:gdLst/>
                <a:ahLst/>
                <a:cxnLst/>
                <a:rect l="l" t="t" r="r" b="b"/>
                <a:pathLst>
                  <a:path w="1513922" h="596249">
                    <a:moveTo>
                      <a:pt x="11296" y="0"/>
                    </a:moveTo>
                    <a:lnTo>
                      <a:pt x="1502626" y="0"/>
                    </a:lnTo>
                    <a:cubicBezTo>
                      <a:pt x="1505622" y="0"/>
                      <a:pt x="1508495" y="1190"/>
                      <a:pt x="1510613" y="3308"/>
                    </a:cubicBezTo>
                    <a:cubicBezTo>
                      <a:pt x="1512732" y="5427"/>
                      <a:pt x="1513922" y="8300"/>
                      <a:pt x="1513922" y="11296"/>
                    </a:cubicBezTo>
                    <a:lnTo>
                      <a:pt x="1513922" y="584953"/>
                    </a:lnTo>
                    <a:cubicBezTo>
                      <a:pt x="1513922" y="591191"/>
                      <a:pt x="1508864" y="596249"/>
                      <a:pt x="1502626" y="596249"/>
                    </a:cubicBezTo>
                    <a:lnTo>
                      <a:pt x="11296" y="596249"/>
                    </a:lnTo>
                    <a:cubicBezTo>
                      <a:pt x="5057" y="596249"/>
                      <a:pt x="0" y="591191"/>
                      <a:pt x="0" y="584953"/>
                    </a:cubicBezTo>
                    <a:lnTo>
                      <a:pt x="0" y="11296"/>
                    </a:lnTo>
                    <a:cubicBezTo>
                      <a:pt x="0" y="5057"/>
                      <a:pt x="5057" y="0"/>
                      <a:pt x="1129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0" y="-38100"/>
                <a:ext cx="1513922" cy="6343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57" name="TextBox 57"/>
            <p:cNvSpPr txBox="1"/>
            <p:nvPr/>
          </p:nvSpPr>
          <p:spPr>
            <a:xfrm>
              <a:off x="4917745" y="4895699"/>
              <a:ext cx="8823528" cy="436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3"/>
                </a:lnSpc>
              </a:pPr>
              <a:r>
                <a:rPr lang="en-US" sz="2373" b="1">
                  <a:solidFill>
                    <a:srgbClr val="082649"/>
                  </a:solidFill>
                  <a:latin typeface="Charlevoix Medium"/>
                  <a:ea typeface="Charlevoix Medium"/>
                  <a:cs typeface="Charlevoix Medium"/>
                  <a:sym typeface="Charlevoix Medium"/>
                </a:rPr>
                <a:t>IDENTIFY</a:t>
              </a:r>
            </a:p>
          </p:txBody>
        </p:sp>
        <p:grpSp>
          <p:nvGrpSpPr>
            <p:cNvPr id="58" name="Group 58"/>
            <p:cNvGrpSpPr/>
            <p:nvPr/>
          </p:nvGrpSpPr>
          <p:grpSpPr>
            <a:xfrm>
              <a:off x="4760345" y="4107074"/>
              <a:ext cx="1110829" cy="1105712"/>
              <a:chOff x="0" y="0"/>
              <a:chExt cx="904770" cy="900602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92927" y="0"/>
                    </a:moveTo>
                    <a:lnTo>
                      <a:pt x="811843" y="0"/>
                    </a:lnTo>
                    <a:cubicBezTo>
                      <a:pt x="863165" y="0"/>
                      <a:pt x="904770" y="41605"/>
                      <a:pt x="904770" y="92927"/>
                    </a:cubicBezTo>
                    <a:lnTo>
                      <a:pt x="904770" y="807676"/>
                    </a:lnTo>
                    <a:cubicBezTo>
                      <a:pt x="904770" y="858998"/>
                      <a:pt x="863165" y="900602"/>
                      <a:pt x="811843" y="900602"/>
                    </a:cubicBezTo>
                    <a:lnTo>
                      <a:pt x="92927" y="900602"/>
                    </a:lnTo>
                    <a:cubicBezTo>
                      <a:pt x="41605" y="900602"/>
                      <a:pt x="0" y="858998"/>
                      <a:pt x="0" y="807676"/>
                    </a:cubicBezTo>
                    <a:lnTo>
                      <a:pt x="0" y="92927"/>
                    </a:lnTo>
                    <a:cubicBezTo>
                      <a:pt x="0" y="41605"/>
                      <a:pt x="41605" y="0"/>
                      <a:pt x="92927" y="0"/>
                    </a:cubicBezTo>
                    <a:close/>
                  </a:path>
                </a:pathLst>
              </a:custGeom>
              <a:solidFill>
                <a:srgbClr val="6C757D"/>
              </a:solidFill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10873" tIns="10873" rIns="10873" bIns="1087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12787845" y="4107074"/>
              <a:ext cx="1110829" cy="1105712"/>
              <a:chOff x="0" y="0"/>
              <a:chExt cx="904770" cy="900602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92927" y="0"/>
                    </a:moveTo>
                    <a:lnTo>
                      <a:pt x="811843" y="0"/>
                    </a:lnTo>
                    <a:cubicBezTo>
                      <a:pt x="863165" y="0"/>
                      <a:pt x="904770" y="41605"/>
                      <a:pt x="904770" y="92927"/>
                    </a:cubicBezTo>
                    <a:lnTo>
                      <a:pt x="904770" y="807676"/>
                    </a:lnTo>
                    <a:cubicBezTo>
                      <a:pt x="904770" y="858998"/>
                      <a:pt x="863165" y="900602"/>
                      <a:pt x="811843" y="900602"/>
                    </a:cubicBezTo>
                    <a:lnTo>
                      <a:pt x="92927" y="900602"/>
                    </a:lnTo>
                    <a:cubicBezTo>
                      <a:pt x="41605" y="900602"/>
                      <a:pt x="0" y="858998"/>
                      <a:pt x="0" y="807676"/>
                    </a:cubicBezTo>
                    <a:lnTo>
                      <a:pt x="0" y="92927"/>
                    </a:lnTo>
                    <a:cubicBezTo>
                      <a:pt x="0" y="41605"/>
                      <a:pt x="41605" y="0"/>
                      <a:pt x="92927" y="0"/>
                    </a:cubicBezTo>
                    <a:close/>
                  </a:path>
                </a:pathLst>
              </a:custGeom>
              <a:solidFill>
                <a:srgbClr val="6C757D"/>
              </a:solidFill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10873" tIns="10873" rIns="10873" bIns="1087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4760345" y="6600437"/>
              <a:ext cx="1110829" cy="1105712"/>
              <a:chOff x="0" y="0"/>
              <a:chExt cx="904770" cy="900602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92927" y="0"/>
                    </a:moveTo>
                    <a:lnTo>
                      <a:pt x="811843" y="0"/>
                    </a:lnTo>
                    <a:cubicBezTo>
                      <a:pt x="863165" y="0"/>
                      <a:pt x="904770" y="41605"/>
                      <a:pt x="904770" y="92927"/>
                    </a:cubicBezTo>
                    <a:lnTo>
                      <a:pt x="904770" y="807676"/>
                    </a:lnTo>
                    <a:cubicBezTo>
                      <a:pt x="904770" y="858998"/>
                      <a:pt x="863165" y="900602"/>
                      <a:pt x="811843" y="900602"/>
                    </a:cubicBezTo>
                    <a:lnTo>
                      <a:pt x="92927" y="900602"/>
                    </a:lnTo>
                    <a:cubicBezTo>
                      <a:pt x="41605" y="900602"/>
                      <a:pt x="0" y="858998"/>
                      <a:pt x="0" y="807676"/>
                    </a:cubicBezTo>
                    <a:lnTo>
                      <a:pt x="0" y="92927"/>
                    </a:lnTo>
                    <a:cubicBezTo>
                      <a:pt x="0" y="41605"/>
                      <a:pt x="41605" y="0"/>
                      <a:pt x="92927" y="0"/>
                    </a:cubicBezTo>
                    <a:close/>
                  </a:path>
                </a:pathLst>
              </a:custGeom>
              <a:solidFill>
                <a:srgbClr val="6C757D"/>
              </a:solidFill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10873" tIns="10873" rIns="10873" bIns="1087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12787845" y="6600437"/>
              <a:ext cx="1110829" cy="1105712"/>
              <a:chOff x="0" y="0"/>
              <a:chExt cx="904770" cy="900602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92927" y="0"/>
                    </a:moveTo>
                    <a:lnTo>
                      <a:pt x="811843" y="0"/>
                    </a:lnTo>
                    <a:cubicBezTo>
                      <a:pt x="863165" y="0"/>
                      <a:pt x="904770" y="41605"/>
                      <a:pt x="904770" y="92927"/>
                    </a:cubicBezTo>
                    <a:lnTo>
                      <a:pt x="904770" y="807676"/>
                    </a:lnTo>
                    <a:cubicBezTo>
                      <a:pt x="904770" y="858998"/>
                      <a:pt x="863165" y="900602"/>
                      <a:pt x="811843" y="900602"/>
                    </a:cubicBezTo>
                    <a:lnTo>
                      <a:pt x="92927" y="900602"/>
                    </a:lnTo>
                    <a:cubicBezTo>
                      <a:pt x="41605" y="900602"/>
                      <a:pt x="0" y="858998"/>
                      <a:pt x="0" y="807676"/>
                    </a:cubicBezTo>
                    <a:lnTo>
                      <a:pt x="0" y="92927"/>
                    </a:lnTo>
                    <a:cubicBezTo>
                      <a:pt x="0" y="41605"/>
                      <a:pt x="41605" y="0"/>
                      <a:pt x="92927" y="0"/>
                    </a:cubicBezTo>
                    <a:close/>
                  </a:path>
                </a:pathLst>
              </a:custGeom>
              <a:solidFill>
                <a:srgbClr val="6C757D"/>
              </a:solidFill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10873" tIns="10873" rIns="10873" bIns="1087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70" name="Freeform 70"/>
            <p:cNvSpPr/>
            <p:nvPr/>
          </p:nvSpPr>
          <p:spPr>
            <a:xfrm>
              <a:off x="4833350" y="4381887"/>
              <a:ext cx="964820" cy="556087"/>
            </a:xfrm>
            <a:custGeom>
              <a:avLst/>
              <a:gdLst/>
              <a:ahLst/>
              <a:cxnLst/>
              <a:rect l="l" t="t" r="r" b="b"/>
              <a:pathLst>
                <a:path w="964820" h="556087">
                  <a:moveTo>
                    <a:pt x="0" y="0"/>
                  </a:moveTo>
                  <a:lnTo>
                    <a:pt x="964820" y="0"/>
                  </a:lnTo>
                  <a:lnTo>
                    <a:pt x="964820" y="556087"/>
                  </a:lnTo>
                  <a:lnTo>
                    <a:pt x="0" y="556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1" name="Freeform 71"/>
            <p:cNvSpPr/>
            <p:nvPr/>
          </p:nvSpPr>
          <p:spPr>
            <a:xfrm>
              <a:off x="12942791" y="4259463"/>
              <a:ext cx="800936" cy="800936"/>
            </a:xfrm>
            <a:custGeom>
              <a:avLst/>
              <a:gdLst/>
              <a:ahLst/>
              <a:cxnLst/>
              <a:rect l="l" t="t" r="r" b="b"/>
              <a:pathLst>
                <a:path w="800936" h="800936">
                  <a:moveTo>
                    <a:pt x="0" y="0"/>
                  </a:moveTo>
                  <a:lnTo>
                    <a:pt x="800936" y="0"/>
                  </a:lnTo>
                  <a:lnTo>
                    <a:pt x="800936" y="800935"/>
                  </a:lnTo>
                  <a:lnTo>
                    <a:pt x="0" y="800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2" name="Freeform 72"/>
            <p:cNvSpPr/>
            <p:nvPr/>
          </p:nvSpPr>
          <p:spPr>
            <a:xfrm>
              <a:off x="4883175" y="6716090"/>
              <a:ext cx="865170" cy="865170"/>
            </a:xfrm>
            <a:custGeom>
              <a:avLst/>
              <a:gdLst/>
              <a:ahLst/>
              <a:cxnLst/>
              <a:rect l="l" t="t" r="r" b="b"/>
              <a:pathLst>
                <a:path w="865170" h="865170">
                  <a:moveTo>
                    <a:pt x="0" y="0"/>
                  </a:moveTo>
                  <a:lnTo>
                    <a:pt x="865170" y="0"/>
                  </a:lnTo>
                  <a:lnTo>
                    <a:pt x="865170" y="865170"/>
                  </a:lnTo>
                  <a:lnTo>
                    <a:pt x="0" y="865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3" name="Freeform 73"/>
            <p:cNvSpPr/>
            <p:nvPr/>
          </p:nvSpPr>
          <p:spPr>
            <a:xfrm>
              <a:off x="12975094" y="6765222"/>
              <a:ext cx="794959" cy="732807"/>
            </a:xfrm>
            <a:custGeom>
              <a:avLst/>
              <a:gdLst/>
              <a:ahLst/>
              <a:cxnLst/>
              <a:rect l="l" t="t" r="r" b="b"/>
              <a:pathLst>
                <a:path w="794959" h="732807">
                  <a:moveTo>
                    <a:pt x="0" y="0"/>
                  </a:moveTo>
                  <a:lnTo>
                    <a:pt x="794959" y="0"/>
                  </a:lnTo>
                  <a:lnTo>
                    <a:pt x="794959" y="732807"/>
                  </a:lnTo>
                  <a:lnTo>
                    <a:pt x="0" y="732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4" name="TextBox 74"/>
            <p:cNvSpPr txBox="1"/>
            <p:nvPr/>
          </p:nvSpPr>
          <p:spPr>
            <a:xfrm>
              <a:off x="4631725" y="5727389"/>
              <a:ext cx="9138328" cy="5257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71"/>
                </a:lnSpc>
              </a:pPr>
              <a:r>
                <a:rPr lang="en-US" sz="2871" b="1">
                  <a:solidFill>
                    <a:srgbClr val="082649"/>
                  </a:solidFill>
                  <a:latin typeface="Charlevoix Bold"/>
                  <a:ea typeface="Charlevoix Bold"/>
                  <a:cs typeface="Charlevoix Bold"/>
                  <a:sym typeface="Charlevoix Bold"/>
                </a:rPr>
                <a:t>ASSIGNMENT TIMELINES</a:t>
              </a:r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4220226" y="3124579"/>
            <a:ext cx="10297528" cy="47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0"/>
              </a:lnSpc>
            </a:pPr>
            <a:r>
              <a:rPr lang="en-US" sz="3337" b="1">
                <a:solidFill>
                  <a:srgbClr val="FFFFFF"/>
                </a:solidFill>
                <a:latin typeface="Charlevoix Medium"/>
                <a:ea typeface="Charlevoix Medium"/>
                <a:cs typeface="Charlevoix Medium"/>
                <a:sym typeface="Charlevoix Medium"/>
              </a:rPr>
              <a:t>REVIEW CONSULTING SERVICES PURCHASED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6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381" y="-762000"/>
            <a:ext cx="2304928" cy="2304928"/>
          </a:xfrm>
          <a:custGeom>
            <a:avLst/>
            <a:gdLst/>
            <a:ahLst/>
            <a:cxnLst/>
            <a:rect l="l" t="t" r="r" b="b"/>
            <a:pathLst>
              <a:path w="2304928" h="2304928">
                <a:moveTo>
                  <a:pt x="0" y="0"/>
                </a:moveTo>
                <a:lnTo>
                  <a:pt x="2304928" y="0"/>
                </a:lnTo>
                <a:lnTo>
                  <a:pt x="2304928" y="2304928"/>
                </a:lnTo>
                <a:lnTo>
                  <a:pt x="0" y="2304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828977" y="-762000"/>
            <a:ext cx="2304928" cy="2304928"/>
          </a:xfrm>
          <a:custGeom>
            <a:avLst/>
            <a:gdLst/>
            <a:ahLst/>
            <a:cxnLst/>
            <a:rect l="l" t="t" r="r" b="b"/>
            <a:pathLst>
              <a:path w="2304928" h="2304928">
                <a:moveTo>
                  <a:pt x="0" y="0"/>
                </a:moveTo>
                <a:lnTo>
                  <a:pt x="2304928" y="0"/>
                </a:lnTo>
                <a:lnTo>
                  <a:pt x="2304928" y="2304928"/>
                </a:lnTo>
                <a:lnTo>
                  <a:pt x="0" y="2304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00072" y="-762000"/>
            <a:ext cx="2304928" cy="2304928"/>
          </a:xfrm>
          <a:custGeom>
            <a:avLst/>
            <a:gdLst/>
            <a:ahLst/>
            <a:cxnLst/>
            <a:rect l="l" t="t" r="r" b="b"/>
            <a:pathLst>
              <a:path w="2304928" h="2304928">
                <a:moveTo>
                  <a:pt x="0" y="0"/>
                </a:moveTo>
                <a:lnTo>
                  <a:pt x="2304927" y="0"/>
                </a:lnTo>
                <a:lnTo>
                  <a:pt x="2304927" y="2304928"/>
                </a:lnTo>
                <a:lnTo>
                  <a:pt x="0" y="2304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43430" y="-762000"/>
            <a:ext cx="2304928" cy="2304928"/>
          </a:xfrm>
          <a:custGeom>
            <a:avLst/>
            <a:gdLst/>
            <a:ahLst/>
            <a:cxnLst/>
            <a:rect l="l" t="t" r="r" b="b"/>
            <a:pathLst>
              <a:path w="2304928" h="2304928">
                <a:moveTo>
                  <a:pt x="0" y="0"/>
                </a:moveTo>
                <a:lnTo>
                  <a:pt x="2304927" y="0"/>
                </a:lnTo>
                <a:lnTo>
                  <a:pt x="2304927" y="2304928"/>
                </a:lnTo>
                <a:lnTo>
                  <a:pt x="0" y="2304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457882" y="-762000"/>
            <a:ext cx="2304928" cy="2304928"/>
          </a:xfrm>
          <a:custGeom>
            <a:avLst/>
            <a:gdLst/>
            <a:ahLst/>
            <a:cxnLst/>
            <a:rect l="l" t="t" r="r" b="b"/>
            <a:pathLst>
              <a:path w="2304928" h="2304928">
                <a:moveTo>
                  <a:pt x="0" y="0"/>
                </a:moveTo>
                <a:lnTo>
                  <a:pt x="2304928" y="0"/>
                </a:lnTo>
                <a:lnTo>
                  <a:pt x="2304928" y="2304928"/>
                </a:lnTo>
                <a:lnTo>
                  <a:pt x="0" y="2304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514524" y="-762000"/>
            <a:ext cx="2304928" cy="2304928"/>
          </a:xfrm>
          <a:custGeom>
            <a:avLst/>
            <a:gdLst/>
            <a:ahLst/>
            <a:cxnLst/>
            <a:rect l="l" t="t" r="r" b="b"/>
            <a:pathLst>
              <a:path w="2304928" h="2304928">
                <a:moveTo>
                  <a:pt x="0" y="0"/>
                </a:moveTo>
                <a:lnTo>
                  <a:pt x="2304928" y="0"/>
                </a:lnTo>
                <a:lnTo>
                  <a:pt x="2304928" y="2304928"/>
                </a:lnTo>
                <a:lnTo>
                  <a:pt x="0" y="2304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772335" y="-762000"/>
            <a:ext cx="2304928" cy="2304928"/>
          </a:xfrm>
          <a:custGeom>
            <a:avLst/>
            <a:gdLst/>
            <a:ahLst/>
            <a:cxnLst/>
            <a:rect l="l" t="t" r="r" b="b"/>
            <a:pathLst>
              <a:path w="2304928" h="2304928">
                <a:moveTo>
                  <a:pt x="0" y="0"/>
                </a:moveTo>
                <a:lnTo>
                  <a:pt x="2304927" y="0"/>
                </a:lnTo>
                <a:lnTo>
                  <a:pt x="2304927" y="2304928"/>
                </a:lnTo>
                <a:lnTo>
                  <a:pt x="0" y="2304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6086787" y="-762000"/>
            <a:ext cx="2315593" cy="2304928"/>
            <a:chOff x="0" y="0"/>
            <a:chExt cx="3087458" cy="3073237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3087458" cy="3073237"/>
              <a:chOff x="0" y="0"/>
              <a:chExt cx="904770" cy="90060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72116" y="0"/>
                    </a:moveTo>
                    <a:lnTo>
                      <a:pt x="832653" y="0"/>
                    </a:lnTo>
                    <a:cubicBezTo>
                      <a:pt x="851780" y="0"/>
                      <a:pt x="870123" y="7598"/>
                      <a:pt x="883647" y="21122"/>
                    </a:cubicBezTo>
                    <a:cubicBezTo>
                      <a:pt x="897172" y="34647"/>
                      <a:pt x="904770" y="52990"/>
                      <a:pt x="904770" y="72116"/>
                    </a:cubicBezTo>
                    <a:lnTo>
                      <a:pt x="904770" y="828486"/>
                    </a:lnTo>
                    <a:cubicBezTo>
                      <a:pt x="904770" y="868315"/>
                      <a:pt x="872482" y="900602"/>
                      <a:pt x="832653" y="900602"/>
                    </a:cubicBezTo>
                    <a:lnTo>
                      <a:pt x="72116" y="900602"/>
                    </a:lnTo>
                    <a:cubicBezTo>
                      <a:pt x="32288" y="900602"/>
                      <a:pt x="0" y="868315"/>
                      <a:pt x="0" y="828486"/>
                    </a:cubicBezTo>
                    <a:lnTo>
                      <a:pt x="0" y="72116"/>
                    </a:lnTo>
                    <a:cubicBezTo>
                      <a:pt x="0" y="32288"/>
                      <a:pt x="32288" y="0"/>
                      <a:pt x="7211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289963" y="915979"/>
              <a:ext cx="2507532" cy="1445250"/>
            </a:xfrm>
            <a:custGeom>
              <a:avLst/>
              <a:gdLst/>
              <a:ahLst/>
              <a:cxnLst/>
              <a:rect l="l" t="t" r="r" b="b"/>
              <a:pathLst>
                <a:path w="2507532" h="1445250">
                  <a:moveTo>
                    <a:pt x="0" y="0"/>
                  </a:moveTo>
                  <a:lnTo>
                    <a:pt x="2507532" y="0"/>
                  </a:lnTo>
                  <a:lnTo>
                    <a:pt x="2507532" y="1445250"/>
                  </a:lnTo>
                  <a:lnTo>
                    <a:pt x="0" y="1445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15983072" y="8744072"/>
            <a:ext cx="2304928" cy="2304928"/>
          </a:xfrm>
          <a:custGeom>
            <a:avLst/>
            <a:gdLst/>
            <a:ahLst/>
            <a:cxnLst/>
            <a:rect l="l" t="t" r="r" b="b"/>
            <a:pathLst>
              <a:path w="2304928" h="2304928">
                <a:moveTo>
                  <a:pt x="0" y="0"/>
                </a:moveTo>
                <a:lnTo>
                  <a:pt x="2304928" y="0"/>
                </a:lnTo>
                <a:lnTo>
                  <a:pt x="2304928" y="2304928"/>
                </a:lnTo>
                <a:lnTo>
                  <a:pt x="0" y="2304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3668620" y="8744072"/>
            <a:ext cx="2304928" cy="2304928"/>
          </a:xfrm>
          <a:custGeom>
            <a:avLst/>
            <a:gdLst/>
            <a:ahLst/>
            <a:cxnLst/>
            <a:rect l="l" t="t" r="r" b="b"/>
            <a:pathLst>
              <a:path w="2304928" h="2304928">
                <a:moveTo>
                  <a:pt x="0" y="0"/>
                </a:moveTo>
                <a:lnTo>
                  <a:pt x="2304927" y="0"/>
                </a:lnTo>
                <a:lnTo>
                  <a:pt x="2304927" y="2304928"/>
                </a:lnTo>
                <a:lnTo>
                  <a:pt x="0" y="2304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1354167" y="8744072"/>
            <a:ext cx="2304928" cy="2304928"/>
          </a:xfrm>
          <a:custGeom>
            <a:avLst/>
            <a:gdLst/>
            <a:ahLst/>
            <a:cxnLst/>
            <a:rect l="l" t="t" r="r" b="b"/>
            <a:pathLst>
              <a:path w="2304928" h="2304928">
                <a:moveTo>
                  <a:pt x="0" y="0"/>
                </a:moveTo>
                <a:lnTo>
                  <a:pt x="2304928" y="0"/>
                </a:lnTo>
                <a:lnTo>
                  <a:pt x="2304928" y="2304928"/>
                </a:lnTo>
                <a:lnTo>
                  <a:pt x="0" y="2304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9039715" y="8744072"/>
            <a:ext cx="2304928" cy="2304928"/>
          </a:xfrm>
          <a:custGeom>
            <a:avLst/>
            <a:gdLst/>
            <a:ahLst/>
            <a:cxnLst/>
            <a:rect l="l" t="t" r="r" b="b"/>
            <a:pathLst>
              <a:path w="2304928" h="2304928">
                <a:moveTo>
                  <a:pt x="0" y="0"/>
                </a:moveTo>
                <a:lnTo>
                  <a:pt x="2304927" y="0"/>
                </a:lnTo>
                <a:lnTo>
                  <a:pt x="2304927" y="2304928"/>
                </a:lnTo>
                <a:lnTo>
                  <a:pt x="0" y="2304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6725262" y="8744072"/>
            <a:ext cx="2304928" cy="2304928"/>
          </a:xfrm>
          <a:custGeom>
            <a:avLst/>
            <a:gdLst/>
            <a:ahLst/>
            <a:cxnLst/>
            <a:rect l="l" t="t" r="r" b="b"/>
            <a:pathLst>
              <a:path w="2304928" h="2304928">
                <a:moveTo>
                  <a:pt x="0" y="0"/>
                </a:moveTo>
                <a:lnTo>
                  <a:pt x="2304928" y="0"/>
                </a:lnTo>
                <a:lnTo>
                  <a:pt x="2304928" y="2304928"/>
                </a:lnTo>
                <a:lnTo>
                  <a:pt x="0" y="2304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4410809" y="8744072"/>
            <a:ext cx="2304928" cy="2304928"/>
          </a:xfrm>
          <a:custGeom>
            <a:avLst/>
            <a:gdLst/>
            <a:ahLst/>
            <a:cxnLst/>
            <a:rect l="l" t="t" r="r" b="b"/>
            <a:pathLst>
              <a:path w="2304928" h="2304928">
                <a:moveTo>
                  <a:pt x="0" y="0"/>
                </a:moveTo>
                <a:lnTo>
                  <a:pt x="2304928" y="0"/>
                </a:lnTo>
                <a:lnTo>
                  <a:pt x="2304928" y="2304928"/>
                </a:lnTo>
                <a:lnTo>
                  <a:pt x="0" y="2304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2096357" y="8744072"/>
            <a:ext cx="2304928" cy="2304928"/>
          </a:xfrm>
          <a:custGeom>
            <a:avLst/>
            <a:gdLst/>
            <a:ahLst/>
            <a:cxnLst/>
            <a:rect l="l" t="t" r="r" b="b"/>
            <a:pathLst>
              <a:path w="2304928" h="2304928">
                <a:moveTo>
                  <a:pt x="0" y="0"/>
                </a:moveTo>
                <a:lnTo>
                  <a:pt x="2304927" y="0"/>
                </a:lnTo>
                <a:lnTo>
                  <a:pt x="2304927" y="2304928"/>
                </a:lnTo>
                <a:lnTo>
                  <a:pt x="0" y="2304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-228762" y="8744072"/>
            <a:ext cx="2315593" cy="2304928"/>
            <a:chOff x="0" y="0"/>
            <a:chExt cx="3087458" cy="3073237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3087458" cy="3073237"/>
              <a:chOff x="0" y="0"/>
              <a:chExt cx="904770" cy="90060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72116" y="0"/>
                    </a:moveTo>
                    <a:lnTo>
                      <a:pt x="832653" y="0"/>
                    </a:lnTo>
                    <a:cubicBezTo>
                      <a:pt x="851780" y="0"/>
                      <a:pt x="870123" y="7598"/>
                      <a:pt x="883647" y="21122"/>
                    </a:cubicBezTo>
                    <a:cubicBezTo>
                      <a:pt x="897172" y="34647"/>
                      <a:pt x="904770" y="52990"/>
                      <a:pt x="904770" y="72116"/>
                    </a:cubicBezTo>
                    <a:lnTo>
                      <a:pt x="904770" y="828486"/>
                    </a:lnTo>
                    <a:cubicBezTo>
                      <a:pt x="904770" y="868315"/>
                      <a:pt x="872482" y="900602"/>
                      <a:pt x="832653" y="900602"/>
                    </a:cubicBezTo>
                    <a:lnTo>
                      <a:pt x="72116" y="900602"/>
                    </a:lnTo>
                    <a:cubicBezTo>
                      <a:pt x="32288" y="900602"/>
                      <a:pt x="0" y="868315"/>
                      <a:pt x="0" y="828486"/>
                    </a:cubicBezTo>
                    <a:lnTo>
                      <a:pt x="0" y="72116"/>
                    </a:lnTo>
                    <a:cubicBezTo>
                      <a:pt x="0" y="32288"/>
                      <a:pt x="32288" y="0"/>
                      <a:pt x="7211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5" name="Freeform 25"/>
            <p:cNvSpPr/>
            <p:nvPr/>
          </p:nvSpPr>
          <p:spPr>
            <a:xfrm>
              <a:off x="289963" y="915979"/>
              <a:ext cx="2507532" cy="1445250"/>
            </a:xfrm>
            <a:custGeom>
              <a:avLst/>
              <a:gdLst/>
              <a:ahLst/>
              <a:cxnLst/>
              <a:rect l="l" t="t" r="r" b="b"/>
              <a:pathLst>
                <a:path w="2507532" h="1445250">
                  <a:moveTo>
                    <a:pt x="0" y="0"/>
                  </a:moveTo>
                  <a:lnTo>
                    <a:pt x="2507532" y="0"/>
                  </a:lnTo>
                  <a:lnTo>
                    <a:pt x="2507532" y="1445250"/>
                  </a:lnTo>
                  <a:lnTo>
                    <a:pt x="0" y="1445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6" name="TextBox 26"/>
          <p:cNvSpPr txBox="1"/>
          <p:nvPr/>
        </p:nvSpPr>
        <p:spPr>
          <a:xfrm>
            <a:off x="4110695" y="4190074"/>
            <a:ext cx="10066611" cy="335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6599" b="1">
                <a:solidFill>
                  <a:srgbClr val="FFFFFF"/>
                </a:solidFill>
                <a:latin typeface="Charlevoix Bold"/>
                <a:ea typeface="Charlevoix Bold"/>
                <a:cs typeface="Charlevoix Bold"/>
                <a:sym typeface="Charlevoix Bold"/>
              </a:rPr>
              <a:t>Why is it important to reach out to Sales before contacting clients?​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828975" y="3328326"/>
            <a:ext cx="8630051" cy="515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3637" b="1">
                <a:solidFill>
                  <a:srgbClr val="FFFFFF"/>
                </a:solidFill>
                <a:latin typeface="Charlevoix Medium"/>
                <a:ea typeface="Charlevoix Medium"/>
                <a:cs typeface="Charlevoix Medium"/>
                <a:sym typeface="Charlevoix Medium"/>
              </a:rPr>
              <a:t>SALES PREP QUESTIONNAIRE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6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28886" y="1994009"/>
            <a:ext cx="11975894" cy="766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99"/>
              </a:lnSpc>
            </a:pPr>
            <a:r>
              <a:rPr lang="en-US" sz="5799" b="1">
                <a:solidFill>
                  <a:srgbClr val="FFFFFF"/>
                </a:solidFill>
                <a:latin typeface="Charlevoix Bold"/>
                <a:ea typeface="Charlevoix Bold"/>
                <a:cs typeface="Charlevoix Bold"/>
                <a:sym typeface="Charlevoix Bold"/>
              </a:rPr>
              <a:t>ACTION ITEMS</a:t>
            </a:r>
          </a:p>
        </p:txBody>
      </p:sp>
      <p:sp>
        <p:nvSpPr>
          <p:cNvPr id="3" name="Freeform 3"/>
          <p:cNvSpPr/>
          <p:nvPr/>
        </p:nvSpPr>
        <p:spPr>
          <a:xfrm>
            <a:off x="3221320" y="1820629"/>
            <a:ext cx="998905" cy="998905"/>
          </a:xfrm>
          <a:custGeom>
            <a:avLst/>
            <a:gdLst/>
            <a:ahLst/>
            <a:cxnLst/>
            <a:rect l="l" t="t" r="r" b="b"/>
            <a:pathLst>
              <a:path w="998905" h="998905">
                <a:moveTo>
                  <a:pt x="0" y="0"/>
                </a:moveTo>
                <a:lnTo>
                  <a:pt x="998906" y="0"/>
                </a:lnTo>
                <a:lnTo>
                  <a:pt x="998906" y="998906"/>
                </a:lnTo>
                <a:lnTo>
                  <a:pt x="0" y="9989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295772" y="1820629"/>
            <a:ext cx="998905" cy="998905"/>
          </a:xfrm>
          <a:custGeom>
            <a:avLst/>
            <a:gdLst/>
            <a:ahLst/>
            <a:cxnLst/>
            <a:rect l="l" t="t" r="r" b="b"/>
            <a:pathLst>
              <a:path w="998905" h="998905">
                <a:moveTo>
                  <a:pt x="0" y="0"/>
                </a:moveTo>
                <a:lnTo>
                  <a:pt x="998906" y="0"/>
                </a:lnTo>
                <a:lnTo>
                  <a:pt x="998906" y="998906"/>
                </a:lnTo>
                <a:lnTo>
                  <a:pt x="0" y="9989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370224" y="1820629"/>
            <a:ext cx="998905" cy="998905"/>
          </a:xfrm>
          <a:custGeom>
            <a:avLst/>
            <a:gdLst/>
            <a:ahLst/>
            <a:cxnLst/>
            <a:rect l="l" t="t" r="r" b="b"/>
            <a:pathLst>
              <a:path w="998905" h="998905">
                <a:moveTo>
                  <a:pt x="0" y="0"/>
                </a:moveTo>
                <a:lnTo>
                  <a:pt x="998906" y="0"/>
                </a:lnTo>
                <a:lnTo>
                  <a:pt x="998906" y="998906"/>
                </a:lnTo>
                <a:lnTo>
                  <a:pt x="0" y="9989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146868" y="1820629"/>
            <a:ext cx="998905" cy="998905"/>
          </a:xfrm>
          <a:custGeom>
            <a:avLst/>
            <a:gdLst/>
            <a:ahLst/>
            <a:cxnLst/>
            <a:rect l="l" t="t" r="r" b="b"/>
            <a:pathLst>
              <a:path w="998905" h="998905">
                <a:moveTo>
                  <a:pt x="0" y="0"/>
                </a:moveTo>
                <a:lnTo>
                  <a:pt x="998906" y="0"/>
                </a:lnTo>
                <a:lnTo>
                  <a:pt x="998906" y="998906"/>
                </a:lnTo>
                <a:lnTo>
                  <a:pt x="0" y="9989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067774" y="1820629"/>
            <a:ext cx="998905" cy="998905"/>
          </a:xfrm>
          <a:custGeom>
            <a:avLst/>
            <a:gdLst/>
            <a:ahLst/>
            <a:cxnLst/>
            <a:rect l="l" t="t" r="r" b="b"/>
            <a:pathLst>
              <a:path w="998905" h="998905">
                <a:moveTo>
                  <a:pt x="0" y="0"/>
                </a:moveTo>
                <a:lnTo>
                  <a:pt x="998906" y="0"/>
                </a:lnTo>
                <a:lnTo>
                  <a:pt x="998906" y="998906"/>
                </a:lnTo>
                <a:lnTo>
                  <a:pt x="0" y="9989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993322" y="1820629"/>
            <a:ext cx="998905" cy="998905"/>
          </a:xfrm>
          <a:custGeom>
            <a:avLst/>
            <a:gdLst/>
            <a:ahLst/>
            <a:cxnLst/>
            <a:rect l="l" t="t" r="r" b="b"/>
            <a:pathLst>
              <a:path w="998905" h="998905">
                <a:moveTo>
                  <a:pt x="0" y="0"/>
                </a:moveTo>
                <a:lnTo>
                  <a:pt x="998906" y="0"/>
                </a:lnTo>
                <a:lnTo>
                  <a:pt x="998906" y="998906"/>
                </a:lnTo>
                <a:lnTo>
                  <a:pt x="0" y="9989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898804" y="1820629"/>
            <a:ext cx="998905" cy="998905"/>
          </a:xfrm>
          <a:custGeom>
            <a:avLst/>
            <a:gdLst/>
            <a:ahLst/>
            <a:cxnLst/>
            <a:rect l="l" t="t" r="r" b="b"/>
            <a:pathLst>
              <a:path w="998905" h="998905">
                <a:moveTo>
                  <a:pt x="0" y="0"/>
                </a:moveTo>
                <a:lnTo>
                  <a:pt x="998906" y="0"/>
                </a:lnTo>
                <a:lnTo>
                  <a:pt x="998906" y="998906"/>
                </a:lnTo>
                <a:lnTo>
                  <a:pt x="0" y="9989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142226" y="1820629"/>
            <a:ext cx="998905" cy="998905"/>
          </a:xfrm>
          <a:custGeom>
            <a:avLst/>
            <a:gdLst/>
            <a:ahLst/>
            <a:cxnLst/>
            <a:rect l="l" t="t" r="r" b="b"/>
            <a:pathLst>
              <a:path w="998905" h="998905">
                <a:moveTo>
                  <a:pt x="0" y="0"/>
                </a:moveTo>
                <a:lnTo>
                  <a:pt x="998906" y="0"/>
                </a:lnTo>
                <a:lnTo>
                  <a:pt x="998906" y="998906"/>
                </a:lnTo>
                <a:lnTo>
                  <a:pt x="0" y="9989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2050403" y="3440588"/>
            <a:ext cx="14187195" cy="5817712"/>
            <a:chOff x="0" y="0"/>
            <a:chExt cx="18916259" cy="7756949"/>
          </a:xfrm>
        </p:grpSpPr>
        <p:grpSp>
          <p:nvGrpSpPr>
            <p:cNvPr id="12" name="Group 12"/>
            <p:cNvGrpSpPr/>
            <p:nvPr/>
          </p:nvGrpSpPr>
          <p:grpSpPr>
            <a:xfrm>
              <a:off x="128620" y="1572339"/>
              <a:ext cx="1110829" cy="1105712"/>
              <a:chOff x="0" y="0"/>
              <a:chExt cx="904770" cy="900602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92927" y="0"/>
                    </a:moveTo>
                    <a:lnTo>
                      <a:pt x="811843" y="0"/>
                    </a:lnTo>
                    <a:cubicBezTo>
                      <a:pt x="863165" y="0"/>
                      <a:pt x="904770" y="41605"/>
                      <a:pt x="904770" y="92927"/>
                    </a:cubicBezTo>
                    <a:lnTo>
                      <a:pt x="904770" y="807676"/>
                    </a:lnTo>
                    <a:cubicBezTo>
                      <a:pt x="904770" y="858998"/>
                      <a:pt x="863165" y="900602"/>
                      <a:pt x="811843" y="900602"/>
                    </a:cubicBezTo>
                    <a:lnTo>
                      <a:pt x="92927" y="900602"/>
                    </a:lnTo>
                    <a:cubicBezTo>
                      <a:pt x="41605" y="900602"/>
                      <a:pt x="0" y="858998"/>
                      <a:pt x="0" y="807676"/>
                    </a:cubicBezTo>
                    <a:lnTo>
                      <a:pt x="0" y="92927"/>
                    </a:lnTo>
                    <a:cubicBezTo>
                      <a:pt x="0" y="41605"/>
                      <a:pt x="41605" y="0"/>
                      <a:pt x="92927" y="0"/>
                    </a:cubicBezTo>
                    <a:close/>
                  </a:path>
                </a:pathLst>
              </a:custGeom>
              <a:solidFill>
                <a:srgbClr val="6C757D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10873" tIns="10873" rIns="10873" bIns="1087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15" name="Freeform 15"/>
            <p:cNvSpPr/>
            <p:nvPr/>
          </p:nvSpPr>
          <p:spPr>
            <a:xfrm>
              <a:off x="270457" y="1737124"/>
              <a:ext cx="805091" cy="805091"/>
            </a:xfrm>
            <a:custGeom>
              <a:avLst/>
              <a:gdLst/>
              <a:ahLst/>
              <a:cxnLst/>
              <a:rect l="l" t="t" r="r" b="b"/>
              <a:pathLst>
                <a:path w="805091" h="805091">
                  <a:moveTo>
                    <a:pt x="0" y="0"/>
                  </a:moveTo>
                  <a:lnTo>
                    <a:pt x="805091" y="0"/>
                  </a:lnTo>
                  <a:lnTo>
                    <a:pt x="805091" y="805092"/>
                  </a:lnTo>
                  <a:lnTo>
                    <a:pt x="0" y="805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6" name="Group 16"/>
            <p:cNvGrpSpPr/>
            <p:nvPr/>
          </p:nvGrpSpPr>
          <p:grpSpPr>
            <a:xfrm>
              <a:off x="128620" y="0"/>
              <a:ext cx="9138328" cy="3599074"/>
              <a:chOff x="0" y="0"/>
              <a:chExt cx="1513922" cy="596249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513922" cy="596249"/>
              </a:xfrm>
              <a:custGeom>
                <a:avLst/>
                <a:gdLst/>
                <a:ahLst/>
                <a:cxnLst/>
                <a:rect l="l" t="t" r="r" b="b"/>
                <a:pathLst>
                  <a:path w="1513922" h="596249">
                    <a:moveTo>
                      <a:pt x="11296" y="0"/>
                    </a:moveTo>
                    <a:lnTo>
                      <a:pt x="1502626" y="0"/>
                    </a:lnTo>
                    <a:cubicBezTo>
                      <a:pt x="1505622" y="0"/>
                      <a:pt x="1508495" y="1190"/>
                      <a:pt x="1510613" y="3308"/>
                    </a:cubicBezTo>
                    <a:cubicBezTo>
                      <a:pt x="1512732" y="5427"/>
                      <a:pt x="1513922" y="8300"/>
                      <a:pt x="1513922" y="11296"/>
                    </a:cubicBezTo>
                    <a:lnTo>
                      <a:pt x="1513922" y="584953"/>
                    </a:lnTo>
                    <a:cubicBezTo>
                      <a:pt x="1513922" y="591191"/>
                      <a:pt x="1508864" y="596249"/>
                      <a:pt x="1502626" y="596249"/>
                    </a:cubicBezTo>
                    <a:lnTo>
                      <a:pt x="11296" y="596249"/>
                    </a:lnTo>
                    <a:cubicBezTo>
                      <a:pt x="5057" y="596249"/>
                      <a:pt x="0" y="591191"/>
                      <a:pt x="0" y="584953"/>
                    </a:cubicBezTo>
                    <a:lnTo>
                      <a:pt x="0" y="11296"/>
                    </a:lnTo>
                    <a:cubicBezTo>
                      <a:pt x="0" y="5057"/>
                      <a:pt x="5057" y="0"/>
                      <a:pt x="1129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513922" cy="6343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286021" y="788624"/>
              <a:ext cx="8823528" cy="436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3"/>
                </a:lnSpc>
              </a:pPr>
              <a:r>
                <a:rPr lang="en-US" sz="2373" b="1">
                  <a:solidFill>
                    <a:srgbClr val="082649"/>
                  </a:solidFill>
                  <a:latin typeface="Charlevoix Medium"/>
                  <a:ea typeface="Charlevoix Medium"/>
                  <a:cs typeface="Charlevoix Medium"/>
                  <a:sym typeface="Charlevoix Medium"/>
                </a:rPr>
                <a:t>GOAL 1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8156120" y="0"/>
              <a:ext cx="1110829" cy="1105712"/>
              <a:chOff x="0" y="0"/>
              <a:chExt cx="904770" cy="900602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92927" y="0"/>
                    </a:moveTo>
                    <a:lnTo>
                      <a:pt x="811843" y="0"/>
                    </a:lnTo>
                    <a:cubicBezTo>
                      <a:pt x="863165" y="0"/>
                      <a:pt x="904770" y="41605"/>
                      <a:pt x="904770" y="92927"/>
                    </a:cubicBezTo>
                    <a:lnTo>
                      <a:pt x="904770" y="807676"/>
                    </a:lnTo>
                    <a:cubicBezTo>
                      <a:pt x="904770" y="858998"/>
                      <a:pt x="863165" y="900602"/>
                      <a:pt x="811843" y="900602"/>
                    </a:cubicBezTo>
                    <a:lnTo>
                      <a:pt x="92927" y="900602"/>
                    </a:lnTo>
                    <a:cubicBezTo>
                      <a:pt x="41605" y="900602"/>
                      <a:pt x="0" y="858998"/>
                      <a:pt x="0" y="807676"/>
                    </a:cubicBezTo>
                    <a:lnTo>
                      <a:pt x="0" y="92927"/>
                    </a:lnTo>
                    <a:cubicBezTo>
                      <a:pt x="0" y="41605"/>
                      <a:pt x="41605" y="0"/>
                      <a:pt x="92927" y="0"/>
                    </a:cubicBezTo>
                    <a:close/>
                  </a:path>
                </a:pathLst>
              </a:custGeom>
              <a:solidFill>
                <a:srgbClr val="6C757D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10873" tIns="10873" rIns="10873" bIns="1087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3" name="Freeform 23"/>
            <p:cNvSpPr/>
            <p:nvPr/>
          </p:nvSpPr>
          <p:spPr>
            <a:xfrm>
              <a:off x="8355654" y="139417"/>
              <a:ext cx="768284" cy="768284"/>
            </a:xfrm>
            <a:custGeom>
              <a:avLst/>
              <a:gdLst/>
              <a:ahLst/>
              <a:cxnLst/>
              <a:rect l="l" t="t" r="r" b="b"/>
              <a:pathLst>
                <a:path w="768284" h="768284">
                  <a:moveTo>
                    <a:pt x="0" y="0"/>
                  </a:moveTo>
                  <a:lnTo>
                    <a:pt x="768284" y="0"/>
                  </a:lnTo>
                  <a:lnTo>
                    <a:pt x="768284" y="768284"/>
                  </a:lnTo>
                  <a:lnTo>
                    <a:pt x="0" y="7682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4" name="Group 24"/>
            <p:cNvGrpSpPr/>
            <p:nvPr/>
          </p:nvGrpSpPr>
          <p:grpSpPr>
            <a:xfrm>
              <a:off x="8156120" y="2493362"/>
              <a:ext cx="1110829" cy="1105712"/>
              <a:chOff x="0" y="0"/>
              <a:chExt cx="904770" cy="900602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92927" y="0"/>
                    </a:moveTo>
                    <a:lnTo>
                      <a:pt x="811843" y="0"/>
                    </a:lnTo>
                    <a:cubicBezTo>
                      <a:pt x="863165" y="0"/>
                      <a:pt x="904770" y="41605"/>
                      <a:pt x="904770" y="92927"/>
                    </a:cubicBezTo>
                    <a:lnTo>
                      <a:pt x="904770" y="807676"/>
                    </a:lnTo>
                    <a:cubicBezTo>
                      <a:pt x="904770" y="858998"/>
                      <a:pt x="863165" y="900602"/>
                      <a:pt x="811843" y="900602"/>
                    </a:cubicBezTo>
                    <a:lnTo>
                      <a:pt x="92927" y="900602"/>
                    </a:lnTo>
                    <a:cubicBezTo>
                      <a:pt x="41605" y="900602"/>
                      <a:pt x="0" y="858998"/>
                      <a:pt x="0" y="807676"/>
                    </a:cubicBezTo>
                    <a:lnTo>
                      <a:pt x="0" y="92927"/>
                    </a:lnTo>
                    <a:cubicBezTo>
                      <a:pt x="0" y="41605"/>
                      <a:pt x="41605" y="0"/>
                      <a:pt x="92927" y="0"/>
                    </a:cubicBezTo>
                    <a:close/>
                  </a:path>
                </a:pathLst>
              </a:custGeom>
              <a:solidFill>
                <a:srgbClr val="6C757D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10873" tIns="10873" rIns="10873" bIns="1087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7" name="Freeform 27"/>
            <p:cNvSpPr/>
            <p:nvPr/>
          </p:nvSpPr>
          <p:spPr>
            <a:xfrm>
              <a:off x="8300381" y="2698491"/>
              <a:ext cx="764748" cy="764748"/>
            </a:xfrm>
            <a:custGeom>
              <a:avLst/>
              <a:gdLst/>
              <a:ahLst/>
              <a:cxnLst/>
              <a:rect l="l" t="t" r="r" b="b"/>
              <a:pathLst>
                <a:path w="764748" h="764748">
                  <a:moveTo>
                    <a:pt x="0" y="0"/>
                  </a:moveTo>
                  <a:lnTo>
                    <a:pt x="764747" y="0"/>
                  </a:lnTo>
                  <a:lnTo>
                    <a:pt x="764747" y="764748"/>
                  </a:lnTo>
                  <a:lnTo>
                    <a:pt x="0" y="7647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8" name="Group 28"/>
            <p:cNvGrpSpPr/>
            <p:nvPr/>
          </p:nvGrpSpPr>
          <p:grpSpPr>
            <a:xfrm>
              <a:off x="9649311" y="0"/>
              <a:ext cx="9138328" cy="3599074"/>
              <a:chOff x="0" y="0"/>
              <a:chExt cx="1513922" cy="596249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513922" cy="596249"/>
              </a:xfrm>
              <a:custGeom>
                <a:avLst/>
                <a:gdLst/>
                <a:ahLst/>
                <a:cxnLst/>
                <a:rect l="l" t="t" r="r" b="b"/>
                <a:pathLst>
                  <a:path w="1513922" h="596249">
                    <a:moveTo>
                      <a:pt x="11296" y="0"/>
                    </a:moveTo>
                    <a:lnTo>
                      <a:pt x="1502626" y="0"/>
                    </a:lnTo>
                    <a:cubicBezTo>
                      <a:pt x="1505622" y="0"/>
                      <a:pt x="1508495" y="1190"/>
                      <a:pt x="1510613" y="3308"/>
                    </a:cubicBezTo>
                    <a:cubicBezTo>
                      <a:pt x="1512732" y="5427"/>
                      <a:pt x="1513922" y="8300"/>
                      <a:pt x="1513922" y="11296"/>
                    </a:cubicBezTo>
                    <a:lnTo>
                      <a:pt x="1513922" y="584953"/>
                    </a:lnTo>
                    <a:cubicBezTo>
                      <a:pt x="1513922" y="591191"/>
                      <a:pt x="1508864" y="596249"/>
                      <a:pt x="1502626" y="596249"/>
                    </a:cubicBezTo>
                    <a:lnTo>
                      <a:pt x="11296" y="596249"/>
                    </a:lnTo>
                    <a:cubicBezTo>
                      <a:pt x="5057" y="596249"/>
                      <a:pt x="0" y="591191"/>
                      <a:pt x="0" y="584953"/>
                    </a:cubicBezTo>
                    <a:lnTo>
                      <a:pt x="0" y="11296"/>
                    </a:lnTo>
                    <a:cubicBezTo>
                      <a:pt x="0" y="5057"/>
                      <a:pt x="5057" y="0"/>
                      <a:pt x="1129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513922" cy="6343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9806711" y="788624"/>
              <a:ext cx="8823528" cy="436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3"/>
                </a:lnSpc>
              </a:pPr>
              <a:r>
                <a:rPr lang="en-US" sz="2373" b="1">
                  <a:solidFill>
                    <a:srgbClr val="082649"/>
                  </a:solidFill>
                  <a:latin typeface="Charlevoix Medium"/>
                  <a:ea typeface="Charlevoix Medium"/>
                  <a:cs typeface="Charlevoix Medium"/>
                  <a:sym typeface="Charlevoix Medium"/>
                </a:rPr>
                <a:t>GOAL 2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9649311" y="0"/>
              <a:ext cx="1110829" cy="1105712"/>
              <a:chOff x="0" y="0"/>
              <a:chExt cx="904770" cy="900602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92927" y="0"/>
                    </a:moveTo>
                    <a:lnTo>
                      <a:pt x="811843" y="0"/>
                    </a:lnTo>
                    <a:cubicBezTo>
                      <a:pt x="863165" y="0"/>
                      <a:pt x="904770" y="41605"/>
                      <a:pt x="904770" y="92927"/>
                    </a:cubicBezTo>
                    <a:lnTo>
                      <a:pt x="904770" y="807676"/>
                    </a:lnTo>
                    <a:cubicBezTo>
                      <a:pt x="904770" y="858998"/>
                      <a:pt x="863165" y="900602"/>
                      <a:pt x="811843" y="900602"/>
                    </a:cubicBezTo>
                    <a:lnTo>
                      <a:pt x="92927" y="900602"/>
                    </a:lnTo>
                    <a:cubicBezTo>
                      <a:pt x="41605" y="900602"/>
                      <a:pt x="0" y="858998"/>
                      <a:pt x="0" y="807676"/>
                    </a:cubicBezTo>
                    <a:lnTo>
                      <a:pt x="0" y="92927"/>
                    </a:lnTo>
                    <a:cubicBezTo>
                      <a:pt x="0" y="41605"/>
                      <a:pt x="41605" y="0"/>
                      <a:pt x="92927" y="0"/>
                    </a:cubicBezTo>
                    <a:close/>
                  </a:path>
                </a:pathLst>
              </a:custGeom>
              <a:solidFill>
                <a:srgbClr val="6C757D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10873" tIns="10873" rIns="10873" bIns="1087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7676810" y="0"/>
              <a:ext cx="1110829" cy="1105712"/>
              <a:chOff x="0" y="0"/>
              <a:chExt cx="904770" cy="900602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92927" y="0"/>
                    </a:moveTo>
                    <a:lnTo>
                      <a:pt x="811843" y="0"/>
                    </a:lnTo>
                    <a:cubicBezTo>
                      <a:pt x="863165" y="0"/>
                      <a:pt x="904770" y="41605"/>
                      <a:pt x="904770" y="92927"/>
                    </a:cubicBezTo>
                    <a:lnTo>
                      <a:pt x="904770" y="807676"/>
                    </a:lnTo>
                    <a:cubicBezTo>
                      <a:pt x="904770" y="858998"/>
                      <a:pt x="863165" y="900602"/>
                      <a:pt x="811843" y="900602"/>
                    </a:cubicBezTo>
                    <a:lnTo>
                      <a:pt x="92927" y="900602"/>
                    </a:lnTo>
                    <a:cubicBezTo>
                      <a:pt x="41605" y="900602"/>
                      <a:pt x="0" y="858998"/>
                      <a:pt x="0" y="807676"/>
                    </a:cubicBezTo>
                    <a:lnTo>
                      <a:pt x="0" y="92927"/>
                    </a:lnTo>
                    <a:cubicBezTo>
                      <a:pt x="0" y="41605"/>
                      <a:pt x="41605" y="0"/>
                      <a:pt x="92927" y="0"/>
                    </a:cubicBezTo>
                    <a:close/>
                  </a:path>
                </a:pathLst>
              </a:custGeom>
              <a:solidFill>
                <a:srgbClr val="6C757D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10873" tIns="10873" rIns="10873" bIns="1087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9649311" y="2493362"/>
              <a:ext cx="1110829" cy="1105712"/>
              <a:chOff x="0" y="0"/>
              <a:chExt cx="904770" cy="900602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92927" y="0"/>
                    </a:moveTo>
                    <a:lnTo>
                      <a:pt x="811843" y="0"/>
                    </a:lnTo>
                    <a:cubicBezTo>
                      <a:pt x="863165" y="0"/>
                      <a:pt x="904770" y="41605"/>
                      <a:pt x="904770" y="92927"/>
                    </a:cubicBezTo>
                    <a:lnTo>
                      <a:pt x="904770" y="807676"/>
                    </a:lnTo>
                    <a:cubicBezTo>
                      <a:pt x="904770" y="858998"/>
                      <a:pt x="863165" y="900602"/>
                      <a:pt x="811843" y="900602"/>
                    </a:cubicBezTo>
                    <a:lnTo>
                      <a:pt x="92927" y="900602"/>
                    </a:lnTo>
                    <a:cubicBezTo>
                      <a:pt x="41605" y="900602"/>
                      <a:pt x="0" y="858998"/>
                      <a:pt x="0" y="807676"/>
                    </a:cubicBezTo>
                    <a:lnTo>
                      <a:pt x="0" y="92927"/>
                    </a:lnTo>
                    <a:cubicBezTo>
                      <a:pt x="0" y="41605"/>
                      <a:pt x="41605" y="0"/>
                      <a:pt x="92927" y="0"/>
                    </a:cubicBezTo>
                    <a:close/>
                  </a:path>
                </a:pathLst>
              </a:custGeom>
              <a:solidFill>
                <a:srgbClr val="6C757D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10873" tIns="10873" rIns="10873" bIns="1087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17676810" y="2493362"/>
              <a:ext cx="1110829" cy="1105712"/>
              <a:chOff x="0" y="0"/>
              <a:chExt cx="904770" cy="900602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92927" y="0"/>
                    </a:moveTo>
                    <a:lnTo>
                      <a:pt x="811843" y="0"/>
                    </a:lnTo>
                    <a:cubicBezTo>
                      <a:pt x="863165" y="0"/>
                      <a:pt x="904770" y="41605"/>
                      <a:pt x="904770" y="92927"/>
                    </a:cubicBezTo>
                    <a:lnTo>
                      <a:pt x="904770" y="807676"/>
                    </a:lnTo>
                    <a:cubicBezTo>
                      <a:pt x="904770" y="858998"/>
                      <a:pt x="863165" y="900602"/>
                      <a:pt x="811843" y="900602"/>
                    </a:cubicBezTo>
                    <a:lnTo>
                      <a:pt x="92927" y="900602"/>
                    </a:lnTo>
                    <a:cubicBezTo>
                      <a:pt x="41605" y="900602"/>
                      <a:pt x="0" y="858998"/>
                      <a:pt x="0" y="807676"/>
                    </a:cubicBezTo>
                    <a:lnTo>
                      <a:pt x="0" y="92927"/>
                    </a:lnTo>
                    <a:cubicBezTo>
                      <a:pt x="0" y="41605"/>
                      <a:pt x="41605" y="0"/>
                      <a:pt x="92927" y="0"/>
                    </a:cubicBezTo>
                    <a:close/>
                  </a:path>
                </a:pathLst>
              </a:custGeom>
              <a:solidFill>
                <a:srgbClr val="6C757D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10873" tIns="10873" rIns="10873" bIns="1087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44" name="Freeform 44"/>
            <p:cNvSpPr/>
            <p:nvPr/>
          </p:nvSpPr>
          <p:spPr>
            <a:xfrm>
              <a:off x="9722315" y="274812"/>
              <a:ext cx="964820" cy="556087"/>
            </a:xfrm>
            <a:custGeom>
              <a:avLst/>
              <a:gdLst/>
              <a:ahLst/>
              <a:cxnLst/>
              <a:rect l="l" t="t" r="r" b="b"/>
              <a:pathLst>
                <a:path w="964820" h="556087">
                  <a:moveTo>
                    <a:pt x="0" y="0"/>
                  </a:moveTo>
                  <a:lnTo>
                    <a:pt x="964821" y="0"/>
                  </a:lnTo>
                  <a:lnTo>
                    <a:pt x="964821" y="556088"/>
                  </a:lnTo>
                  <a:lnTo>
                    <a:pt x="0" y="5560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5" name="Freeform 45"/>
            <p:cNvSpPr/>
            <p:nvPr/>
          </p:nvSpPr>
          <p:spPr>
            <a:xfrm>
              <a:off x="17831757" y="152388"/>
              <a:ext cx="800936" cy="800936"/>
            </a:xfrm>
            <a:custGeom>
              <a:avLst/>
              <a:gdLst/>
              <a:ahLst/>
              <a:cxnLst/>
              <a:rect l="l" t="t" r="r" b="b"/>
              <a:pathLst>
                <a:path w="800936" h="800936">
                  <a:moveTo>
                    <a:pt x="0" y="0"/>
                  </a:moveTo>
                  <a:lnTo>
                    <a:pt x="800935" y="0"/>
                  </a:lnTo>
                  <a:lnTo>
                    <a:pt x="800935" y="800936"/>
                  </a:lnTo>
                  <a:lnTo>
                    <a:pt x="0" y="8009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6" name="Freeform 46"/>
            <p:cNvSpPr/>
            <p:nvPr/>
          </p:nvSpPr>
          <p:spPr>
            <a:xfrm>
              <a:off x="9772141" y="2609016"/>
              <a:ext cx="865170" cy="865170"/>
            </a:xfrm>
            <a:custGeom>
              <a:avLst/>
              <a:gdLst/>
              <a:ahLst/>
              <a:cxnLst/>
              <a:rect l="l" t="t" r="r" b="b"/>
              <a:pathLst>
                <a:path w="865170" h="865170">
                  <a:moveTo>
                    <a:pt x="0" y="0"/>
                  </a:moveTo>
                  <a:lnTo>
                    <a:pt x="865169" y="0"/>
                  </a:lnTo>
                  <a:lnTo>
                    <a:pt x="865169" y="865170"/>
                  </a:lnTo>
                  <a:lnTo>
                    <a:pt x="0" y="865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7" name="Freeform 47"/>
            <p:cNvSpPr/>
            <p:nvPr/>
          </p:nvSpPr>
          <p:spPr>
            <a:xfrm>
              <a:off x="17864060" y="2658148"/>
              <a:ext cx="794959" cy="732807"/>
            </a:xfrm>
            <a:custGeom>
              <a:avLst/>
              <a:gdLst/>
              <a:ahLst/>
              <a:cxnLst/>
              <a:rect l="l" t="t" r="r" b="b"/>
              <a:pathLst>
                <a:path w="794959" h="732807">
                  <a:moveTo>
                    <a:pt x="0" y="0"/>
                  </a:moveTo>
                  <a:lnTo>
                    <a:pt x="794959" y="0"/>
                  </a:lnTo>
                  <a:lnTo>
                    <a:pt x="794959" y="732807"/>
                  </a:lnTo>
                  <a:lnTo>
                    <a:pt x="0" y="732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128620" y="1560478"/>
              <a:ext cx="9138328" cy="5257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71"/>
                </a:lnSpc>
              </a:pPr>
              <a:r>
                <a:rPr lang="en-US" sz="2871" b="1">
                  <a:solidFill>
                    <a:srgbClr val="082649"/>
                  </a:solidFill>
                  <a:latin typeface="Charlevoix Bold"/>
                  <a:ea typeface="Charlevoix Bold"/>
                  <a:cs typeface="Charlevoix Bold"/>
                  <a:sym typeface="Charlevoix Bold"/>
                </a:rPr>
                <a:t>PROJECT TRACKER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649311" y="1560478"/>
              <a:ext cx="9138328" cy="5257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71"/>
                </a:lnSpc>
              </a:pPr>
              <a:r>
                <a:rPr lang="en-US" sz="2871" b="1">
                  <a:solidFill>
                    <a:srgbClr val="082649"/>
                  </a:solidFill>
                  <a:latin typeface="Charlevoix Bold"/>
                  <a:ea typeface="Charlevoix Bold"/>
                  <a:cs typeface="Charlevoix Bold"/>
                  <a:sym typeface="Charlevoix Bold"/>
                </a:rPr>
                <a:t>REACH OUT TO SALES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128620" y="4043574"/>
              <a:ext cx="9138328" cy="3599074"/>
              <a:chOff x="0" y="0"/>
              <a:chExt cx="1513922" cy="596249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1513922" cy="596249"/>
              </a:xfrm>
              <a:custGeom>
                <a:avLst/>
                <a:gdLst/>
                <a:ahLst/>
                <a:cxnLst/>
                <a:rect l="l" t="t" r="r" b="b"/>
                <a:pathLst>
                  <a:path w="1513922" h="596249">
                    <a:moveTo>
                      <a:pt x="11296" y="0"/>
                    </a:moveTo>
                    <a:lnTo>
                      <a:pt x="1502626" y="0"/>
                    </a:lnTo>
                    <a:cubicBezTo>
                      <a:pt x="1505622" y="0"/>
                      <a:pt x="1508495" y="1190"/>
                      <a:pt x="1510613" y="3308"/>
                    </a:cubicBezTo>
                    <a:cubicBezTo>
                      <a:pt x="1512732" y="5427"/>
                      <a:pt x="1513922" y="8300"/>
                      <a:pt x="1513922" y="11296"/>
                    </a:cubicBezTo>
                    <a:lnTo>
                      <a:pt x="1513922" y="584953"/>
                    </a:lnTo>
                    <a:cubicBezTo>
                      <a:pt x="1513922" y="591191"/>
                      <a:pt x="1508864" y="596249"/>
                      <a:pt x="1502626" y="596249"/>
                    </a:cubicBezTo>
                    <a:lnTo>
                      <a:pt x="11296" y="596249"/>
                    </a:lnTo>
                    <a:cubicBezTo>
                      <a:pt x="5057" y="596249"/>
                      <a:pt x="0" y="591191"/>
                      <a:pt x="0" y="584953"/>
                    </a:cubicBezTo>
                    <a:lnTo>
                      <a:pt x="0" y="11296"/>
                    </a:lnTo>
                    <a:cubicBezTo>
                      <a:pt x="0" y="5057"/>
                      <a:pt x="5057" y="0"/>
                      <a:pt x="1129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0" y="-38100"/>
                <a:ext cx="1513922" cy="6343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53" name="TextBox 53"/>
            <p:cNvSpPr txBox="1"/>
            <p:nvPr/>
          </p:nvSpPr>
          <p:spPr>
            <a:xfrm>
              <a:off x="286021" y="4832199"/>
              <a:ext cx="8823528" cy="436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3"/>
                </a:lnSpc>
              </a:pPr>
              <a:r>
                <a:rPr lang="en-US" sz="2373" b="1">
                  <a:solidFill>
                    <a:srgbClr val="082649"/>
                  </a:solidFill>
                  <a:latin typeface="Charlevoix Medium"/>
                  <a:ea typeface="Charlevoix Medium"/>
                  <a:cs typeface="Charlevoix Medium"/>
                  <a:sym typeface="Charlevoix Medium"/>
                </a:rPr>
                <a:t>GOAL 3</a:t>
              </a:r>
            </a:p>
          </p:txBody>
        </p:sp>
        <p:grpSp>
          <p:nvGrpSpPr>
            <p:cNvPr id="54" name="Group 54"/>
            <p:cNvGrpSpPr/>
            <p:nvPr/>
          </p:nvGrpSpPr>
          <p:grpSpPr>
            <a:xfrm>
              <a:off x="128620" y="4043574"/>
              <a:ext cx="1110829" cy="1105712"/>
              <a:chOff x="0" y="0"/>
              <a:chExt cx="904770" cy="900602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92927" y="0"/>
                    </a:moveTo>
                    <a:lnTo>
                      <a:pt x="811843" y="0"/>
                    </a:lnTo>
                    <a:cubicBezTo>
                      <a:pt x="863165" y="0"/>
                      <a:pt x="904770" y="41605"/>
                      <a:pt x="904770" y="92927"/>
                    </a:cubicBezTo>
                    <a:lnTo>
                      <a:pt x="904770" y="807676"/>
                    </a:lnTo>
                    <a:cubicBezTo>
                      <a:pt x="904770" y="858998"/>
                      <a:pt x="863165" y="900602"/>
                      <a:pt x="811843" y="900602"/>
                    </a:cubicBezTo>
                    <a:lnTo>
                      <a:pt x="92927" y="900602"/>
                    </a:lnTo>
                    <a:cubicBezTo>
                      <a:pt x="41605" y="900602"/>
                      <a:pt x="0" y="858998"/>
                      <a:pt x="0" y="807676"/>
                    </a:cubicBezTo>
                    <a:lnTo>
                      <a:pt x="0" y="92927"/>
                    </a:lnTo>
                    <a:cubicBezTo>
                      <a:pt x="0" y="41605"/>
                      <a:pt x="41605" y="0"/>
                      <a:pt x="92927" y="0"/>
                    </a:cubicBezTo>
                    <a:close/>
                  </a:path>
                </a:pathLst>
              </a:custGeom>
              <a:solidFill>
                <a:srgbClr val="6C757D"/>
              </a:solidFill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10873" tIns="10873" rIns="10873" bIns="1087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8156120" y="4043574"/>
              <a:ext cx="1110829" cy="1105712"/>
              <a:chOff x="0" y="0"/>
              <a:chExt cx="904770" cy="900602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92927" y="0"/>
                    </a:moveTo>
                    <a:lnTo>
                      <a:pt x="811843" y="0"/>
                    </a:lnTo>
                    <a:cubicBezTo>
                      <a:pt x="863165" y="0"/>
                      <a:pt x="904770" y="41605"/>
                      <a:pt x="904770" y="92927"/>
                    </a:cubicBezTo>
                    <a:lnTo>
                      <a:pt x="904770" y="807676"/>
                    </a:lnTo>
                    <a:cubicBezTo>
                      <a:pt x="904770" y="858998"/>
                      <a:pt x="863165" y="900602"/>
                      <a:pt x="811843" y="900602"/>
                    </a:cubicBezTo>
                    <a:lnTo>
                      <a:pt x="92927" y="900602"/>
                    </a:lnTo>
                    <a:cubicBezTo>
                      <a:pt x="41605" y="900602"/>
                      <a:pt x="0" y="858998"/>
                      <a:pt x="0" y="807676"/>
                    </a:cubicBezTo>
                    <a:lnTo>
                      <a:pt x="0" y="92927"/>
                    </a:lnTo>
                    <a:cubicBezTo>
                      <a:pt x="0" y="41605"/>
                      <a:pt x="41605" y="0"/>
                      <a:pt x="92927" y="0"/>
                    </a:cubicBezTo>
                    <a:close/>
                  </a:path>
                </a:pathLst>
              </a:custGeom>
              <a:solidFill>
                <a:srgbClr val="6C757D"/>
              </a:solidFill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10873" tIns="10873" rIns="10873" bIns="1087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128620" y="6536937"/>
              <a:ext cx="1110829" cy="1105712"/>
              <a:chOff x="0" y="0"/>
              <a:chExt cx="904770" cy="900602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92927" y="0"/>
                    </a:moveTo>
                    <a:lnTo>
                      <a:pt x="811843" y="0"/>
                    </a:lnTo>
                    <a:cubicBezTo>
                      <a:pt x="863165" y="0"/>
                      <a:pt x="904770" y="41605"/>
                      <a:pt x="904770" y="92927"/>
                    </a:cubicBezTo>
                    <a:lnTo>
                      <a:pt x="904770" y="807676"/>
                    </a:lnTo>
                    <a:cubicBezTo>
                      <a:pt x="904770" y="858998"/>
                      <a:pt x="863165" y="900602"/>
                      <a:pt x="811843" y="900602"/>
                    </a:cubicBezTo>
                    <a:lnTo>
                      <a:pt x="92927" y="900602"/>
                    </a:lnTo>
                    <a:cubicBezTo>
                      <a:pt x="41605" y="900602"/>
                      <a:pt x="0" y="858998"/>
                      <a:pt x="0" y="807676"/>
                    </a:cubicBezTo>
                    <a:lnTo>
                      <a:pt x="0" y="92927"/>
                    </a:lnTo>
                    <a:cubicBezTo>
                      <a:pt x="0" y="41605"/>
                      <a:pt x="41605" y="0"/>
                      <a:pt x="92927" y="0"/>
                    </a:cubicBezTo>
                    <a:close/>
                  </a:path>
                </a:pathLst>
              </a:custGeom>
              <a:solidFill>
                <a:srgbClr val="6C757D"/>
              </a:solidFill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10873" tIns="10873" rIns="10873" bIns="1087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8156120" y="6536937"/>
              <a:ext cx="1110829" cy="1105712"/>
              <a:chOff x="0" y="0"/>
              <a:chExt cx="904770" cy="900602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92927" y="0"/>
                    </a:moveTo>
                    <a:lnTo>
                      <a:pt x="811843" y="0"/>
                    </a:lnTo>
                    <a:cubicBezTo>
                      <a:pt x="863165" y="0"/>
                      <a:pt x="904770" y="41605"/>
                      <a:pt x="904770" y="92927"/>
                    </a:cubicBezTo>
                    <a:lnTo>
                      <a:pt x="904770" y="807676"/>
                    </a:lnTo>
                    <a:cubicBezTo>
                      <a:pt x="904770" y="858998"/>
                      <a:pt x="863165" y="900602"/>
                      <a:pt x="811843" y="900602"/>
                    </a:cubicBezTo>
                    <a:lnTo>
                      <a:pt x="92927" y="900602"/>
                    </a:lnTo>
                    <a:cubicBezTo>
                      <a:pt x="41605" y="900602"/>
                      <a:pt x="0" y="858998"/>
                      <a:pt x="0" y="807676"/>
                    </a:cubicBezTo>
                    <a:lnTo>
                      <a:pt x="0" y="92927"/>
                    </a:lnTo>
                    <a:cubicBezTo>
                      <a:pt x="0" y="41605"/>
                      <a:pt x="41605" y="0"/>
                      <a:pt x="92927" y="0"/>
                    </a:cubicBezTo>
                    <a:close/>
                  </a:path>
                </a:pathLst>
              </a:custGeom>
              <a:solidFill>
                <a:srgbClr val="6C757D"/>
              </a:solidFill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10873" tIns="10873" rIns="10873" bIns="1087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66" name="Freeform 66"/>
            <p:cNvSpPr/>
            <p:nvPr/>
          </p:nvSpPr>
          <p:spPr>
            <a:xfrm>
              <a:off x="201625" y="4318387"/>
              <a:ext cx="964820" cy="556087"/>
            </a:xfrm>
            <a:custGeom>
              <a:avLst/>
              <a:gdLst/>
              <a:ahLst/>
              <a:cxnLst/>
              <a:rect l="l" t="t" r="r" b="b"/>
              <a:pathLst>
                <a:path w="964820" h="556087">
                  <a:moveTo>
                    <a:pt x="0" y="0"/>
                  </a:moveTo>
                  <a:lnTo>
                    <a:pt x="964820" y="0"/>
                  </a:lnTo>
                  <a:lnTo>
                    <a:pt x="964820" y="556087"/>
                  </a:lnTo>
                  <a:lnTo>
                    <a:pt x="0" y="556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7" name="Freeform 67"/>
            <p:cNvSpPr/>
            <p:nvPr/>
          </p:nvSpPr>
          <p:spPr>
            <a:xfrm>
              <a:off x="8311066" y="4195963"/>
              <a:ext cx="800936" cy="800936"/>
            </a:xfrm>
            <a:custGeom>
              <a:avLst/>
              <a:gdLst/>
              <a:ahLst/>
              <a:cxnLst/>
              <a:rect l="l" t="t" r="r" b="b"/>
              <a:pathLst>
                <a:path w="800936" h="800936">
                  <a:moveTo>
                    <a:pt x="0" y="0"/>
                  </a:moveTo>
                  <a:lnTo>
                    <a:pt x="800936" y="0"/>
                  </a:lnTo>
                  <a:lnTo>
                    <a:pt x="800936" y="800935"/>
                  </a:lnTo>
                  <a:lnTo>
                    <a:pt x="0" y="800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8" name="Freeform 68"/>
            <p:cNvSpPr/>
            <p:nvPr/>
          </p:nvSpPr>
          <p:spPr>
            <a:xfrm>
              <a:off x="251450" y="6652590"/>
              <a:ext cx="865170" cy="865170"/>
            </a:xfrm>
            <a:custGeom>
              <a:avLst/>
              <a:gdLst/>
              <a:ahLst/>
              <a:cxnLst/>
              <a:rect l="l" t="t" r="r" b="b"/>
              <a:pathLst>
                <a:path w="865170" h="865170">
                  <a:moveTo>
                    <a:pt x="0" y="0"/>
                  </a:moveTo>
                  <a:lnTo>
                    <a:pt x="865170" y="0"/>
                  </a:lnTo>
                  <a:lnTo>
                    <a:pt x="865170" y="865170"/>
                  </a:lnTo>
                  <a:lnTo>
                    <a:pt x="0" y="865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9" name="Freeform 69"/>
            <p:cNvSpPr/>
            <p:nvPr/>
          </p:nvSpPr>
          <p:spPr>
            <a:xfrm>
              <a:off x="8343369" y="6701722"/>
              <a:ext cx="794959" cy="732807"/>
            </a:xfrm>
            <a:custGeom>
              <a:avLst/>
              <a:gdLst/>
              <a:ahLst/>
              <a:cxnLst/>
              <a:rect l="l" t="t" r="r" b="b"/>
              <a:pathLst>
                <a:path w="794959" h="732807">
                  <a:moveTo>
                    <a:pt x="0" y="0"/>
                  </a:moveTo>
                  <a:lnTo>
                    <a:pt x="794959" y="0"/>
                  </a:lnTo>
                  <a:lnTo>
                    <a:pt x="794959" y="732807"/>
                  </a:lnTo>
                  <a:lnTo>
                    <a:pt x="0" y="732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0" name="TextBox 70"/>
            <p:cNvSpPr txBox="1"/>
            <p:nvPr/>
          </p:nvSpPr>
          <p:spPr>
            <a:xfrm>
              <a:off x="0" y="5663889"/>
              <a:ext cx="9138328" cy="5257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71"/>
                </a:lnSpc>
              </a:pPr>
              <a:r>
                <a:rPr lang="en-US" sz="2871" b="1">
                  <a:solidFill>
                    <a:srgbClr val="082649"/>
                  </a:solidFill>
                  <a:latin typeface="Charlevoix Bold"/>
                  <a:ea typeface="Charlevoix Bold"/>
                  <a:cs typeface="Charlevoix Bold"/>
                  <a:sym typeface="Charlevoix Bold"/>
                </a:rPr>
                <a:t>REACH OUT TO SCHEDULING TEAM</a:t>
              </a:r>
            </a:p>
          </p:txBody>
        </p:sp>
        <p:grpSp>
          <p:nvGrpSpPr>
            <p:cNvPr id="71" name="Group 71"/>
            <p:cNvGrpSpPr/>
            <p:nvPr/>
          </p:nvGrpSpPr>
          <p:grpSpPr>
            <a:xfrm>
              <a:off x="9777932" y="4157874"/>
              <a:ext cx="9138328" cy="3599074"/>
              <a:chOff x="0" y="0"/>
              <a:chExt cx="1513922" cy="596249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0" y="0"/>
                <a:ext cx="1513922" cy="596249"/>
              </a:xfrm>
              <a:custGeom>
                <a:avLst/>
                <a:gdLst/>
                <a:ahLst/>
                <a:cxnLst/>
                <a:rect l="l" t="t" r="r" b="b"/>
                <a:pathLst>
                  <a:path w="1513922" h="596249">
                    <a:moveTo>
                      <a:pt x="11296" y="0"/>
                    </a:moveTo>
                    <a:lnTo>
                      <a:pt x="1502626" y="0"/>
                    </a:lnTo>
                    <a:cubicBezTo>
                      <a:pt x="1505622" y="0"/>
                      <a:pt x="1508495" y="1190"/>
                      <a:pt x="1510613" y="3308"/>
                    </a:cubicBezTo>
                    <a:cubicBezTo>
                      <a:pt x="1512732" y="5427"/>
                      <a:pt x="1513922" y="8300"/>
                      <a:pt x="1513922" y="11296"/>
                    </a:cubicBezTo>
                    <a:lnTo>
                      <a:pt x="1513922" y="584953"/>
                    </a:lnTo>
                    <a:cubicBezTo>
                      <a:pt x="1513922" y="591191"/>
                      <a:pt x="1508864" y="596249"/>
                      <a:pt x="1502626" y="596249"/>
                    </a:cubicBezTo>
                    <a:lnTo>
                      <a:pt x="11296" y="596249"/>
                    </a:lnTo>
                    <a:cubicBezTo>
                      <a:pt x="5057" y="596249"/>
                      <a:pt x="0" y="591191"/>
                      <a:pt x="0" y="584953"/>
                    </a:cubicBezTo>
                    <a:lnTo>
                      <a:pt x="0" y="11296"/>
                    </a:lnTo>
                    <a:cubicBezTo>
                      <a:pt x="0" y="5057"/>
                      <a:pt x="5057" y="0"/>
                      <a:pt x="1129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73" name="TextBox 73"/>
              <p:cNvSpPr txBox="1"/>
              <p:nvPr/>
            </p:nvSpPr>
            <p:spPr>
              <a:xfrm>
                <a:off x="0" y="-38100"/>
                <a:ext cx="1513922" cy="6343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4" name="TextBox 74"/>
            <p:cNvSpPr txBox="1"/>
            <p:nvPr/>
          </p:nvSpPr>
          <p:spPr>
            <a:xfrm>
              <a:off x="9935332" y="4946499"/>
              <a:ext cx="8823528" cy="436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373"/>
                </a:lnSpc>
              </a:pPr>
              <a:r>
                <a:rPr lang="en-US" sz="2373" b="1">
                  <a:solidFill>
                    <a:srgbClr val="082649"/>
                  </a:solidFill>
                  <a:latin typeface="Charlevoix Medium"/>
                  <a:ea typeface="Charlevoix Medium"/>
                  <a:cs typeface="Charlevoix Medium"/>
                  <a:sym typeface="Charlevoix Medium"/>
                </a:rPr>
                <a:t>GOAL 3</a:t>
              </a:r>
            </a:p>
          </p:txBody>
        </p:sp>
        <p:grpSp>
          <p:nvGrpSpPr>
            <p:cNvPr id="75" name="Group 75"/>
            <p:cNvGrpSpPr/>
            <p:nvPr/>
          </p:nvGrpSpPr>
          <p:grpSpPr>
            <a:xfrm>
              <a:off x="9777932" y="4157874"/>
              <a:ext cx="1110829" cy="1105712"/>
              <a:chOff x="0" y="0"/>
              <a:chExt cx="904770" cy="900602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92927" y="0"/>
                    </a:moveTo>
                    <a:lnTo>
                      <a:pt x="811843" y="0"/>
                    </a:lnTo>
                    <a:cubicBezTo>
                      <a:pt x="863165" y="0"/>
                      <a:pt x="904770" y="41605"/>
                      <a:pt x="904770" y="92927"/>
                    </a:cubicBezTo>
                    <a:lnTo>
                      <a:pt x="904770" y="807676"/>
                    </a:lnTo>
                    <a:cubicBezTo>
                      <a:pt x="904770" y="858998"/>
                      <a:pt x="863165" y="900602"/>
                      <a:pt x="811843" y="900602"/>
                    </a:cubicBezTo>
                    <a:lnTo>
                      <a:pt x="92927" y="900602"/>
                    </a:lnTo>
                    <a:cubicBezTo>
                      <a:pt x="41605" y="900602"/>
                      <a:pt x="0" y="858998"/>
                      <a:pt x="0" y="807676"/>
                    </a:cubicBezTo>
                    <a:lnTo>
                      <a:pt x="0" y="92927"/>
                    </a:lnTo>
                    <a:cubicBezTo>
                      <a:pt x="0" y="41605"/>
                      <a:pt x="41605" y="0"/>
                      <a:pt x="92927" y="0"/>
                    </a:cubicBezTo>
                    <a:close/>
                  </a:path>
                </a:pathLst>
              </a:custGeom>
              <a:solidFill>
                <a:srgbClr val="6C757D"/>
              </a:solidFill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10873" tIns="10873" rIns="10873" bIns="1087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17805431" y="4157874"/>
              <a:ext cx="1110829" cy="1105712"/>
              <a:chOff x="0" y="0"/>
              <a:chExt cx="904770" cy="900602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92927" y="0"/>
                    </a:moveTo>
                    <a:lnTo>
                      <a:pt x="811843" y="0"/>
                    </a:lnTo>
                    <a:cubicBezTo>
                      <a:pt x="863165" y="0"/>
                      <a:pt x="904770" y="41605"/>
                      <a:pt x="904770" y="92927"/>
                    </a:cubicBezTo>
                    <a:lnTo>
                      <a:pt x="904770" y="807676"/>
                    </a:lnTo>
                    <a:cubicBezTo>
                      <a:pt x="904770" y="858998"/>
                      <a:pt x="863165" y="900602"/>
                      <a:pt x="811843" y="900602"/>
                    </a:cubicBezTo>
                    <a:lnTo>
                      <a:pt x="92927" y="900602"/>
                    </a:lnTo>
                    <a:cubicBezTo>
                      <a:pt x="41605" y="900602"/>
                      <a:pt x="0" y="858998"/>
                      <a:pt x="0" y="807676"/>
                    </a:cubicBezTo>
                    <a:lnTo>
                      <a:pt x="0" y="92927"/>
                    </a:lnTo>
                    <a:cubicBezTo>
                      <a:pt x="0" y="41605"/>
                      <a:pt x="41605" y="0"/>
                      <a:pt x="92927" y="0"/>
                    </a:cubicBezTo>
                    <a:close/>
                  </a:path>
                </a:pathLst>
              </a:custGeom>
              <a:solidFill>
                <a:srgbClr val="6C757D"/>
              </a:solidFill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10873" tIns="10873" rIns="10873" bIns="1087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>
              <a:off x="9777932" y="6651237"/>
              <a:ext cx="1110829" cy="1105712"/>
              <a:chOff x="0" y="0"/>
              <a:chExt cx="904770" cy="900602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92927" y="0"/>
                    </a:moveTo>
                    <a:lnTo>
                      <a:pt x="811843" y="0"/>
                    </a:lnTo>
                    <a:cubicBezTo>
                      <a:pt x="863165" y="0"/>
                      <a:pt x="904770" y="41605"/>
                      <a:pt x="904770" y="92927"/>
                    </a:cubicBezTo>
                    <a:lnTo>
                      <a:pt x="904770" y="807676"/>
                    </a:lnTo>
                    <a:cubicBezTo>
                      <a:pt x="904770" y="858998"/>
                      <a:pt x="863165" y="900602"/>
                      <a:pt x="811843" y="900602"/>
                    </a:cubicBezTo>
                    <a:lnTo>
                      <a:pt x="92927" y="900602"/>
                    </a:lnTo>
                    <a:cubicBezTo>
                      <a:pt x="41605" y="900602"/>
                      <a:pt x="0" y="858998"/>
                      <a:pt x="0" y="807676"/>
                    </a:cubicBezTo>
                    <a:lnTo>
                      <a:pt x="0" y="92927"/>
                    </a:lnTo>
                    <a:cubicBezTo>
                      <a:pt x="0" y="41605"/>
                      <a:pt x="41605" y="0"/>
                      <a:pt x="92927" y="0"/>
                    </a:cubicBezTo>
                    <a:close/>
                  </a:path>
                </a:pathLst>
              </a:custGeom>
              <a:solidFill>
                <a:srgbClr val="6C757D"/>
              </a:solidFill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10873" tIns="10873" rIns="10873" bIns="1087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>
              <a:off x="17805431" y="6651237"/>
              <a:ext cx="1110829" cy="1105712"/>
              <a:chOff x="0" y="0"/>
              <a:chExt cx="904770" cy="900602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92927" y="0"/>
                    </a:moveTo>
                    <a:lnTo>
                      <a:pt x="811843" y="0"/>
                    </a:lnTo>
                    <a:cubicBezTo>
                      <a:pt x="863165" y="0"/>
                      <a:pt x="904770" y="41605"/>
                      <a:pt x="904770" y="92927"/>
                    </a:cubicBezTo>
                    <a:lnTo>
                      <a:pt x="904770" y="807676"/>
                    </a:lnTo>
                    <a:cubicBezTo>
                      <a:pt x="904770" y="858998"/>
                      <a:pt x="863165" y="900602"/>
                      <a:pt x="811843" y="900602"/>
                    </a:cubicBezTo>
                    <a:lnTo>
                      <a:pt x="92927" y="900602"/>
                    </a:lnTo>
                    <a:cubicBezTo>
                      <a:pt x="41605" y="900602"/>
                      <a:pt x="0" y="858998"/>
                      <a:pt x="0" y="807676"/>
                    </a:cubicBezTo>
                    <a:lnTo>
                      <a:pt x="0" y="92927"/>
                    </a:lnTo>
                    <a:cubicBezTo>
                      <a:pt x="0" y="41605"/>
                      <a:pt x="41605" y="0"/>
                      <a:pt x="92927" y="0"/>
                    </a:cubicBezTo>
                    <a:close/>
                  </a:path>
                </a:pathLst>
              </a:custGeom>
              <a:solidFill>
                <a:srgbClr val="6C757D"/>
              </a:solidFill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10873" tIns="10873" rIns="10873" bIns="1087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87" name="Freeform 87"/>
            <p:cNvSpPr/>
            <p:nvPr/>
          </p:nvSpPr>
          <p:spPr>
            <a:xfrm>
              <a:off x="9850936" y="4432687"/>
              <a:ext cx="964820" cy="556087"/>
            </a:xfrm>
            <a:custGeom>
              <a:avLst/>
              <a:gdLst/>
              <a:ahLst/>
              <a:cxnLst/>
              <a:rect l="l" t="t" r="r" b="b"/>
              <a:pathLst>
                <a:path w="964820" h="556087">
                  <a:moveTo>
                    <a:pt x="0" y="0"/>
                  </a:moveTo>
                  <a:lnTo>
                    <a:pt x="964820" y="0"/>
                  </a:lnTo>
                  <a:lnTo>
                    <a:pt x="964820" y="556087"/>
                  </a:lnTo>
                  <a:lnTo>
                    <a:pt x="0" y="556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8" name="Freeform 88"/>
            <p:cNvSpPr/>
            <p:nvPr/>
          </p:nvSpPr>
          <p:spPr>
            <a:xfrm>
              <a:off x="17960377" y="4310263"/>
              <a:ext cx="800936" cy="800936"/>
            </a:xfrm>
            <a:custGeom>
              <a:avLst/>
              <a:gdLst/>
              <a:ahLst/>
              <a:cxnLst/>
              <a:rect l="l" t="t" r="r" b="b"/>
              <a:pathLst>
                <a:path w="800936" h="800936">
                  <a:moveTo>
                    <a:pt x="0" y="0"/>
                  </a:moveTo>
                  <a:lnTo>
                    <a:pt x="800936" y="0"/>
                  </a:lnTo>
                  <a:lnTo>
                    <a:pt x="800936" y="800935"/>
                  </a:lnTo>
                  <a:lnTo>
                    <a:pt x="0" y="8009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9" name="Freeform 89"/>
            <p:cNvSpPr/>
            <p:nvPr/>
          </p:nvSpPr>
          <p:spPr>
            <a:xfrm>
              <a:off x="9900761" y="6766890"/>
              <a:ext cx="865170" cy="865170"/>
            </a:xfrm>
            <a:custGeom>
              <a:avLst/>
              <a:gdLst/>
              <a:ahLst/>
              <a:cxnLst/>
              <a:rect l="l" t="t" r="r" b="b"/>
              <a:pathLst>
                <a:path w="865170" h="865170">
                  <a:moveTo>
                    <a:pt x="0" y="0"/>
                  </a:moveTo>
                  <a:lnTo>
                    <a:pt x="865170" y="0"/>
                  </a:lnTo>
                  <a:lnTo>
                    <a:pt x="865170" y="865170"/>
                  </a:lnTo>
                  <a:lnTo>
                    <a:pt x="0" y="865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0" name="Freeform 90"/>
            <p:cNvSpPr/>
            <p:nvPr/>
          </p:nvSpPr>
          <p:spPr>
            <a:xfrm>
              <a:off x="17992680" y="6816022"/>
              <a:ext cx="794959" cy="732807"/>
            </a:xfrm>
            <a:custGeom>
              <a:avLst/>
              <a:gdLst/>
              <a:ahLst/>
              <a:cxnLst/>
              <a:rect l="l" t="t" r="r" b="b"/>
              <a:pathLst>
                <a:path w="794959" h="732807">
                  <a:moveTo>
                    <a:pt x="0" y="0"/>
                  </a:moveTo>
                  <a:lnTo>
                    <a:pt x="794959" y="0"/>
                  </a:lnTo>
                  <a:lnTo>
                    <a:pt x="794959" y="732807"/>
                  </a:lnTo>
                  <a:lnTo>
                    <a:pt x="0" y="732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9649311" y="5778189"/>
              <a:ext cx="9138328" cy="5257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71"/>
                </a:lnSpc>
              </a:pPr>
              <a:r>
                <a:rPr lang="en-US" sz="2871" b="1">
                  <a:solidFill>
                    <a:srgbClr val="082649"/>
                  </a:solidFill>
                  <a:latin typeface="Charlevoix Bold"/>
                  <a:ea typeface="Charlevoix Bold"/>
                  <a:cs typeface="Charlevoix Bold"/>
                  <a:sym typeface="Charlevoix Bold"/>
                </a:rPr>
                <a:t>SEND INTRO EMAIL TO CLIENTS</a:t>
              </a:r>
            </a:p>
          </p:txBody>
        </p:sp>
        <p:grpSp>
          <p:nvGrpSpPr>
            <p:cNvPr id="92" name="Group 92"/>
            <p:cNvGrpSpPr/>
            <p:nvPr/>
          </p:nvGrpSpPr>
          <p:grpSpPr>
            <a:xfrm>
              <a:off x="117588" y="0"/>
              <a:ext cx="1110829" cy="1105712"/>
              <a:chOff x="0" y="0"/>
              <a:chExt cx="904770" cy="900602"/>
            </a:xfrm>
          </p:grpSpPr>
          <p:sp>
            <p:nvSpPr>
              <p:cNvPr id="93" name="Freeform 93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92927" y="0"/>
                    </a:moveTo>
                    <a:lnTo>
                      <a:pt x="811843" y="0"/>
                    </a:lnTo>
                    <a:cubicBezTo>
                      <a:pt x="863165" y="0"/>
                      <a:pt x="904770" y="41605"/>
                      <a:pt x="904770" y="92927"/>
                    </a:cubicBezTo>
                    <a:lnTo>
                      <a:pt x="904770" y="807676"/>
                    </a:lnTo>
                    <a:cubicBezTo>
                      <a:pt x="904770" y="858998"/>
                      <a:pt x="863165" y="900602"/>
                      <a:pt x="811843" y="900602"/>
                    </a:cubicBezTo>
                    <a:lnTo>
                      <a:pt x="92927" y="900602"/>
                    </a:lnTo>
                    <a:cubicBezTo>
                      <a:pt x="41605" y="900602"/>
                      <a:pt x="0" y="858998"/>
                      <a:pt x="0" y="807676"/>
                    </a:cubicBezTo>
                    <a:lnTo>
                      <a:pt x="0" y="92927"/>
                    </a:lnTo>
                    <a:cubicBezTo>
                      <a:pt x="0" y="41605"/>
                      <a:pt x="41605" y="0"/>
                      <a:pt x="92927" y="0"/>
                    </a:cubicBezTo>
                    <a:close/>
                  </a:path>
                </a:pathLst>
              </a:custGeom>
              <a:solidFill>
                <a:srgbClr val="6C757D"/>
              </a:solidFill>
            </p:spPr>
          </p:sp>
          <p:sp>
            <p:nvSpPr>
              <p:cNvPr id="94" name="TextBox 94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10873" tIns="10873" rIns="10873" bIns="10873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95" name="Freeform 95"/>
            <p:cNvSpPr/>
            <p:nvPr/>
          </p:nvSpPr>
          <p:spPr>
            <a:xfrm>
              <a:off x="342322" y="184689"/>
              <a:ext cx="661362" cy="736334"/>
            </a:xfrm>
            <a:custGeom>
              <a:avLst/>
              <a:gdLst/>
              <a:ahLst/>
              <a:cxnLst/>
              <a:rect l="l" t="t" r="r" b="b"/>
              <a:pathLst>
                <a:path w="661362" h="736334">
                  <a:moveTo>
                    <a:pt x="0" y="0"/>
                  </a:moveTo>
                  <a:lnTo>
                    <a:pt x="661362" y="0"/>
                  </a:lnTo>
                  <a:lnTo>
                    <a:pt x="661362" y="736334"/>
                  </a:lnTo>
                  <a:lnTo>
                    <a:pt x="0" y="7363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6" name="TextBox 96"/>
          <p:cNvSpPr txBox="1"/>
          <p:nvPr/>
        </p:nvSpPr>
        <p:spPr>
          <a:xfrm>
            <a:off x="4220226" y="2874885"/>
            <a:ext cx="10297528" cy="47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0"/>
              </a:lnSpc>
            </a:pPr>
            <a:r>
              <a:rPr lang="en-US" sz="3337" b="1">
                <a:solidFill>
                  <a:srgbClr val="FFFFFF"/>
                </a:solidFill>
                <a:latin typeface="Charlevoix Medium"/>
                <a:ea typeface="Charlevoix Medium"/>
                <a:cs typeface="Charlevoix Medium"/>
                <a:sym typeface="Charlevoix Medium"/>
              </a:rPr>
              <a:t>AFTER COMPLETING THE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6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4381" y="-762000"/>
            <a:ext cx="2304928" cy="2304928"/>
          </a:xfrm>
          <a:custGeom>
            <a:avLst/>
            <a:gdLst/>
            <a:ahLst/>
            <a:cxnLst/>
            <a:rect l="l" t="t" r="r" b="b"/>
            <a:pathLst>
              <a:path w="2304928" h="2304928">
                <a:moveTo>
                  <a:pt x="0" y="0"/>
                </a:moveTo>
                <a:lnTo>
                  <a:pt x="2304928" y="0"/>
                </a:lnTo>
                <a:lnTo>
                  <a:pt x="2304928" y="2304928"/>
                </a:lnTo>
                <a:lnTo>
                  <a:pt x="0" y="2304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828977" y="-762000"/>
            <a:ext cx="2304928" cy="2304928"/>
          </a:xfrm>
          <a:custGeom>
            <a:avLst/>
            <a:gdLst/>
            <a:ahLst/>
            <a:cxnLst/>
            <a:rect l="l" t="t" r="r" b="b"/>
            <a:pathLst>
              <a:path w="2304928" h="2304928">
                <a:moveTo>
                  <a:pt x="0" y="0"/>
                </a:moveTo>
                <a:lnTo>
                  <a:pt x="2304928" y="0"/>
                </a:lnTo>
                <a:lnTo>
                  <a:pt x="2304928" y="2304928"/>
                </a:lnTo>
                <a:lnTo>
                  <a:pt x="0" y="2304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200072" y="-762000"/>
            <a:ext cx="2304928" cy="2304928"/>
          </a:xfrm>
          <a:custGeom>
            <a:avLst/>
            <a:gdLst/>
            <a:ahLst/>
            <a:cxnLst/>
            <a:rect l="l" t="t" r="r" b="b"/>
            <a:pathLst>
              <a:path w="2304928" h="2304928">
                <a:moveTo>
                  <a:pt x="0" y="0"/>
                </a:moveTo>
                <a:lnTo>
                  <a:pt x="2304927" y="0"/>
                </a:lnTo>
                <a:lnTo>
                  <a:pt x="2304927" y="2304928"/>
                </a:lnTo>
                <a:lnTo>
                  <a:pt x="0" y="2304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43430" y="-762000"/>
            <a:ext cx="2304928" cy="2304928"/>
          </a:xfrm>
          <a:custGeom>
            <a:avLst/>
            <a:gdLst/>
            <a:ahLst/>
            <a:cxnLst/>
            <a:rect l="l" t="t" r="r" b="b"/>
            <a:pathLst>
              <a:path w="2304928" h="2304928">
                <a:moveTo>
                  <a:pt x="0" y="0"/>
                </a:moveTo>
                <a:lnTo>
                  <a:pt x="2304927" y="0"/>
                </a:lnTo>
                <a:lnTo>
                  <a:pt x="2304927" y="2304928"/>
                </a:lnTo>
                <a:lnTo>
                  <a:pt x="0" y="2304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457882" y="-762000"/>
            <a:ext cx="2304928" cy="2304928"/>
          </a:xfrm>
          <a:custGeom>
            <a:avLst/>
            <a:gdLst/>
            <a:ahLst/>
            <a:cxnLst/>
            <a:rect l="l" t="t" r="r" b="b"/>
            <a:pathLst>
              <a:path w="2304928" h="2304928">
                <a:moveTo>
                  <a:pt x="0" y="0"/>
                </a:moveTo>
                <a:lnTo>
                  <a:pt x="2304928" y="0"/>
                </a:lnTo>
                <a:lnTo>
                  <a:pt x="2304928" y="2304928"/>
                </a:lnTo>
                <a:lnTo>
                  <a:pt x="0" y="2304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514524" y="-762000"/>
            <a:ext cx="2304928" cy="2304928"/>
          </a:xfrm>
          <a:custGeom>
            <a:avLst/>
            <a:gdLst/>
            <a:ahLst/>
            <a:cxnLst/>
            <a:rect l="l" t="t" r="r" b="b"/>
            <a:pathLst>
              <a:path w="2304928" h="2304928">
                <a:moveTo>
                  <a:pt x="0" y="0"/>
                </a:moveTo>
                <a:lnTo>
                  <a:pt x="2304928" y="0"/>
                </a:lnTo>
                <a:lnTo>
                  <a:pt x="2304928" y="2304928"/>
                </a:lnTo>
                <a:lnTo>
                  <a:pt x="0" y="2304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772335" y="-762000"/>
            <a:ext cx="2304928" cy="2304928"/>
          </a:xfrm>
          <a:custGeom>
            <a:avLst/>
            <a:gdLst/>
            <a:ahLst/>
            <a:cxnLst/>
            <a:rect l="l" t="t" r="r" b="b"/>
            <a:pathLst>
              <a:path w="2304928" h="2304928">
                <a:moveTo>
                  <a:pt x="0" y="0"/>
                </a:moveTo>
                <a:lnTo>
                  <a:pt x="2304927" y="0"/>
                </a:lnTo>
                <a:lnTo>
                  <a:pt x="2304927" y="2304928"/>
                </a:lnTo>
                <a:lnTo>
                  <a:pt x="0" y="2304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6086787" y="-762000"/>
            <a:ext cx="2315593" cy="2304928"/>
            <a:chOff x="0" y="0"/>
            <a:chExt cx="3087458" cy="3073237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3087458" cy="3073237"/>
              <a:chOff x="0" y="0"/>
              <a:chExt cx="904770" cy="900602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72116" y="0"/>
                    </a:moveTo>
                    <a:lnTo>
                      <a:pt x="832653" y="0"/>
                    </a:lnTo>
                    <a:cubicBezTo>
                      <a:pt x="851780" y="0"/>
                      <a:pt x="870123" y="7598"/>
                      <a:pt x="883647" y="21122"/>
                    </a:cubicBezTo>
                    <a:cubicBezTo>
                      <a:pt x="897172" y="34647"/>
                      <a:pt x="904770" y="52990"/>
                      <a:pt x="904770" y="72116"/>
                    </a:cubicBezTo>
                    <a:lnTo>
                      <a:pt x="904770" y="828486"/>
                    </a:lnTo>
                    <a:cubicBezTo>
                      <a:pt x="904770" y="868315"/>
                      <a:pt x="872482" y="900602"/>
                      <a:pt x="832653" y="900602"/>
                    </a:cubicBezTo>
                    <a:lnTo>
                      <a:pt x="72116" y="900602"/>
                    </a:lnTo>
                    <a:cubicBezTo>
                      <a:pt x="32288" y="900602"/>
                      <a:pt x="0" y="868315"/>
                      <a:pt x="0" y="828486"/>
                    </a:cubicBezTo>
                    <a:lnTo>
                      <a:pt x="0" y="72116"/>
                    </a:lnTo>
                    <a:cubicBezTo>
                      <a:pt x="0" y="32288"/>
                      <a:pt x="32288" y="0"/>
                      <a:pt x="7211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3" name="Freeform 13"/>
            <p:cNvSpPr/>
            <p:nvPr/>
          </p:nvSpPr>
          <p:spPr>
            <a:xfrm>
              <a:off x="289963" y="915979"/>
              <a:ext cx="2507532" cy="1445250"/>
            </a:xfrm>
            <a:custGeom>
              <a:avLst/>
              <a:gdLst/>
              <a:ahLst/>
              <a:cxnLst/>
              <a:rect l="l" t="t" r="r" b="b"/>
              <a:pathLst>
                <a:path w="2507532" h="1445250">
                  <a:moveTo>
                    <a:pt x="0" y="0"/>
                  </a:moveTo>
                  <a:lnTo>
                    <a:pt x="2507532" y="0"/>
                  </a:lnTo>
                  <a:lnTo>
                    <a:pt x="2507532" y="1445250"/>
                  </a:lnTo>
                  <a:lnTo>
                    <a:pt x="0" y="1445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15983072" y="8744072"/>
            <a:ext cx="2304928" cy="2304928"/>
          </a:xfrm>
          <a:custGeom>
            <a:avLst/>
            <a:gdLst/>
            <a:ahLst/>
            <a:cxnLst/>
            <a:rect l="l" t="t" r="r" b="b"/>
            <a:pathLst>
              <a:path w="2304928" h="2304928">
                <a:moveTo>
                  <a:pt x="0" y="0"/>
                </a:moveTo>
                <a:lnTo>
                  <a:pt x="2304928" y="0"/>
                </a:lnTo>
                <a:lnTo>
                  <a:pt x="2304928" y="2304928"/>
                </a:lnTo>
                <a:lnTo>
                  <a:pt x="0" y="2304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3668620" y="8744072"/>
            <a:ext cx="2304928" cy="2304928"/>
          </a:xfrm>
          <a:custGeom>
            <a:avLst/>
            <a:gdLst/>
            <a:ahLst/>
            <a:cxnLst/>
            <a:rect l="l" t="t" r="r" b="b"/>
            <a:pathLst>
              <a:path w="2304928" h="2304928">
                <a:moveTo>
                  <a:pt x="0" y="0"/>
                </a:moveTo>
                <a:lnTo>
                  <a:pt x="2304927" y="0"/>
                </a:lnTo>
                <a:lnTo>
                  <a:pt x="2304927" y="2304928"/>
                </a:lnTo>
                <a:lnTo>
                  <a:pt x="0" y="2304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1354167" y="8744072"/>
            <a:ext cx="2304928" cy="2304928"/>
          </a:xfrm>
          <a:custGeom>
            <a:avLst/>
            <a:gdLst/>
            <a:ahLst/>
            <a:cxnLst/>
            <a:rect l="l" t="t" r="r" b="b"/>
            <a:pathLst>
              <a:path w="2304928" h="2304928">
                <a:moveTo>
                  <a:pt x="0" y="0"/>
                </a:moveTo>
                <a:lnTo>
                  <a:pt x="2304928" y="0"/>
                </a:lnTo>
                <a:lnTo>
                  <a:pt x="2304928" y="2304928"/>
                </a:lnTo>
                <a:lnTo>
                  <a:pt x="0" y="2304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9039715" y="8744072"/>
            <a:ext cx="2304928" cy="2304928"/>
          </a:xfrm>
          <a:custGeom>
            <a:avLst/>
            <a:gdLst/>
            <a:ahLst/>
            <a:cxnLst/>
            <a:rect l="l" t="t" r="r" b="b"/>
            <a:pathLst>
              <a:path w="2304928" h="2304928">
                <a:moveTo>
                  <a:pt x="0" y="0"/>
                </a:moveTo>
                <a:lnTo>
                  <a:pt x="2304927" y="0"/>
                </a:lnTo>
                <a:lnTo>
                  <a:pt x="2304927" y="2304928"/>
                </a:lnTo>
                <a:lnTo>
                  <a:pt x="0" y="2304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6725262" y="8744072"/>
            <a:ext cx="2304928" cy="2304928"/>
          </a:xfrm>
          <a:custGeom>
            <a:avLst/>
            <a:gdLst/>
            <a:ahLst/>
            <a:cxnLst/>
            <a:rect l="l" t="t" r="r" b="b"/>
            <a:pathLst>
              <a:path w="2304928" h="2304928">
                <a:moveTo>
                  <a:pt x="0" y="0"/>
                </a:moveTo>
                <a:lnTo>
                  <a:pt x="2304928" y="0"/>
                </a:lnTo>
                <a:lnTo>
                  <a:pt x="2304928" y="2304928"/>
                </a:lnTo>
                <a:lnTo>
                  <a:pt x="0" y="2304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4410809" y="8744072"/>
            <a:ext cx="2304928" cy="2304928"/>
          </a:xfrm>
          <a:custGeom>
            <a:avLst/>
            <a:gdLst/>
            <a:ahLst/>
            <a:cxnLst/>
            <a:rect l="l" t="t" r="r" b="b"/>
            <a:pathLst>
              <a:path w="2304928" h="2304928">
                <a:moveTo>
                  <a:pt x="0" y="0"/>
                </a:moveTo>
                <a:lnTo>
                  <a:pt x="2304928" y="0"/>
                </a:lnTo>
                <a:lnTo>
                  <a:pt x="2304928" y="2304928"/>
                </a:lnTo>
                <a:lnTo>
                  <a:pt x="0" y="2304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2096357" y="8744072"/>
            <a:ext cx="2304928" cy="2304928"/>
          </a:xfrm>
          <a:custGeom>
            <a:avLst/>
            <a:gdLst/>
            <a:ahLst/>
            <a:cxnLst/>
            <a:rect l="l" t="t" r="r" b="b"/>
            <a:pathLst>
              <a:path w="2304928" h="2304928">
                <a:moveTo>
                  <a:pt x="0" y="0"/>
                </a:moveTo>
                <a:lnTo>
                  <a:pt x="2304927" y="0"/>
                </a:lnTo>
                <a:lnTo>
                  <a:pt x="2304927" y="2304928"/>
                </a:lnTo>
                <a:lnTo>
                  <a:pt x="0" y="23049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-228762" y="8744072"/>
            <a:ext cx="2315593" cy="2304928"/>
            <a:chOff x="0" y="0"/>
            <a:chExt cx="3087458" cy="3073237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3087458" cy="3073237"/>
              <a:chOff x="0" y="0"/>
              <a:chExt cx="904770" cy="90060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904770" cy="900602"/>
              </a:xfrm>
              <a:custGeom>
                <a:avLst/>
                <a:gdLst/>
                <a:ahLst/>
                <a:cxnLst/>
                <a:rect l="l" t="t" r="r" b="b"/>
                <a:pathLst>
                  <a:path w="904770" h="900602">
                    <a:moveTo>
                      <a:pt x="72116" y="0"/>
                    </a:moveTo>
                    <a:lnTo>
                      <a:pt x="832653" y="0"/>
                    </a:lnTo>
                    <a:cubicBezTo>
                      <a:pt x="851780" y="0"/>
                      <a:pt x="870123" y="7598"/>
                      <a:pt x="883647" y="21122"/>
                    </a:cubicBezTo>
                    <a:cubicBezTo>
                      <a:pt x="897172" y="34647"/>
                      <a:pt x="904770" y="52990"/>
                      <a:pt x="904770" y="72116"/>
                    </a:cubicBezTo>
                    <a:lnTo>
                      <a:pt x="904770" y="828486"/>
                    </a:lnTo>
                    <a:cubicBezTo>
                      <a:pt x="904770" y="868315"/>
                      <a:pt x="872482" y="900602"/>
                      <a:pt x="832653" y="900602"/>
                    </a:cubicBezTo>
                    <a:lnTo>
                      <a:pt x="72116" y="900602"/>
                    </a:lnTo>
                    <a:cubicBezTo>
                      <a:pt x="32288" y="900602"/>
                      <a:pt x="0" y="868315"/>
                      <a:pt x="0" y="828486"/>
                    </a:cubicBezTo>
                    <a:lnTo>
                      <a:pt x="0" y="72116"/>
                    </a:lnTo>
                    <a:cubicBezTo>
                      <a:pt x="0" y="32288"/>
                      <a:pt x="32288" y="0"/>
                      <a:pt x="72116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904770" cy="9387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5" name="Freeform 25"/>
            <p:cNvSpPr/>
            <p:nvPr/>
          </p:nvSpPr>
          <p:spPr>
            <a:xfrm>
              <a:off x="289963" y="915979"/>
              <a:ext cx="2507532" cy="1445250"/>
            </a:xfrm>
            <a:custGeom>
              <a:avLst/>
              <a:gdLst/>
              <a:ahLst/>
              <a:cxnLst/>
              <a:rect l="l" t="t" r="r" b="b"/>
              <a:pathLst>
                <a:path w="2507532" h="1445250">
                  <a:moveTo>
                    <a:pt x="0" y="0"/>
                  </a:moveTo>
                  <a:lnTo>
                    <a:pt x="2507532" y="0"/>
                  </a:lnTo>
                  <a:lnTo>
                    <a:pt x="2507532" y="1445250"/>
                  </a:lnTo>
                  <a:lnTo>
                    <a:pt x="0" y="1445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6" name="TextBox 26"/>
          <p:cNvSpPr txBox="1"/>
          <p:nvPr/>
        </p:nvSpPr>
        <p:spPr>
          <a:xfrm>
            <a:off x="4110695" y="4285324"/>
            <a:ext cx="10066611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 b="1">
                <a:solidFill>
                  <a:srgbClr val="FFFFFF"/>
                </a:solidFill>
                <a:latin typeface="Charlevoix Bold"/>
                <a:ea typeface="Charlevoix Bold"/>
                <a:cs typeface="Charlevoix Bold"/>
                <a:sym typeface="Charlevoix Bold"/>
              </a:rPr>
              <a:t>QUESTIONS?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6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52077" y="-9525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3429000" h="3429000">
                <a:moveTo>
                  <a:pt x="0" y="0"/>
                </a:moveTo>
                <a:lnTo>
                  <a:pt x="3429000" y="0"/>
                </a:lnTo>
                <a:lnTo>
                  <a:pt x="34290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581077" y="-9525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3429000" h="3429000">
                <a:moveTo>
                  <a:pt x="0" y="0"/>
                </a:moveTo>
                <a:lnTo>
                  <a:pt x="3429000" y="0"/>
                </a:lnTo>
                <a:lnTo>
                  <a:pt x="34290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152077" y="34290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3429000" h="3429000">
                <a:moveTo>
                  <a:pt x="0" y="0"/>
                </a:moveTo>
                <a:lnTo>
                  <a:pt x="3429000" y="0"/>
                </a:lnTo>
                <a:lnTo>
                  <a:pt x="34290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151296" y="6867525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3429000" h="3429000">
                <a:moveTo>
                  <a:pt x="0" y="0"/>
                </a:moveTo>
                <a:lnTo>
                  <a:pt x="3429000" y="0"/>
                </a:lnTo>
                <a:lnTo>
                  <a:pt x="34290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587335" y="6867525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3429000" h="3429000">
                <a:moveTo>
                  <a:pt x="0" y="0"/>
                </a:moveTo>
                <a:lnTo>
                  <a:pt x="3429000" y="0"/>
                </a:lnTo>
                <a:lnTo>
                  <a:pt x="34290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587335" y="34290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3429000" h="3429000">
                <a:moveTo>
                  <a:pt x="0" y="0"/>
                </a:moveTo>
                <a:lnTo>
                  <a:pt x="3429000" y="0"/>
                </a:lnTo>
                <a:lnTo>
                  <a:pt x="34290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068235" y="9258300"/>
            <a:ext cx="3796941" cy="466498"/>
          </a:xfrm>
          <a:custGeom>
            <a:avLst/>
            <a:gdLst/>
            <a:ahLst/>
            <a:cxnLst/>
            <a:rect l="l" t="t" r="r" b="b"/>
            <a:pathLst>
              <a:path w="3796941" h="466498">
                <a:moveTo>
                  <a:pt x="0" y="0"/>
                </a:moveTo>
                <a:lnTo>
                  <a:pt x="3796942" y="0"/>
                </a:lnTo>
                <a:lnTo>
                  <a:pt x="3796942" y="466498"/>
                </a:lnTo>
                <a:lnTo>
                  <a:pt x="0" y="466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89151" y="7603208"/>
            <a:ext cx="10461648" cy="1599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12"/>
              </a:lnSpc>
            </a:pPr>
            <a:r>
              <a:rPr lang="en-US" sz="14066" b="1">
                <a:solidFill>
                  <a:srgbClr val="FFFFFF"/>
                </a:solidFill>
                <a:latin typeface="Charlevoix Heavy"/>
                <a:ea typeface="Charlevoix Heavy"/>
                <a:cs typeface="Charlevoix Heavy"/>
                <a:sym typeface="Charlevoix Heavy"/>
              </a:rPr>
              <a:t>Thank you.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6250" y="620943"/>
            <a:ext cx="5421801" cy="797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9"/>
              </a:lnSpc>
            </a:pPr>
            <a:r>
              <a:rPr lang="en-US" sz="2808">
                <a:solidFill>
                  <a:srgbClr val="FFFFFF"/>
                </a:solidFill>
                <a:latin typeface="Charlevoix"/>
                <a:ea typeface="Charlevoix"/>
                <a:cs typeface="Charlevoix"/>
                <a:sym typeface="Charlevoix"/>
              </a:rPr>
              <a:t>Engagement Management</a:t>
            </a:r>
          </a:p>
          <a:p>
            <a:pPr algn="l">
              <a:lnSpc>
                <a:spcPts val="3089"/>
              </a:lnSpc>
            </a:pPr>
            <a:r>
              <a:rPr lang="en-US" sz="2808">
                <a:solidFill>
                  <a:srgbClr val="FFFFFF"/>
                </a:solidFill>
                <a:latin typeface="Charlevoix"/>
                <a:ea typeface="Charlevoix"/>
                <a:cs typeface="Charlevoix"/>
                <a:sym typeface="Charlevoix"/>
              </a:rPr>
              <a:t>Professional Services Group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11A7D7C6AF7C4B84849BBC7AECD042" ma:contentTypeVersion="7" ma:contentTypeDescription="Create a new document." ma:contentTypeScope="" ma:versionID="d1a1c2fab4bc054141fc059f64628e6a">
  <xsd:schema xmlns:xsd="http://www.w3.org/2001/XMLSchema" xmlns:xs="http://www.w3.org/2001/XMLSchema" xmlns:p="http://schemas.microsoft.com/office/2006/metadata/properties" xmlns:ns2="09f0d035-db3a-41e2-9c9f-cd4fb346005c" targetNamespace="http://schemas.microsoft.com/office/2006/metadata/properties" ma:root="true" ma:fieldsID="79197425f45961dcb975a55f67a80289" ns2:_="">
    <xsd:import namespace="09f0d035-db3a-41e2-9c9f-cd4fb34600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f0d035-db3a-41e2-9c9f-cd4fb34600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8FA5B5C-54F3-4033-85F3-47D3CA40181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F484F3-994E-4E11-AD4F-EEB367778A5E}"/>
</file>

<file path=customXml/itemProps3.xml><?xml version="1.0" encoding="utf-8"?>
<ds:datastoreItem xmlns:ds="http://schemas.openxmlformats.org/officeDocument/2006/customXml" ds:itemID="{24E3221D-5E9B-4402-A064-CB49313E628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c6dc340a-7c91-4274-b2cf-9086e6b71284"/>
    <ds:schemaRef ds:uri="cd7206cd-d979-4761-a191-6f271d209b9a"/>
  </ds:schemaRefs>
</ds:datastoreItem>
</file>

<file path=docMetadata/LabelInfo.xml><?xml version="1.0" encoding="utf-8"?>
<clbl:labelList xmlns:clbl="http://schemas.microsoft.com/office/2020/mipLabelMetadata">
  <clbl:label id="{36970c53-fc97-4c45-87e9-80615808800c}" enabled="1" method="Standard" siteId="{2c94bed6-d675-4d3d-a53b-7b461fd6acc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 EC - Orders Review &amp; Sales Prep Questionnaire</dc:title>
  <cp:revision>3</cp:revision>
  <dcterms:created xsi:type="dcterms:W3CDTF">2006-08-16T00:00:00Z</dcterms:created>
  <dcterms:modified xsi:type="dcterms:W3CDTF">2026-07-29T17:25:58Z</dcterms:modified>
  <dc:identifier>DAHQsR7Aero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0x010100B811A7D7C6AF7C4B84849BBC7AECD042</vt:lpwstr>
  </property>
  <property fmtid="{D5CDD505-2E9C-101B-9397-08002B2CF9AE}" pid="3" name="ClassificationContentMarkingFooterLocations">
    <vt:lpwstr>Office Theme:10</vt:lpwstr>
  </property>
  <property fmtid="{D5CDD505-2E9C-101B-9397-08002B2CF9AE}" pid="4" name="ClassificationContentMarkingFooterText">
    <vt:lpwstr>For RealPage Internal Use Only</vt:lpwstr>
  </property>
  <property fmtid="{D5CDD505-2E9C-101B-9397-08002B2CF9AE}" pid="5" name="ClassificationContentMarkingHeaderLocations">
    <vt:lpwstr>Office Theme:9</vt:lpwstr>
  </property>
  <property fmtid="{D5CDD505-2E9C-101B-9397-08002B2CF9AE}" pid="6" name="ClassificationContentMarkingHeaderText">
    <vt:lpwstr>Internal Use</vt:lpwstr>
  </property>
  <property fmtid="{D5CDD505-2E9C-101B-9397-08002B2CF9AE}" pid="7" name="MediaServiceImageTags">
    <vt:lpwstr/>
  </property>
</Properties>
</file>