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E1BBC6-8E3E-05A4-6C1F-DE601FCEAEC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29300" y="63500"/>
            <a:ext cx="5540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Use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72B09B-C6D1-08AF-E4A3-C4E84E4FC8B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251450" y="6642100"/>
            <a:ext cx="17145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For RealPage Internal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9CFC9F5-A8C2-4B11-80F0-69763BA3862A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52400" cy="1676400"/>
          </a:xfrm>
          <a:prstGeom prst="rect">
            <a:avLst/>
          </a:prstGeom>
          <a:solidFill>
            <a:srgbClr val="1D70F7"/>
          </a:solidFill>
          <a:ln w="9525">
            <a:solidFill>
              <a:srgbClr val="1D7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A4CCBD-48FC-44C5-BF74-831EC3CE265E}"/>
              </a:ext>
            </a:extLst>
          </p:cNvPr>
          <p:cNvSpPr>
            <a:spLocks noGrp="1"/>
          </p:cNvSpPr>
          <p:nvPr/>
        </p:nvSpPr>
        <p:spPr>
          <a:xfrm>
            <a:off x="1104900" y="87630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D70F7"/>
                </a:solidFill>
              </a:defRPr>
            </a:pPr>
            <a:r>
              <a:rPr lang="en-US" sz="1125" b="1" dirty="0">
                <a:solidFill>
                  <a:srgbClr val="1D70F7"/>
                </a:solidFill>
              </a:rPr>
              <a:t>PH Engagement Coordinator</a:t>
            </a:r>
            <a:endParaRPr sz="1125" b="1" dirty="0">
              <a:solidFill>
                <a:srgbClr val="1D70F7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ED935D-FFF9-4CBA-87C9-E4FD856B5417}"/>
              </a:ext>
            </a:extLst>
          </p:cNvPr>
          <p:cNvSpPr>
            <a:spLocks noGrp="1"/>
          </p:cNvSpPr>
          <p:nvPr/>
        </p:nvSpPr>
        <p:spPr>
          <a:xfrm>
            <a:off x="1104900" y="1428750"/>
            <a:ext cx="6572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Product dependency</a:t>
            </a:r>
          </a:p>
          <a:p>
            <a:pPr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workflow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A710C6-237A-4EC8-AB9B-88DDC692B820}"/>
              </a:ext>
            </a:extLst>
          </p:cNvPr>
          <p:cNvSpPr>
            <a:spLocks noGrp="1"/>
          </p:cNvSpPr>
          <p:nvPr/>
        </p:nvSpPr>
        <p:spPr>
          <a:xfrm>
            <a:off x="1104900" y="2971800"/>
            <a:ext cx="619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52606D"/>
                </a:solidFill>
              </a:defRPr>
            </a:pPr>
            <a:r>
              <a:rPr sz="1650" b="0" dirty="0">
                <a:solidFill>
                  <a:srgbClr val="52606D"/>
                </a:solidFill>
              </a:rPr>
              <a:t>How to sequence setup, activation, go-live, and integrations across the product ecosystem.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A711525-750F-4215-9A2A-A3815E743C04}"/>
              </a:ext>
            </a:extLst>
          </p:cNvPr>
          <p:cNvSpPr>
            <a:spLocks noGrp="1"/>
          </p:cNvSpPr>
          <p:nvPr/>
        </p:nvSpPr>
        <p:spPr>
          <a:xfrm>
            <a:off x="8096250" y="1047750"/>
            <a:ext cx="2857500" cy="2857500"/>
          </a:xfrm>
          <a:prstGeom prst="roundRect">
            <a:avLst>
              <a:gd name="adj" fmla="val 2667"/>
            </a:avLst>
          </a:prstGeom>
          <a:solidFill>
            <a:srgbClr val="F4F7FA"/>
          </a:solidFill>
          <a:ln w="9525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897C16-5D52-4892-8A0A-8F70D0E9CC21}"/>
              </a:ext>
            </a:extLst>
          </p:cNvPr>
          <p:cNvSpPr>
            <a:spLocks noGrp="1"/>
          </p:cNvSpPr>
          <p:nvPr/>
        </p:nvSpPr>
        <p:spPr>
          <a:xfrm>
            <a:off x="8572500" y="1619250"/>
            <a:ext cx="1905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D70F7"/>
                </a:solidFill>
              </a:defRPr>
            </a:pPr>
            <a:r>
              <a:rPr sz="2550" b="1">
                <a:solidFill>
                  <a:srgbClr val="1D70F7"/>
                </a:solidFill>
              </a:rPr>
              <a:t>OneSite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0F561B-5900-43C6-A893-746A1C32922A}"/>
              </a:ext>
            </a:extLst>
          </p:cNvPr>
          <p:cNvSpPr>
            <a:spLocks noGrp="1"/>
          </p:cNvSpPr>
          <p:nvPr/>
        </p:nvSpPr>
        <p:spPr>
          <a:xfrm>
            <a:off x="8572500" y="21336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the core product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BC33B0-D831-489B-BF38-718F890BB5E2}"/>
              </a:ext>
            </a:extLst>
          </p:cNvPr>
          <p:cNvSpPr>
            <a:spLocks noGrp="1"/>
          </p:cNvSpPr>
          <p:nvPr/>
        </p:nvSpPr>
        <p:spPr>
          <a:xfrm>
            <a:off x="8477250" y="2781300"/>
            <a:ext cx="2095500" cy="304800"/>
          </a:xfrm>
          <a:prstGeom prst="roundRect">
            <a:avLst>
              <a:gd name="adj" fmla="val 25000"/>
            </a:avLst>
          </a:prstGeom>
          <a:solidFill>
            <a:srgbClr val="D9F1FF"/>
          </a:solidFill>
          <a:ln w="9525">
            <a:solidFill>
              <a:srgbClr val="D9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69850D-C29D-4C92-928E-BFB0D641FF44}"/>
              </a:ext>
            </a:extLst>
          </p:cNvPr>
          <p:cNvSpPr>
            <a:spLocks noGrp="1"/>
          </p:cNvSpPr>
          <p:nvPr/>
        </p:nvSpPr>
        <p:spPr>
          <a:xfrm>
            <a:off x="8572500" y="28003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SET UP EARLY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E6ADB04-5F02-4307-90BA-2FAA51BEDABC}"/>
              </a:ext>
            </a:extLst>
          </p:cNvPr>
          <p:cNvSpPr>
            <a:spLocks noGrp="1"/>
          </p:cNvSpPr>
          <p:nvPr/>
        </p:nvSpPr>
        <p:spPr>
          <a:xfrm>
            <a:off x="8286750" y="3219450"/>
            <a:ext cx="2476500" cy="304800"/>
          </a:xfrm>
          <a:prstGeom prst="roundRect">
            <a:avLst>
              <a:gd name="adj" fmla="val 25000"/>
            </a:avLst>
          </a:prstGeom>
          <a:solidFill>
            <a:srgbClr val="DDF7E8"/>
          </a:solidFill>
          <a:ln w="9525">
            <a:solidFill>
              <a:srgbClr val="DDF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A52491-E7E4-4573-A08A-5F96D4DC88E4}"/>
              </a:ext>
            </a:extLst>
          </p:cNvPr>
          <p:cNvSpPr>
            <a:spLocks noGrp="1"/>
          </p:cNvSpPr>
          <p:nvPr/>
        </p:nvSpPr>
        <p:spPr>
          <a:xfrm>
            <a:off x="8382000" y="32385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ACTIVATE AFTER ONESITE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296E0D-DE64-447E-A273-3A18B3AF389F}"/>
              </a:ext>
            </a:extLst>
          </p:cNvPr>
          <p:cNvSpPr>
            <a:spLocks noGrp="1"/>
          </p:cNvSpPr>
          <p:nvPr/>
        </p:nvSpPr>
        <p:spPr>
          <a:xfrm>
            <a:off x="1104900" y="561975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Use this workflow to build realistic implementation timelines and avoid sequencing risks.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DD5B06-776B-4807-AEA4-A5DEC73EFA3D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52606D"/>
                </a:solidFill>
              </a:defRPr>
            </a:pPr>
            <a:r>
              <a:rPr sz="825" b="0">
                <a:solidFill>
                  <a:srgbClr val="52606D"/>
                </a:solidFill>
              </a:rPr>
              <a:t>Engagement Coordinator Training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A7907A-F3F1-4A38-8E49-28A3E3CD2367}"/>
              </a:ext>
            </a:extLst>
          </p:cNvPr>
          <p:cNvSpPr>
            <a:spLocks noGrp="1"/>
          </p:cNvSpPr>
          <p:nvPr/>
        </p:nvSpPr>
        <p:spPr>
          <a:xfrm>
            <a:off x="10953750" y="64770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28859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2648E9B-D6C5-4925-B09C-6E0DECF5AD61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D70F7"/>
                </a:solidFill>
              </a:defRPr>
            </a:pPr>
            <a:r>
              <a:rPr sz="1050" b="1">
                <a:solidFill>
                  <a:srgbClr val="1D70F7"/>
                </a:solidFill>
              </a:rPr>
              <a:t>01 / THE RULE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3EEDC8-2AC5-4F47-8A4B-ABB31E902326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Separate setup from activation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0A683F-5E9D-4DDE-AD7C-27AB137239A6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A product may be prepared early even when its activation depends on another product.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8A89F6-C426-43F3-B351-DF130825F1EC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10820400" cy="19050"/>
          </a:xfrm>
          <a:prstGeom prst="rect">
            <a:avLst/>
          </a:prstGeom>
          <a:solidFill>
            <a:srgbClr val="1D70F7"/>
          </a:solidFill>
          <a:ln w="9525">
            <a:solidFill>
              <a:srgbClr val="1D7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3F0FC9-D6E1-4358-BECE-171588E832FF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3143250" cy="1619250"/>
          </a:xfrm>
          <a:prstGeom prst="roundRect">
            <a:avLst>
              <a:gd name="adj" fmla="val 4706"/>
            </a:avLst>
          </a:prstGeom>
          <a:solidFill>
            <a:srgbClr val="D9F1FF"/>
          </a:solidFill>
          <a:ln w="9525">
            <a:solidFill>
              <a:srgbClr val="D9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3D60B4A-A765-4415-B669-EBD97BE397FB}"/>
              </a:ext>
            </a:extLst>
          </p:cNvPr>
          <p:cNvSpPr>
            <a:spLocks noGrp="1"/>
          </p:cNvSpPr>
          <p:nvPr/>
        </p:nvSpPr>
        <p:spPr>
          <a:xfrm>
            <a:off x="857250" y="245745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1D70F7"/>
          </a:solidFill>
          <a:ln w="9525">
            <a:solidFill>
              <a:srgbClr val="1D7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81BD66-9957-4A7E-A8E0-A6145AAC0DE2}"/>
              </a:ext>
            </a:extLst>
          </p:cNvPr>
          <p:cNvSpPr>
            <a:spLocks noGrp="1"/>
          </p:cNvSpPr>
          <p:nvPr/>
        </p:nvSpPr>
        <p:spPr>
          <a:xfrm>
            <a:off x="857250" y="2476500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655AAC-9043-4899-8234-C86E5F8D9B4C}"/>
              </a:ext>
            </a:extLst>
          </p:cNvPr>
          <p:cNvSpPr>
            <a:spLocks noGrp="1"/>
          </p:cNvSpPr>
          <p:nvPr/>
        </p:nvSpPr>
        <p:spPr>
          <a:xfrm>
            <a:off x="857250" y="2933700"/>
            <a:ext cx="2800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Prepare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D5BFE5-1513-4140-BA44-9DA88B637982}"/>
              </a:ext>
            </a:extLst>
          </p:cNvPr>
          <p:cNvSpPr>
            <a:spLocks noGrp="1"/>
          </p:cNvSpPr>
          <p:nvPr/>
        </p:nvSpPr>
        <p:spPr>
          <a:xfrm>
            <a:off x="857250" y="3314700"/>
            <a:ext cx="2800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Configuration, data gathering, and readiness work can begin.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90173E-AF09-46F8-9C59-3A0A47E7D6BF}"/>
              </a:ext>
            </a:extLst>
          </p:cNvPr>
          <p:cNvSpPr>
            <a:spLocks noGrp="1"/>
          </p:cNvSpPr>
          <p:nvPr/>
        </p:nvSpPr>
        <p:spPr>
          <a:xfrm>
            <a:off x="4019550" y="2819400"/>
            <a:ext cx="552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D70F7"/>
                </a:solidFill>
              </a:defRPr>
            </a:pPr>
            <a:r>
              <a:rPr sz="2550" b="1">
                <a:solidFill>
                  <a:srgbClr val="1D70F7"/>
                </a:solidFill>
              </a:rPr>
              <a:t>→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78F44AC-EAC7-457F-BC3B-B80D5B6D5914}"/>
              </a:ext>
            </a:extLst>
          </p:cNvPr>
          <p:cNvSpPr>
            <a:spLocks noGrp="1"/>
          </p:cNvSpPr>
          <p:nvPr/>
        </p:nvSpPr>
        <p:spPr>
          <a:xfrm>
            <a:off x="4495800" y="2286000"/>
            <a:ext cx="3143250" cy="1619250"/>
          </a:xfrm>
          <a:prstGeom prst="roundRect">
            <a:avLst>
              <a:gd name="adj" fmla="val 4706"/>
            </a:avLst>
          </a:prstGeom>
          <a:solidFill>
            <a:srgbClr val="DDF7E8"/>
          </a:solidFill>
          <a:ln w="9525">
            <a:solidFill>
              <a:srgbClr val="DDF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ABBEFFA-D5EE-4563-A6FA-13473FA9F204}"/>
              </a:ext>
            </a:extLst>
          </p:cNvPr>
          <p:cNvSpPr>
            <a:spLocks noGrp="1"/>
          </p:cNvSpPr>
          <p:nvPr/>
        </p:nvSpPr>
        <p:spPr>
          <a:xfrm>
            <a:off x="4667250" y="245745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1D70F7"/>
          </a:solidFill>
          <a:ln w="9525">
            <a:solidFill>
              <a:srgbClr val="1D7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D1EBBD-07BE-4558-A918-70E4ECF31322}"/>
              </a:ext>
            </a:extLst>
          </p:cNvPr>
          <p:cNvSpPr>
            <a:spLocks noGrp="1"/>
          </p:cNvSpPr>
          <p:nvPr/>
        </p:nvSpPr>
        <p:spPr>
          <a:xfrm>
            <a:off x="4667250" y="2476500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58B0E1-BB56-4E9B-AC5B-88A9DE11B5F1}"/>
              </a:ext>
            </a:extLst>
          </p:cNvPr>
          <p:cNvSpPr>
            <a:spLocks noGrp="1"/>
          </p:cNvSpPr>
          <p:nvPr/>
        </p:nvSpPr>
        <p:spPr>
          <a:xfrm>
            <a:off x="4667250" y="2933700"/>
            <a:ext cx="2800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Activate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517DE1-0C2A-423C-B1FF-F97AF290D567}"/>
              </a:ext>
            </a:extLst>
          </p:cNvPr>
          <p:cNvSpPr>
            <a:spLocks noGrp="1"/>
          </p:cNvSpPr>
          <p:nvPr/>
        </p:nvSpPr>
        <p:spPr>
          <a:xfrm>
            <a:off x="4667250" y="3314700"/>
            <a:ext cx="2800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The product becomes usable once its required dependency is live.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3ABC21-A772-43C8-AB7E-FCF0FEB59C8E}"/>
              </a:ext>
            </a:extLst>
          </p:cNvPr>
          <p:cNvSpPr>
            <a:spLocks noGrp="1"/>
          </p:cNvSpPr>
          <p:nvPr/>
        </p:nvSpPr>
        <p:spPr>
          <a:xfrm>
            <a:off x="7829550" y="2819400"/>
            <a:ext cx="552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D70F7"/>
                </a:solidFill>
              </a:defRPr>
            </a:pPr>
            <a:r>
              <a:rPr sz="2550" b="1">
                <a:solidFill>
                  <a:srgbClr val="1D70F7"/>
                </a:solidFill>
              </a:rPr>
              <a:t>→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3A4AEF7-AFC3-4E01-B9D0-69E9AD6C1E41}"/>
              </a:ext>
            </a:extLst>
          </p:cNvPr>
          <p:cNvSpPr>
            <a:spLocks noGrp="1"/>
          </p:cNvSpPr>
          <p:nvPr/>
        </p:nvSpPr>
        <p:spPr>
          <a:xfrm>
            <a:off x="8305800" y="2286000"/>
            <a:ext cx="3200400" cy="1619250"/>
          </a:xfrm>
          <a:prstGeom prst="roundRect">
            <a:avLst>
              <a:gd name="adj" fmla="val 4706"/>
            </a:avLst>
          </a:prstGeom>
          <a:solidFill>
            <a:srgbClr val="FFF0C2"/>
          </a:solidFill>
          <a:ln w="9525">
            <a:solidFill>
              <a:srgbClr val="FFF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1BD3BDD-8BDA-4D37-B347-7E99C57E26FF}"/>
              </a:ext>
            </a:extLst>
          </p:cNvPr>
          <p:cNvSpPr>
            <a:spLocks noGrp="1"/>
          </p:cNvSpPr>
          <p:nvPr/>
        </p:nvSpPr>
        <p:spPr>
          <a:xfrm>
            <a:off x="8477250" y="245745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1D70F7"/>
          </a:solidFill>
          <a:ln w="9525">
            <a:solidFill>
              <a:srgbClr val="1D7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D501AC-0335-4925-AF86-F0653D74B6D6}"/>
              </a:ext>
            </a:extLst>
          </p:cNvPr>
          <p:cNvSpPr>
            <a:spLocks noGrp="1"/>
          </p:cNvSpPr>
          <p:nvPr/>
        </p:nvSpPr>
        <p:spPr>
          <a:xfrm>
            <a:off x="8477250" y="2476500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F518F1-67CF-4853-8D04-D6DA4CB95DAE}"/>
              </a:ext>
            </a:extLst>
          </p:cNvPr>
          <p:cNvSpPr>
            <a:spLocks noGrp="1"/>
          </p:cNvSpPr>
          <p:nvPr/>
        </p:nvSpPr>
        <p:spPr>
          <a:xfrm>
            <a:off x="8477250" y="29337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Integrate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6D564D-212B-4D3D-887D-B0064FA3756A}"/>
              </a:ext>
            </a:extLst>
          </p:cNvPr>
          <p:cNvSpPr>
            <a:spLocks noGrp="1"/>
          </p:cNvSpPr>
          <p:nvPr/>
        </p:nvSpPr>
        <p:spPr>
          <a:xfrm>
            <a:off x="8477250" y="331470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Connect the product to OneSite or other required products.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430EE8-F1CC-4318-A53E-ED4EBAF162C1}"/>
              </a:ext>
            </a:extLst>
          </p:cNvPr>
          <p:cNvSpPr>
            <a:spLocks noGrp="1"/>
          </p:cNvSpPr>
          <p:nvPr/>
        </p:nvSpPr>
        <p:spPr>
          <a:xfrm>
            <a:off x="685800" y="4495800"/>
            <a:ext cx="10820400" cy="895350"/>
          </a:xfrm>
          <a:prstGeom prst="roundRect">
            <a:avLst>
              <a:gd name="adj" fmla="val 8511"/>
            </a:avLst>
          </a:prstGeom>
          <a:solidFill>
            <a:srgbClr val="F4F7FA"/>
          </a:solidFill>
          <a:ln w="9525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A0A486-D71B-48CC-8DB5-953316BC31BF}"/>
              </a:ext>
            </a:extLst>
          </p:cNvPr>
          <p:cNvSpPr>
            <a:spLocks noGrp="1"/>
          </p:cNvSpPr>
          <p:nvPr/>
        </p:nvSpPr>
        <p:spPr>
          <a:xfrm>
            <a:off x="914400" y="464820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D70F7"/>
                </a:solidFill>
              </a:defRPr>
            </a:pPr>
            <a:r>
              <a:rPr sz="1200" b="1">
                <a:solidFill>
                  <a:srgbClr val="1D70F7"/>
                </a:solidFill>
              </a:rPr>
              <a:t>Coordinator mindset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EF42FE8-1313-4A7E-BEC1-EF68807D1CA0}"/>
              </a:ext>
            </a:extLst>
          </p:cNvPr>
          <p:cNvSpPr>
            <a:spLocks noGrp="1"/>
          </p:cNvSpPr>
          <p:nvPr/>
        </p:nvSpPr>
        <p:spPr>
          <a:xfrm>
            <a:off x="914400" y="4972050"/>
            <a:ext cx="1000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Always ask: “Can we set it up now?” and “What must be live before we activate it?”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D4E530-AE7B-400C-8153-8BC4423B1FDE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52606D"/>
                </a:solidFill>
              </a:defRPr>
            </a:pPr>
            <a:r>
              <a:rPr sz="825" b="0">
                <a:solidFill>
                  <a:srgbClr val="52606D"/>
                </a:solidFill>
              </a:rPr>
              <a:t>Engagement Coordinator Training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777B1D-EF29-4E16-8339-3C898BB07FD9}"/>
              </a:ext>
            </a:extLst>
          </p:cNvPr>
          <p:cNvSpPr>
            <a:spLocks noGrp="1"/>
          </p:cNvSpPr>
          <p:nvPr/>
        </p:nvSpPr>
        <p:spPr>
          <a:xfrm>
            <a:off x="10953750" y="64770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46012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1652E4FB-F351-4B6E-B928-A588590361BB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D70F7"/>
                </a:solidFill>
              </a:defRPr>
            </a:pPr>
            <a:r>
              <a:rPr sz="1050" b="1">
                <a:solidFill>
                  <a:srgbClr val="1D70F7"/>
                </a:solidFill>
              </a:rPr>
              <a:t>02 / BEFORE ONESITE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989DAC-CAC1-48ED-90FE-1ABFC401933E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Use the early window for parallel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6B9E84-8E49-4D1C-B4F0-14FCF7AF65D6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These products can move forward while the OneSite timeline is still being finalized.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6A2EF1-64A5-4276-AE12-976DC1D27CDE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10820400" cy="19050"/>
          </a:xfrm>
          <a:prstGeom prst="rect">
            <a:avLst/>
          </a:prstGeom>
          <a:solidFill>
            <a:srgbClr val="1D70F7"/>
          </a:solidFill>
          <a:ln w="9525">
            <a:solidFill>
              <a:srgbClr val="1D7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F7A477-008B-4122-9B82-D6DB7AAFE204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34290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5E90EB-881A-40AA-B719-65D85A2F3453}"/>
              </a:ext>
            </a:extLst>
          </p:cNvPr>
          <p:cNvSpPr>
            <a:spLocks noGrp="1"/>
          </p:cNvSpPr>
          <p:nvPr/>
        </p:nvSpPr>
        <p:spPr>
          <a:xfrm>
            <a:off x="857250" y="217170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Accounting Entity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D14337-A46C-4830-9536-1D9DA98A8460}"/>
              </a:ext>
            </a:extLst>
          </p:cNvPr>
          <p:cNvSpPr>
            <a:spLocks noGrp="1"/>
          </p:cNvSpPr>
          <p:nvPr/>
        </p:nvSpPr>
        <p:spPr>
          <a:xfrm>
            <a:off x="4324350" y="2133600"/>
            <a:ext cx="71818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A4F385-7FB3-4C91-8A33-ED843A08B529}"/>
              </a:ext>
            </a:extLst>
          </p:cNvPr>
          <p:cNvSpPr>
            <a:spLocks noGrp="1"/>
          </p:cNvSpPr>
          <p:nvPr/>
        </p:nvSpPr>
        <p:spPr>
          <a:xfrm>
            <a:off x="4533900" y="2171700"/>
            <a:ext cx="676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Create anytime → integrate with OneSite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741BA1-45F4-45E2-A6A4-BBC5C78F633D}"/>
              </a:ext>
            </a:extLst>
          </p:cNvPr>
          <p:cNvSpPr>
            <a:spLocks noGrp="1"/>
          </p:cNvSpPr>
          <p:nvPr/>
        </p:nvSpPr>
        <p:spPr>
          <a:xfrm>
            <a:off x="685800" y="2714625"/>
            <a:ext cx="3429000" cy="428625"/>
          </a:xfrm>
          <a:prstGeom prst="rect">
            <a:avLst/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153BA8-62AE-4DEA-B81A-A9D6CE65F30F}"/>
              </a:ext>
            </a:extLst>
          </p:cNvPr>
          <p:cNvSpPr>
            <a:spLocks noGrp="1"/>
          </p:cNvSpPr>
          <p:nvPr/>
        </p:nvSpPr>
        <p:spPr>
          <a:xfrm>
            <a:off x="857250" y="2752725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Payments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368B4B-2E12-4FDB-BEA6-778DEF05D4AE}"/>
              </a:ext>
            </a:extLst>
          </p:cNvPr>
          <p:cNvSpPr>
            <a:spLocks noGrp="1"/>
          </p:cNvSpPr>
          <p:nvPr/>
        </p:nvSpPr>
        <p:spPr>
          <a:xfrm>
            <a:off x="4324350" y="2714625"/>
            <a:ext cx="7181850" cy="428625"/>
          </a:xfrm>
          <a:prstGeom prst="rect">
            <a:avLst/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1246C9-9C59-4B3D-B602-4ECAB968B452}"/>
              </a:ext>
            </a:extLst>
          </p:cNvPr>
          <p:cNvSpPr>
            <a:spLocks noGrp="1"/>
          </p:cNvSpPr>
          <p:nvPr/>
        </p:nvSpPr>
        <p:spPr>
          <a:xfrm>
            <a:off x="4533900" y="2752725"/>
            <a:ext cx="676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Setup can begin early → activate after OneSite is live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6DA580-14F8-4113-82CD-4923E89D6A22}"/>
              </a:ext>
            </a:extLst>
          </p:cNvPr>
          <p:cNvSpPr>
            <a:spLocks noGrp="1"/>
          </p:cNvSpPr>
          <p:nvPr/>
        </p:nvSpPr>
        <p:spPr>
          <a:xfrm>
            <a:off x="685800" y="3295650"/>
            <a:ext cx="34290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12B5BE-CDF4-42B1-B9EF-6C95B01833C0}"/>
              </a:ext>
            </a:extLst>
          </p:cNvPr>
          <p:cNvSpPr>
            <a:spLocks noGrp="1"/>
          </p:cNvSpPr>
          <p:nvPr/>
        </p:nvSpPr>
        <p:spPr>
          <a:xfrm>
            <a:off x="857250" y="33337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Knock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195C02-665F-42FB-A1C5-ACE8470C2158}"/>
              </a:ext>
            </a:extLst>
          </p:cNvPr>
          <p:cNvSpPr>
            <a:spLocks noGrp="1"/>
          </p:cNvSpPr>
          <p:nvPr/>
        </p:nvSpPr>
        <p:spPr>
          <a:xfrm>
            <a:off x="4324350" y="3295650"/>
            <a:ext cx="71818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3AEAEC-D836-4625-B06B-65C014FDE8EF}"/>
              </a:ext>
            </a:extLst>
          </p:cNvPr>
          <p:cNvSpPr>
            <a:spLocks noGrp="1"/>
          </p:cNvSpPr>
          <p:nvPr/>
        </p:nvSpPr>
        <p:spPr>
          <a:xfrm>
            <a:off x="4533900" y="3333750"/>
            <a:ext cx="676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Can go live early → integrate with OneSite later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D50AB6-4E17-4427-A2FF-038E56E659A5}"/>
              </a:ext>
            </a:extLst>
          </p:cNvPr>
          <p:cNvSpPr>
            <a:spLocks noGrp="1"/>
          </p:cNvSpPr>
          <p:nvPr/>
        </p:nvSpPr>
        <p:spPr>
          <a:xfrm>
            <a:off x="685800" y="3876675"/>
            <a:ext cx="3429000" cy="428625"/>
          </a:xfrm>
          <a:prstGeom prst="rect">
            <a:avLst/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74EDBA-4A3E-4A66-8C6D-89603EE3EE33}"/>
              </a:ext>
            </a:extLst>
          </p:cNvPr>
          <p:cNvSpPr>
            <a:spLocks noGrp="1"/>
          </p:cNvSpPr>
          <p:nvPr/>
        </p:nvSpPr>
        <p:spPr>
          <a:xfrm>
            <a:off x="857250" y="3914775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Website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B493E6-C092-4EC1-BA08-251AC1DCF20F}"/>
              </a:ext>
            </a:extLst>
          </p:cNvPr>
          <p:cNvSpPr>
            <a:spLocks noGrp="1"/>
          </p:cNvSpPr>
          <p:nvPr/>
        </p:nvSpPr>
        <p:spPr>
          <a:xfrm>
            <a:off x="4324350" y="3876675"/>
            <a:ext cx="7181850" cy="428625"/>
          </a:xfrm>
          <a:prstGeom prst="rect">
            <a:avLst/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5C596C-1645-4E24-A803-55EAB6FDBB55}"/>
              </a:ext>
            </a:extLst>
          </p:cNvPr>
          <p:cNvSpPr>
            <a:spLocks noGrp="1"/>
          </p:cNvSpPr>
          <p:nvPr/>
        </p:nvSpPr>
        <p:spPr>
          <a:xfrm>
            <a:off x="4533900" y="3914775"/>
            <a:ext cx="676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Set up early → complete integrations later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E69C87-5C7E-4CC8-B809-C9915F585808}"/>
              </a:ext>
            </a:extLst>
          </p:cNvPr>
          <p:cNvSpPr>
            <a:spLocks noGrp="1"/>
          </p:cNvSpPr>
          <p:nvPr/>
        </p:nvSpPr>
        <p:spPr>
          <a:xfrm>
            <a:off x="685800" y="4457700"/>
            <a:ext cx="34290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6A9375-30F1-41FA-A143-AD93BB8A5BD4}"/>
              </a:ext>
            </a:extLst>
          </p:cNvPr>
          <p:cNvSpPr>
            <a:spLocks noGrp="1"/>
          </p:cNvSpPr>
          <p:nvPr/>
        </p:nvSpPr>
        <p:spPr>
          <a:xfrm>
            <a:off x="857250" y="449580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Contact Center Answer Automation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7D57D3-D4E4-469C-A826-049D439EA3A6}"/>
              </a:ext>
            </a:extLst>
          </p:cNvPr>
          <p:cNvSpPr>
            <a:spLocks noGrp="1"/>
          </p:cNvSpPr>
          <p:nvPr/>
        </p:nvSpPr>
        <p:spPr>
          <a:xfrm>
            <a:off x="4324350" y="4457700"/>
            <a:ext cx="71818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EB183A-D611-416C-B073-A1A04574C1D5}"/>
              </a:ext>
            </a:extLst>
          </p:cNvPr>
          <p:cNvSpPr>
            <a:spLocks noGrp="1"/>
          </p:cNvSpPr>
          <p:nvPr/>
        </p:nvSpPr>
        <p:spPr>
          <a:xfrm>
            <a:off x="4533900" y="4495800"/>
            <a:ext cx="676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Can go live prior to OneSite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46A4E89-CA60-412D-B6F0-6D493BC8CFC6}"/>
              </a:ext>
            </a:extLst>
          </p:cNvPr>
          <p:cNvSpPr>
            <a:spLocks noGrp="1"/>
          </p:cNvSpPr>
          <p:nvPr/>
        </p:nvSpPr>
        <p:spPr>
          <a:xfrm>
            <a:off x="685800" y="5038725"/>
            <a:ext cx="3429000" cy="428625"/>
          </a:xfrm>
          <a:prstGeom prst="rect">
            <a:avLst/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97BAC7-E150-4065-A225-7EC2EFEE6117}"/>
              </a:ext>
            </a:extLst>
          </p:cNvPr>
          <p:cNvSpPr>
            <a:spLocks noGrp="1"/>
          </p:cNvSpPr>
          <p:nvPr/>
        </p:nvSpPr>
        <p:spPr>
          <a:xfrm>
            <a:off x="857250" y="5076825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eSupply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8C8F7F-BC9D-4C4C-ACB3-11A7DE9486AC}"/>
              </a:ext>
            </a:extLst>
          </p:cNvPr>
          <p:cNvSpPr>
            <a:spLocks noGrp="1"/>
          </p:cNvSpPr>
          <p:nvPr/>
        </p:nvSpPr>
        <p:spPr>
          <a:xfrm>
            <a:off x="4324350" y="5038725"/>
            <a:ext cx="7181850" cy="428625"/>
          </a:xfrm>
          <a:prstGeom prst="rect">
            <a:avLst/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5E6175C-3EEA-4FEB-8564-A4B3B3318D71}"/>
              </a:ext>
            </a:extLst>
          </p:cNvPr>
          <p:cNvSpPr>
            <a:spLocks noGrp="1"/>
          </p:cNvSpPr>
          <p:nvPr/>
        </p:nvSpPr>
        <p:spPr>
          <a:xfrm>
            <a:off x="4533900" y="5076825"/>
            <a:ext cx="676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No product dependencies → go live anytime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85D049C-41A9-43F0-81B0-6816FBCE1865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820400" cy="419100"/>
          </a:xfrm>
          <a:prstGeom prst="roundRect">
            <a:avLst>
              <a:gd name="adj" fmla="val 18182"/>
            </a:avLst>
          </a:prstGeom>
          <a:solidFill>
            <a:srgbClr val="D9F1FF"/>
          </a:solidFill>
          <a:ln w="9525">
            <a:solidFill>
              <a:srgbClr val="D9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29C310D-75CF-4066-AE74-D19E96C2F9D5}"/>
              </a:ext>
            </a:extLst>
          </p:cNvPr>
          <p:cNvSpPr>
            <a:spLocks noGrp="1"/>
          </p:cNvSpPr>
          <p:nvPr/>
        </p:nvSpPr>
        <p:spPr>
          <a:xfrm>
            <a:off x="914400" y="5857875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Key watch-out: early setup does not automatically mean early activation.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76A2405-FCB3-42A4-B76A-3E4BE393D835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52606D"/>
                </a:solidFill>
              </a:defRPr>
            </a:pPr>
            <a:r>
              <a:rPr sz="825" b="0">
                <a:solidFill>
                  <a:srgbClr val="52606D"/>
                </a:solidFill>
              </a:rPr>
              <a:t>Engagement Coordinator Training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EEB75A8-A9F8-461F-9B15-BEEDBDF23C68}"/>
              </a:ext>
            </a:extLst>
          </p:cNvPr>
          <p:cNvSpPr>
            <a:spLocks noGrp="1"/>
          </p:cNvSpPr>
          <p:nvPr/>
        </p:nvSpPr>
        <p:spPr>
          <a:xfrm>
            <a:off x="10953750" y="64770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09071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D1770302-DCA9-461A-837D-16FE6AF9BD7F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D70F7"/>
                </a:solidFill>
              </a:defRPr>
            </a:pPr>
            <a:r>
              <a:rPr sz="1050" b="1">
                <a:solidFill>
                  <a:srgbClr val="1D70F7"/>
                </a:solidFill>
              </a:rPr>
              <a:t>03 / ONESITE MILESTONE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9DF727-B7B2-4D16-92F1-1DB14D6EEB08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OneSite unlocks the main go-live cluster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9EF7AC-B686-4A19-942B-7CAAB82920A8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2606D"/>
                </a:solidFill>
              </a:defRPr>
            </a:pPr>
            <a:r>
              <a:rPr sz="1350" b="0" dirty="0">
                <a:solidFill>
                  <a:srgbClr val="52606D"/>
                </a:solidFill>
              </a:rPr>
              <a:t>Schedule the products below with OneSite and confirm their readiness criteria before launch.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05DE13-7DD5-4BBA-81A6-336FA3E4F1DB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10820400" cy="19050"/>
          </a:xfrm>
          <a:prstGeom prst="rect">
            <a:avLst/>
          </a:prstGeom>
          <a:solidFill>
            <a:srgbClr val="1D70F7"/>
          </a:solidFill>
          <a:ln w="9525">
            <a:solidFill>
              <a:srgbClr val="1D7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39A0757-C284-45C0-B491-1AFC40E806D9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5143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30DB4F-DC40-4DDD-836F-5BE862A7B0B7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114300" cy="400050"/>
          </a:xfrm>
          <a:prstGeom prst="rect">
            <a:avLst/>
          </a:prstGeom>
          <a:solidFill>
            <a:srgbClr val="1D70F7"/>
          </a:solidFill>
          <a:ln w="9525">
            <a:solidFill>
              <a:srgbClr val="1D7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8B5223-2139-49EB-9313-D25EB67F866D}"/>
              </a:ext>
            </a:extLst>
          </p:cNvPr>
          <p:cNvSpPr>
            <a:spLocks noGrp="1"/>
          </p:cNvSpPr>
          <p:nvPr/>
        </p:nvSpPr>
        <p:spPr>
          <a:xfrm>
            <a:off x="1162050" y="232410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ODEs + SDEs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EDCBDD-2331-4D25-9C02-6184E22ABFB0}"/>
              </a:ext>
            </a:extLst>
          </p:cNvPr>
          <p:cNvSpPr>
            <a:spLocks noGrp="1"/>
          </p:cNvSpPr>
          <p:nvPr/>
        </p:nvSpPr>
        <p:spPr>
          <a:xfrm>
            <a:off x="1162050" y="2609850"/>
            <a:ext cx="428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Go live with OneSite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05B8578-E285-4DB8-85C7-B63897C6EFB9}"/>
              </a:ext>
            </a:extLst>
          </p:cNvPr>
          <p:cNvSpPr>
            <a:spLocks noGrp="1"/>
          </p:cNvSpPr>
          <p:nvPr/>
        </p:nvSpPr>
        <p:spPr>
          <a:xfrm>
            <a:off x="6191250" y="2209800"/>
            <a:ext cx="5143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64CD88-3DAC-4E48-A689-E9A0D3FD8F01}"/>
              </a:ext>
            </a:extLst>
          </p:cNvPr>
          <p:cNvSpPr>
            <a:spLocks noGrp="1"/>
          </p:cNvSpPr>
          <p:nvPr/>
        </p:nvSpPr>
        <p:spPr>
          <a:xfrm>
            <a:off x="6362700" y="2381250"/>
            <a:ext cx="114300" cy="400050"/>
          </a:xfrm>
          <a:prstGeom prst="rect">
            <a:avLst/>
          </a:prstGeom>
          <a:solidFill>
            <a:srgbClr val="1D70F7"/>
          </a:solidFill>
          <a:ln w="9525">
            <a:solidFill>
              <a:srgbClr val="1D7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88D071-CB09-46BC-936D-327998CFE84E}"/>
              </a:ext>
            </a:extLst>
          </p:cNvPr>
          <p:cNvSpPr>
            <a:spLocks noGrp="1"/>
          </p:cNvSpPr>
          <p:nvPr/>
        </p:nvSpPr>
        <p:spPr>
          <a:xfrm>
            <a:off x="6667500" y="232410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Facilities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5FCAC-A197-4732-A67C-EBD122F03E83}"/>
              </a:ext>
            </a:extLst>
          </p:cNvPr>
          <p:cNvSpPr>
            <a:spLocks noGrp="1"/>
          </p:cNvSpPr>
          <p:nvPr/>
        </p:nvSpPr>
        <p:spPr>
          <a:xfrm>
            <a:off x="6667500" y="2609850"/>
            <a:ext cx="428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Go live with OneSite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43CD3D5-EE4C-4C36-B04A-364E80E50191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5143500" cy="742950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B0953E-E755-45E3-8152-7405447D507F}"/>
              </a:ext>
            </a:extLst>
          </p:cNvPr>
          <p:cNvSpPr>
            <a:spLocks noGrp="1"/>
          </p:cNvSpPr>
          <p:nvPr/>
        </p:nvSpPr>
        <p:spPr>
          <a:xfrm>
            <a:off x="857250" y="3371850"/>
            <a:ext cx="114300" cy="400050"/>
          </a:xfrm>
          <a:prstGeom prst="rect">
            <a:avLst/>
          </a:prstGeom>
          <a:solidFill>
            <a:srgbClr val="1D70F7"/>
          </a:solidFill>
          <a:ln w="9525">
            <a:solidFill>
              <a:srgbClr val="1D7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C3CEBA-3997-4573-9AD0-8D29B3E298D8}"/>
              </a:ext>
            </a:extLst>
          </p:cNvPr>
          <p:cNvSpPr>
            <a:spLocks noGrp="1"/>
          </p:cNvSpPr>
          <p:nvPr/>
        </p:nvSpPr>
        <p:spPr>
          <a:xfrm>
            <a:off x="1162050" y="331470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Maintenance Management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697CC0-86E3-4309-BD98-F974263BB16E}"/>
              </a:ext>
            </a:extLst>
          </p:cNvPr>
          <p:cNvSpPr>
            <a:spLocks noGrp="1"/>
          </p:cNvSpPr>
          <p:nvPr/>
        </p:nvSpPr>
        <p:spPr>
          <a:xfrm>
            <a:off x="1162050" y="3600450"/>
            <a:ext cx="428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Go live with OneSite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56D5534-98F9-4BC3-8F12-9C57C44162BA}"/>
              </a:ext>
            </a:extLst>
          </p:cNvPr>
          <p:cNvSpPr>
            <a:spLocks noGrp="1"/>
          </p:cNvSpPr>
          <p:nvPr/>
        </p:nvSpPr>
        <p:spPr>
          <a:xfrm>
            <a:off x="6191250" y="3200400"/>
            <a:ext cx="5143500" cy="742950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322DF3-6BD2-4306-B546-07672963BF20}"/>
              </a:ext>
            </a:extLst>
          </p:cNvPr>
          <p:cNvSpPr>
            <a:spLocks noGrp="1"/>
          </p:cNvSpPr>
          <p:nvPr/>
        </p:nvSpPr>
        <p:spPr>
          <a:xfrm>
            <a:off x="6362700" y="3371850"/>
            <a:ext cx="114300" cy="400050"/>
          </a:xfrm>
          <a:prstGeom prst="rect">
            <a:avLst/>
          </a:prstGeom>
          <a:solidFill>
            <a:srgbClr val="1D70F7"/>
          </a:solidFill>
          <a:ln w="9525">
            <a:solidFill>
              <a:srgbClr val="1D7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C37510-0912-437B-9FE8-F4021106A985}"/>
              </a:ext>
            </a:extLst>
          </p:cNvPr>
          <p:cNvSpPr>
            <a:spLocks noGrp="1"/>
          </p:cNvSpPr>
          <p:nvPr/>
        </p:nvSpPr>
        <p:spPr>
          <a:xfrm>
            <a:off x="6667500" y="331470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Screening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2891FE-339E-4876-B125-05091EB02026}"/>
              </a:ext>
            </a:extLst>
          </p:cNvPr>
          <p:cNvSpPr>
            <a:spLocks noGrp="1"/>
          </p:cNvSpPr>
          <p:nvPr/>
        </p:nvSpPr>
        <p:spPr>
          <a:xfrm>
            <a:off x="6667500" y="3600450"/>
            <a:ext cx="428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Go live with OneSite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C28C344-866B-4537-99D3-19B8C4AA4FDB}"/>
              </a:ext>
            </a:extLst>
          </p:cNvPr>
          <p:cNvSpPr>
            <a:spLocks noGrp="1"/>
          </p:cNvSpPr>
          <p:nvPr/>
        </p:nvSpPr>
        <p:spPr>
          <a:xfrm>
            <a:off x="685800" y="4630674"/>
            <a:ext cx="10820400" cy="666750"/>
          </a:xfrm>
          <a:prstGeom prst="roundRect">
            <a:avLst>
              <a:gd name="adj" fmla="val 11429"/>
            </a:avLst>
          </a:prstGeom>
          <a:solidFill>
            <a:srgbClr val="FFF0C2"/>
          </a:solidFill>
          <a:ln w="9525">
            <a:solidFill>
              <a:srgbClr val="FFF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E507F9-84CA-4227-8532-036608C575D3}"/>
              </a:ext>
            </a:extLst>
          </p:cNvPr>
          <p:cNvSpPr>
            <a:spLocks noGrp="1"/>
          </p:cNvSpPr>
          <p:nvPr/>
        </p:nvSpPr>
        <p:spPr>
          <a:xfrm>
            <a:off x="914400" y="4744974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Screening readiness gate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FE5D35A-4E4D-4DD7-AEB0-F1E870142273}"/>
              </a:ext>
            </a:extLst>
          </p:cNvPr>
          <p:cNvSpPr>
            <a:spLocks noGrp="1"/>
          </p:cNvSpPr>
          <p:nvPr/>
        </p:nvSpPr>
        <p:spPr>
          <a:xfrm>
            <a:off x="914400" y="5011674"/>
            <a:ext cx="1000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Identify a property whose screening scoring model can be mirrored before scheduling the go-live.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889F011-3CA8-4E69-938F-DE4E6D887FA9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52606D"/>
                </a:solidFill>
              </a:defRPr>
            </a:pPr>
            <a:r>
              <a:rPr sz="825" b="0">
                <a:solidFill>
                  <a:srgbClr val="52606D"/>
                </a:solidFill>
              </a:rPr>
              <a:t>Engagement Coordinator Training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89526AA-E1B7-449D-854C-8AD87A8E9DDE}"/>
              </a:ext>
            </a:extLst>
          </p:cNvPr>
          <p:cNvSpPr>
            <a:spLocks noGrp="1"/>
          </p:cNvSpPr>
          <p:nvPr/>
        </p:nvSpPr>
        <p:spPr>
          <a:xfrm>
            <a:off x="10953750" y="64770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29298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B70B991-7707-4961-8659-36E27EC5BD18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D70F7"/>
                </a:solidFill>
              </a:defRPr>
            </a:pPr>
            <a:r>
              <a:rPr sz="1050" b="1">
                <a:solidFill>
                  <a:srgbClr val="1D70F7"/>
                </a:solidFill>
              </a:rPr>
              <a:t>04 / PAYMENTS PATH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216150-4F1D-484B-B7A8-59DF96DBB910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Payments can be prepared early—but activation waits for OneSite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488D02-9747-450D-B60F-00CB8B823B0B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This is the most important sequencing distinction for resident-facing functionality.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1DFAEE-5868-40EF-AF00-C67840EDA78A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10820400" cy="19050"/>
          </a:xfrm>
          <a:prstGeom prst="rect">
            <a:avLst/>
          </a:prstGeom>
          <a:solidFill>
            <a:srgbClr val="1D70F7"/>
          </a:solidFill>
          <a:ln w="9525">
            <a:solidFill>
              <a:srgbClr val="1D7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F600DA3-CB98-439D-951F-71BEBE720C75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2266950" cy="171450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CEDD050-F58D-4FDE-B486-0E167F1E11FE}"/>
              </a:ext>
            </a:extLst>
          </p:cNvPr>
          <p:cNvSpPr>
            <a:spLocks noGrp="1"/>
          </p:cNvSpPr>
          <p:nvPr/>
        </p:nvSpPr>
        <p:spPr>
          <a:xfrm>
            <a:off x="895350" y="25908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D70F7"/>
          </a:solidFill>
          <a:ln w="9525">
            <a:solidFill>
              <a:srgbClr val="1D7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B1929D-0C1F-46BF-A48F-8E6A3594C6FF}"/>
              </a:ext>
            </a:extLst>
          </p:cNvPr>
          <p:cNvSpPr>
            <a:spLocks noGrp="1"/>
          </p:cNvSpPr>
          <p:nvPr/>
        </p:nvSpPr>
        <p:spPr>
          <a:xfrm>
            <a:off x="895350" y="264795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B62A2E-17C3-4A7C-90D2-1A006CBA8975}"/>
              </a:ext>
            </a:extLst>
          </p:cNvPr>
          <p:cNvSpPr>
            <a:spLocks noGrp="1"/>
          </p:cNvSpPr>
          <p:nvPr/>
        </p:nvSpPr>
        <p:spPr>
          <a:xfrm>
            <a:off x="895350" y="3200400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Payments setup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2B6196-A972-4FF7-B7AE-AA43A56538BF}"/>
              </a:ext>
            </a:extLst>
          </p:cNvPr>
          <p:cNvSpPr>
            <a:spLocks noGrp="1"/>
          </p:cNvSpPr>
          <p:nvPr/>
        </p:nvSpPr>
        <p:spPr>
          <a:xfrm>
            <a:off x="895350" y="3562350"/>
            <a:ext cx="1847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May begin early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5F2CD9-A0A2-4738-A2A2-4D0C483C7BC8}"/>
              </a:ext>
            </a:extLst>
          </p:cNvPr>
          <p:cNvSpPr>
            <a:spLocks noGrp="1"/>
          </p:cNvSpPr>
          <p:nvPr/>
        </p:nvSpPr>
        <p:spPr>
          <a:xfrm>
            <a:off x="3019425" y="2990850"/>
            <a:ext cx="36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1D70F7"/>
                </a:solidFill>
              </a:defRPr>
            </a:pPr>
            <a:r>
              <a:rPr sz="2100" b="1">
                <a:solidFill>
                  <a:srgbClr val="1D70F7"/>
                </a:solidFill>
              </a:rPr>
              <a:t>→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417965E-DAB3-4C93-8EDA-86FCB1BA8461}"/>
              </a:ext>
            </a:extLst>
          </p:cNvPr>
          <p:cNvSpPr>
            <a:spLocks noGrp="1"/>
          </p:cNvSpPr>
          <p:nvPr/>
        </p:nvSpPr>
        <p:spPr>
          <a:xfrm>
            <a:off x="3371850" y="2381250"/>
            <a:ext cx="2266950" cy="1714500"/>
          </a:xfrm>
          <a:prstGeom prst="roundRect">
            <a:avLst>
              <a:gd name="adj" fmla="val 4444"/>
            </a:avLst>
          </a:prstGeom>
          <a:solidFill>
            <a:srgbClr val="D9F1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9FA5CD7-3CB1-47D9-AF1F-70F10F9808BA}"/>
              </a:ext>
            </a:extLst>
          </p:cNvPr>
          <p:cNvSpPr>
            <a:spLocks noGrp="1"/>
          </p:cNvSpPr>
          <p:nvPr/>
        </p:nvSpPr>
        <p:spPr>
          <a:xfrm>
            <a:off x="3581400" y="25908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D70F7"/>
          </a:solidFill>
          <a:ln w="9525">
            <a:solidFill>
              <a:srgbClr val="1D7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89205F-B2E4-4962-8F2B-5A9E826324EE}"/>
              </a:ext>
            </a:extLst>
          </p:cNvPr>
          <p:cNvSpPr>
            <a:spLocks noGrp="1"/>
          </p:cNvSpPr>
          <p:nvPr/>
        </p:nvSpPr>
        <p:spPr>
          <a:xfrm>
            <a:off x="3581400" y="264795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783A40-9A95-4EB0-9D1D-3E3341F81CE3}"/>
              </a:ext>
            </a:extLst>
          </p:cNvPr>
          <p:cNvSpPr>
            <a:spLocks noGrp="1"/>
          </p:cNvSpPr>
          <p:nvPr/>
        </p:nvSpPr>
        <p:spPr>
          <a:xfrm>
            <a:off x="3581400" y="3200400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OneSite live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09FF22-3E84-496A-9853-E9FC08F58626}"/>
              </a:ext>
            </a:extLst>
          </p:cNvPr>
          <p:cNvSpPr>
            <a:spLocks noGrp="1"/>
          </p:cNvSpPr>
          <p:nvPr/>
        </p:nvSpPr>
        <p:spPr>
          <a:xfrm>
            <a:off x="3581400" y="3562350"/>
            <a:ext cx="1847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Required activation gate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0A0A5F-0CBC-44DD-9C5E-183FC5B0C747}"/>
              </a:ext>
            </a:extLst>
          </p:cNvPr>
          <p:cNvSpPr>
            <a:spLocks noGrp="1"/>
          </p:cNvSpPr>
          <p:nvPr/>
        </p:nvSpPr>
        <p:spPr>
          <a:xfrm>
            <a:off x="5705475" y="2990850"/>
            <a:ext cx="36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1D70F7"/>
                </a:solidFill>
              </a:defRPr>
            </a:pPr>
            <a:r>
              <a:rPr sz="2100" b="1">
                <a:solidFill>
                  <a:srgbClr val="1D70F7"/>
                </a:solidFill>
              </a:rPr>
              <a:t>→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081D958-3AA3-46F8-9970-C7F950C47423}"/>
              </a:ext>
            </a:extLst>
          </p:cNvPr>
          <p:cNvSpPr>
            <a:spLocks noGrp="1"/>
          </p:cNvSpPr>
          <p:nvPr/>
        </p:nvSpPr>
        <p:spPr>
          <a:xfrm>
            <a:off x="6057900" y="2381250"/>
            <a:ext cx="2266950" cy="1714500"/>
          </a:xfrm>
          <a:prstGeom prst="roundRect">
            <a:avLst>
              <a:gd name="adj" fmla="val 4444"/>
            </a:avLst>
          </a:prstGeom>
          <a:solidFill>
            <a:srgbClr val="DDF7E8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5C50E0F-0A76-4B9A-8D5F-26E84B4DA41E}"/>
              </a:ext>
            </a:extLst>
          </p:cNvPr>
          <p:cNvSpPr>
            <a:spLocks noGrp="1"/>
          </p:cNvSpPr>
          <p:nvPr/>
        </p:nvSpPr>
        <p:spPr>
          <a:xfrm>
            <a:off x="6267450" y="25908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D70F7"/>
          </a:solidFill>
          <a:ln w="9525">
            <a:solidFill>
              <a:srgbClr val="1D7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14CF3C-33B9-4322-AA11-8A6541CE590F}"/>
              </a:ext>
            </a:extLst>
          </p:cNvPr>
          <p:cNvSpPr>
            <a:spLocks noGrp="1"/>
          </p:cNvSpPr>
          <p:nvPr/>
        </p:nvSpPr>
        <p:spPr>
          <a:xfrm>
            <a:off x="6267450" y="264795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1BB119-2E95-412D-8A9E-C89067D9718A}"/>
              </a:ext>
            </a:extLst>
          </p:cNvPr>
          <p:cNvSpPr>
            <a:spLocks noGrp="1"/>
          </p:cNvSpPr>
          <p:nvPr/>
        </p:nvSpPr>
        <p:spPr>
          <a:xfrm>
            <a:off x="6267450" y="3200400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Payments activated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DEE45E-3A5E-476A-A26D-042EE850E748}"/>
              </a:ext>
            </a:extLst>
          </p:cNvPr>
          <p:cNvSpPr>
            <a:spLocks noGrp="1"/>
          </p:cNvSpPr>
          <p:nvPr/>
        </p:nvSpPr>
        <p:spPr>
          <a:xfrm>
            <a:off x="6267450" y="3562350"/>
            <a:ext cx="1847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Online payment capability enabled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27803D7-7FC5-4052-87B5-942D2AAC02EA}"/>
              </a:ext>
            </a:extLst>
          </p:cNvPr>
          <p:cNvSpPr>
            <a:spLocks noGrp="1"/>
          </p:cNvSpPr>
          <p:nvPr/>
        </p:nvSpPr>
        <p:spPr>
          <a:xfrm>
            <a:off x="8391525" y="2990850"/>
            <a:ext cx="36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1D70F7"/>
                </a:solidFill>
              </a:defRPr>
            </a:pPr>
            <a:r>
              <a:rPr sz="2100" b="1">
                <a:solidFill>
                  <a:srgbClr val="1D70F7"/>
                </a:solidFill>
              </a:rPr>
              <a:t>→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3EA6E5A-9A11-40FE-B95D-8FD09336FDC5}"/>
              </a:ext>
            </a:extLst>
          </p:cNvPr>
          <p:cNvSpPr>
            <a:spLocks noGrp="1"/>
          </p:cNvSpPr>
          <p:nvPr/>
        </p:nvSpPr>
        <p:spPr>
          <a:xfrm>
            <a:off x="8743950" y="2381250"/>
            <a:ext cx="2266950" cy="171450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BEEE47F-189C-4260-A69B-33616CAEA025}"/>
              </a:ext>
            </a:extLst>
          </p:cNvPr>
          <p:cNvSpPr>
            <a:spLocks noGrp="1"/>
          </p:cNvSpPr>
          <p:nvPr/>
        </p:nvSpPr>
        <p:spPr>
          <a:xfrm>
            <a:off x="8953500" y="25908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D70F7"/>
          </a:solidFill>
          <a:ln w="9525">
            <a:solidFill>
              <a:srgbClr val="1D7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25615C-C028-4FA1-B568-F6F7C550FF55}"/>
              </a:ext>
            </a:extLst>
          </p:cNvPr>
          <p:cNvSpPr>
            <a:spLocks noGrp="1"/>
          </p:cNvSpPr>
          <p:nvPr/>
        </p:nvSpPr>
        <p:spPr>
          <a:xfrm>
            <a:off x="8953500" y="264795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F70237-B7EB-4556-B201-546213C81552}"/>
              </a:ext>
            </a:extLst>
          </p:cNvPr>
          <p:cNvSpPr>
            <a:spLocks noGrp="1"/>
          </p:cNvSpPr>
          <p:nvPr/>
        </p:nvSpPr>
        <p:spPr>
          <a:xfrm>
            <a:off x="8953500" y="3200400"/>
            <a:ext cx="184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Loft Leasing live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524B3BF-2B12-4121-9316-39906DFE2BA0}"/>
              </a:ext>
            </a:extLst>
          </p:cNvPr>
          <p:cNvSpPr>
            <a:spLocks noGrp="1"/>
          </p:cNvSpPr>
          <p:nvPr/>
        </p:nvSpPr>
        <p:spPr>
          <a:xfrm>
            <a:off x="8953500" y="3562350"/>
            <a:ext cx="1847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Requires activated Payments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DB12447-6B84-48EC-9C80-9ABC93D6923E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10820400" cy="876300"/>
          </a:xfrm>
          <a:prstGeom prst="roundRect">
            <a:avLst>
              <a:gd name="adj" fmla="val 8696"/>
            </a:avLst>
          </a:prstGeom>
          <a:solidFill>
            <a:srgbClr val="FFE0D6"/>
          </a:solidFill>
          <a:ln w="9525">
            <a:solidFill>
              <a:srgbClr val="FFE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DA155A2-6E8F-4A99-848D-E0377795E1A5}"/>
              </a:ext>
            </a:extLst>
          </p:cNvPr>
          <p:cNvSpPr>
            <a:spLocks noGrp="1"/>
          </p:cNvSpPr>
          <p:nvPr/>
        </p:nvSpPr>
        <p:spPr>
          <a:xfrm>
            <a:off x="914400" y="48387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Loft Living note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60A71D7-1AD9-449F-9EA1-BBEA73FD0D3C}"/>
              </a:ext>
            </a:extLst>
          </p:cNvPr>
          <p:cNvSpPr>
            <a:spLocks noGrp="1"/>
          </p:cNvSpPr>
          <p:nvPr/>
        </p:nvSpPr>
        <p:spPr>
          <a:xfrm>
            <a:off x="914400" y="5124450"/>
            <a:ext cx="1000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Loft Living requires OneSite and may go live before Payments. Residents cannot pay online until Payments is activated.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9F62DD6-E835-4440-8029-AFDFFC1E5417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52606D"/>
                </a:solidFill>
              </a:defRPr>
            </a:pPr>
            <a:r>
              <a:rPr sz="825" b="0">
                <a:solidFill>
                  <a:srgbClr val="52606D"/>
                </a:solidFill>
              </a:rPr>
              <a:t>Engagement Coordinator Training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D5B942F-C689-406F-BF5F-409EE98B93B2}"/>
              </a:ext>
            </a:extLst>
          </p:cNvPr>
          <p:cNvSpPr>
            <a:spLocks noGrp="1"/>
          </p:cNvSpPr>
          <p:nvPr/>
        </p:nvSpPr>
        <p:spPr>
          <a:xfrm>
            <a:off x="10953750" y="64770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11854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BF243F4C-06F3-432D-9A08-DECE30261576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D70F7"/>
                </a:solidFill>
              </a:defRPr>
            </a:pPr>
            <a:r>
              <a:rPr sz="1050" b="1">
                <a:solidFill>
                  <a:srgbClr val="1D70F7"/>
                </a:solidFill>
              </a:rPr>
              <a:t>05 / POST-ONESITE SEQUENCING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677A3D-BD8F-4471-B018-2EAB0999CB08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Once OneSite is live, activate the next layer in order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A54052-7EE5-4C3C-BED1-01B2C2F1C069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Use the dependency, not the preferred date, as the scheduling rule.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1A7B6C-457B-42E9-A760-DF0477271CBA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10820400" cy="19050"/>
          </a:xfrm>
          <a:prstGeom prst="rect">
            <a:avLst/>
          </a:prstGeom>
          <a:solidFill>
            <a:srgbClr val="1D70F7"/>
          </a:solidFill>
          <a:ln w="9525">
            <a:solidFill>
              <a:srgbClr val="1D7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AFB3D6-D0F6-44B2-BFFC-533A180CB5E0}"/>
              </a:ext>
            </a:extLst>
          </p:cNvPr>
          <p:cNvSpPr>
            <a:spLocks noGrp="1"/>
          </p:cNvSpPr>
          <p:nvPr/>
        </p:nvSpPr>
        <p:spPr>
          <a:xfrm>
            <a:off x="876300" y="21145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Loft Living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802F56-327C-4869-9049-0B8347A9F9FA}"/>
              </a:ext>
            </a:extLst>
          </p:cNvPr>
          <p:cNvSpPr>
            <a:spLocks noGrp="1"/>
          </p:cNvSpPr>
          <p:nvPr/>
        </p:nvSpPr>
        <p:spPr>
          <a:xfrm>
            <a:off x="4000500" y="2105025"/>
            <a:ext cx="1619250" cy="304800"/>
          </a:xfrm>
          <a:prstGeom prst="roundRect">
            <a:avLst>
              <a:gd name="adj" fmla="val 25000"/>
            </a:avLst>
          </a:prstGeom>
          <a:solidFill>
            <a:srgbClr val="D9F1FF"/>
          </a:solidFill>
          <a:ln w="9525">
            <a:solidFill>
              <a:srgbClr val="D9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B5F7E5-0FCF-48B9-943A-4A5EE34E8E11}"/>
              </a:ext>
            </a:extLst>
          </p:cNvPr>
          <p:cNvSpPr>
            <a:spLocks noGrp="1"/>
          </p:cNvSpPr>
          <p:nvPr/>
        </p:nvSpPr>
        <p:spPr>
          <a:xfrm>
            <a:off x="4095750" y="212407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OneSite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C71626-C3A2-4790-A7A0-82B1B0D7786A}"/>
              </a:ext>
            </a:extLst>
          </p:cNvPr>
          <p:cNvSpPr>
            <a:spLocks noGrp="1"/>
          </p:cNvSpPr>
          <p:nvPr/>
        </p:nvSpPr>
        <p:spPr>
          <a:xfrm>
            <a:off x="876300" y="27813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Online Renewals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990A548-313D-4C64-808F-9C093A115CDC}"/>
              </a:ext>
            </a:extLst>
          </p:cNvPr>
          <p:cNvSpPr>
            <a:spLocks noGrp="1"/>
          </p:cNvSpPr>
          <p:nvPr/>
        </p:nvSpPr>
        <p:spPr>
          <a:xfrm>
            <a:off x="4000500" y="2771775"/>
            <a:ext cx="1619250" cy="304800"/>
          </a:xfrm>
          <a:prstGeom prst="roundRect">
            <a:avLst>
              <a:gd name="adj" fmla="val 25000"/>
            </a:avLst>
          </a:prstGeom>
          <a:solidFill>
            <a:srgbClr val="D9F1FF"/>
          </a:solidFill>
          <a:ln w="9525">
            <a:solidFill>
              <a:srgbClr val="D9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AA6B11-F431-4A8F-94B2-537E6C7A8210}"/>
              </a:ext>
            </a:extLst>
          </p:cNvPr>
          <p:cNvSpPr>
            <a:spLocks noGrp="1"/>
          </p:cNvSpPr>
          <p:nvPr/>
        </p:nvSpPr>
        <p:spPr>
          <a:xfrm>
            <a:off x="4095750" y="279082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OneSite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A3C54D-E20B-4D9E-B210-7B4F3EFE2F2A}"/>
              </a:ext>
            </a:extLst>
          </p:cNvPr>
          <p:cNvSpPr>
            <a:spLocks noGrp="1"/>
          </p:cNvSpPr>
          <p:nvPr/>
        </p:nvSpPr>
        <p:spPr>
          <a:xfrm>
            <a:off x="876300" y="34480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Syndication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ECC40B8-E6B6-4B1A-80CC-100EA0C9541D}"/>
              </a:ext>
            </a:extLst>
          </p:cNvPr>
          <p:cNvSpPr>
            <a:spLocks noGrp="1"/>
          </p:cNvSpPr>
          <p:nvPr/>
        </p:nvSpPr>
        <p:spPr>
          <a:xfrm>
            <a:off x="4000500" y="3438525"/>
            <a:ext cx="1619250" cy="304800"/>
          </a:xfrm>
          <a:prstGeom prst="roundRect">
            <a:avLst>
              <a:gd name="adj" fmla="val 25000"/>
            </a:avLst>
          </a:prstGeom>
          <a:solidFill>
            <a:srgbClr val="D9F1FF"/>
          </a:solidFill>
          <a:ln w="9525">
            <a:solidFill>
              <a:srgbClr val="D9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DD49D6-B20E-4893-904B-F9B4CBD0BC30}"/>
              </a:ext>
            </a:extLst>
          </p:cNvPr>
          <p:cNvSpPr>
            <a:spLocks noGrp="1"/>
          </p:cNvSpPr>
          <p:nvPr/>
        </p:nvSpPr>
        <p:spPr>
          <a:xfrm>
            <a:off x="4095750" y="345757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OneSite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056AF3-6CE6-40F5-834E-D1B961654E26}"/>
              </a:ext>
            </a:extLst>
          </p:cNvPr>
          <p:cNvSpPr>
            <a:spLocks noGrp="1"/>
          </p:cNvSpPr>
          <p:nvPr/>
        </p:nvSpPr>
        <p:spPr>
          <a:xfrm>
            <a:off x="876300" y="41148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Business Intelligence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248C2F4-D649-4DA4-A829-B7585EB22152}"/>
              </a:ext>
            </a:extLst>
          </p:cNvPr>
          <p:cNvSpPr>
            <a:spLocks noGrp="1"/>
          </p:cNvSpPr>
          <p:nvPr/>
        </p:nvSpPr>
        <p:spPr>
          <a:xfrm>
            <a:off x="4000500" y="4105275"/>
            <a:ext cx="2857500" cy="304800"/>
          </a:xfrm>
          <a:prstGeom prst="roundRect">
            <a:avLst>
              <a:gd name="adj" fmla="val 25000"/>
            </a:avLst>
          </a:prstGeom>
          <a:solidFill>
            <a:srgbClr val="FFF0C2"/>
          </a:solidFill>
          <a:ln w="9525">
            <a:solidFill>
              <a:srgbClr val="FFF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7B0255-4698-41B8-AEE6-920923FA84B5}"/>
              </a:ext>
            </a:extLst>
          </p:cNvPr>
          <p:cNvSpPr>
            <a:spLocks noGrp="1"/>
          </p:cNvSpPr>
          <p:nvPr/>
        </p:nvSpPr>
        <p:spPr>
          <a:xfrm>
            <a:off x="4095750" y="412432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OneSite + current property date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6F5D9C-79A4-44B8-A083-2153CEE6F1E6}"/>
              </a:ext>
            </a:extLst>
          </p:cNvPr>
          <p:cNvSpPr>
            <a:spLocks noGrp="1"/>
          </p:cNvSpPr>
          <p:nvPr/>
        </p:nvSpPr>
        <p:spPr>
          <a:xfrm>
            <a:off x="876300" y="47815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Performance Analytics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8B0AA48-6BAF-43A3-BC15-37E0ADB99519}"/>
              </a:ext>
            </a:extLst>
          </p:cNvPr>
          <p:cNvSpPr>
            <a:spLocks noGrp="1"/>
          </p:cNvSpPr>
          <p:nvPr/>
        </p:nvSpPr>
        <p:spPr>
          <a:xfrm>
            <a:off x="4000500" y="4772025"/>
            <a:ext cx="2857500" cy="304800"/>
          </a:xfrm>
          <a:prstGeom prst="roundRect">
            <a:avLst>
              <a:gd name="adj" fmla="val 25000"/>
            </a:avLst>
          </a:prstGeom>
          <a:solidFill>
            <a:srgbClr val="FFF0C2"/>
          </a:solidFill>
          <a:ln w="9525">
            <a:solidFill>
              <a:srgbClr val="FFF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44255F-603D-4155-8633-66D9C42E4BC1}"/>
              </a:ext>
            </a:extLst>
          </p:cNvPr>
          <p:cNvSpPr>
            <a:spLocks noGrp="1"/>
          </p:cNvSpPr>
          <p:nvPr/>
        </p:nvSpPr>
        <p:spPr>
          <a:xfrm>
            <a:off x="4095750" y="479107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OneSite + current property date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DEFA7B8-4DBB-43EA-BC78-C92C68B56CD0}"/>
              </a:ext>
            </a:extLst>
          </p:cNvPr>
          <p:cNvSpPr>
            <a:spLocks noGrp="1"/>
          </p:cNvSpPr>
          <p:nvPr/>
        </p:nvSpPr>
        <p:spPr>
          <a:xfrm>
            <a:off x="7239000" y="2114550"/>
            <a:ext cx="4267200" cy="2914650"/>
          </a:xfrm>
          <a:prstGeom prst="roundRect">
            <a:avLst>
              <a:gd name="adj" fmla="val 2614"/>
            </a:avLst>
          </a:prstGeom>
          <a:solidFill>
            <a:srgbClr val="F4F7FA"/>
          </a:solidFill>
          <a:ln w="9525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13874C-FD0A-4340-AE7F-DBA8BDD380A0}"/>
              </a:ext>
            </a:extLst>
          </p:cNvPr>
          <p:cNvSpPr>
            <a:spLocks noGrp="1"/>
          </p:cNvSpPr>
          <p:nvPr/>
        </p:nvSpPr>
        <p:spPr>
          <a:xfrm>
            <a:off x="7543800" y="23622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D70F7"/>
                </a:solidFill>
              </a:defRPr>
            </a:pPr>
            <a:r>
              <a:rPr sz="1650" b="1">
                <a:solidFill>
                  <a:srgbClr val="1D70F7"/>
                </a:solidFill>
              </a:rPr>
              <a:t>After Payments is activated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17BA69-34F4-40D7-9D81-2CFB2872033F}"/>
              </a:ext>
            </a:extLst>
          </p:cNvPr>
          <p:cNvSpPr>
            <a:spLocks noGrp="1"/>
          </p:cNvSpPr>
          <p:nvPr/>
        </p:nvSpPr>
        <p:spPr>
          <a:xfrm>
            <a:off x="7543800" y="2895600"/>
            <a:ext cx="171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D70F7"/>
                </a:solidFill>
              </a:defRPr>
            </a:pPr>
            <a:r>
              <a:rPr sz="1275" b="1">
                <a:solidFill>
                  <a:srgbClr val="1D70F7"/>
                </a:solidFill>
              </a:rPr>
              <a:t>•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5AB5438-0FD8-4E75-BEEB-8ED02A08AED9}"/>
              </a:ext>
            </a:extLst>
          </p:cNvPr>
          <p:cNvSpPr>
            <a:spLocks noGrp="1"/>
          </p:cNvSpPr>
          <p:nvPr/>
        </p:nvSpPr>
        <p:spPr>
          <a:xfrm>
            <a:off x="7791450" y="2895600"/>
            <a:ext cx="3181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Loft Leasing can go live.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FA0AB6-E3C3-41D5-BDBD-63BECA198C7F}"/>
              </a:ext>
            </a:extLst>
          </p:cNvPr>
          <p:cNvSpPr>
            <a:spLocks noGrp="1"/>
          </p:cNvSpPr>
          <p:nvPr/>
        </p:nvSpPr>
        <p:spPr>
          <a:xfrm>
            <a:off x="7543800" y="3352800"/>
            <a:ext cx="171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D70F7"/>
                </a:solidFill>
              </a:defRPr>
            </a:pPr>
            <a:r>
              <a:rPr sz="1275" b="1">
                <a:solidFill>
                  <a:srgbClr val="1D70F7"/>
                </a:solidFill>
              </a:rPr>
              <a:t>•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91F1AC0-6896-4061-A53F-CD7C5D35C0BD}"/>
              </a:ext>
            </a:extLst>
          </p:cNvPr>
          <p:cNvSpPr>
            <a:spLocks noGrp="1"/>
          </p:cNvSpPr>
          <p:nvPr/>
        </p:nvSpPr>
        <p:spPr>
          <a:xfrm>
            <a:off x="7791450" y="3352800"/>
            <a:ext cx="3181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Loft Loyalty and Loft Moving go live 3–5 days after Loft Living.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275040-B990-4C0F-9837-E954AE6DCA90}"/>
              </a:ext>
            </a:extLst>
          </p:cNvPr>
          <p:cNvSpPr>
            <a:spLocks noGrp="1"/>
          </p:cNvSpPr>
          <p:nvPr/>
        </p:nvSpPr>
        <p:spPr>
          <a:xfrm>
            <a:off x="7543800" y="3810000"/>
            <a:ext cx="171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D70F7"/>
                </a:solidFill>
              </a:defRPr>
            </a:pPr>
            <a:r>
              <a:rPr sz="1275" b="1">
                <a:solidFill>
                  <a:srgbClr val="1D70F7"/>
                </a:solidFill>
              </a:rPr>
              <a:t>•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FC75493-C0B6-4B32-8E17-4DDD2B0DEE66}"/>
              </a:ext>
            </a:extLst>
          </p:cNvPr>
          <p:cNvSpPr>
            <a:spLocks noGrp="1"/>
          </p:cNvSpPr>
          <p:nvPr/>
        </p:nvSpPr>
        <p:spPr>
          <a:xfrm>
            <a:off x="7791450" y="3810000"/>
            <a:ext cx="3181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02A43"/>
                </a:solidFill>
              </a:defRPr>
            </a:pPr>
            <a:r>
              <a:rPr sz="1275" b="0" dirty="0">
                <a:solidFill>
                  <a:srgbClr val="102A43"/>
                </a:solidFill>
              </a:rPr>
              <a:t>The 3–5 day timing still requires Payments to be live.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82CD2E3-CED5-4660-9884-D75DFB79A817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52606D"/>
                </a:solidFill>
              </a:defRPr>
            </a:pPr>
            <a:r>
              <a:rPr sz="825" b="0">
                <a:solidFill>
                  <a:srgbClr val="52606D"/>
                </a:solidFill>
              </a:rPr>
              <a:t>Engagement Coordinator Training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2EEA5C9-087D-4C6D-BC8B-A36FB8350BDF}"/>
              </a:ext>
            </a:extLst>
          </p:cNvPr>
          <p:cNvSpPr>
            <a:spLocks noGrp="1"/>
          </p:cNvSpPr>
          <p:nvPr/>
        </p:nvSpPr>
        <p:spPr>
          <a:xfrm>
            <a:off x="10953750" y="64770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54754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FEC88309-0F9F-42C1-ABC1-D321709C18E4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D70F7"/>
                </a:solidFill>
              </a:defRPr>
            </a:pPr>
            <a:r>
              <a:rPr sz="1050" b="1">
                <a:solidFill>
                  <a:srgbClr val="1D70F7"/>
                </a:solidFill>
              </a:rPr>
              <a:t>06 / INTEGRATIONS AND ANALYTICS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F6AA47-F90A-4607-9689-237E4D895D3F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Finish the timeline with integration gates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7787AD-4569-4A39-9CE7-D677630E8728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Some products can be live early but are not complete until the required connections are in place.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CD9FA2-021A-4115-9F62-AB63720B0BA4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10820400" cy="19050"/>
          </a:xfrm>
          <a:prstGeom prst="rect">
            <a:avLst/>
          </a:prstGeom>
          <a:solidFill>
            <a:srgbClr val="1D70F7"/>
          </a:solidFill>
          <a:ln w="9525">
            <a:solidFill>
              <a:srgbClr val="1D7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E008C06-84BB-4DDE-9C62-522133329AFD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4953000" cy="2857500"/>
          </a:xfrm>
          <a:prstGeom prst="roundRect">
            <a:avLst>
              <a:gd name="adj" fmla="val 2667"/>
            </a:avLst>
          </a:prstGeom>
          <a:solidFill>
            <a:srgbClr val="F4F7FA"/>
          </a:solidFill>
          <a:ln w="9525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D8E564-3167-49BB-A397-D9BA1EEC7DA2}"/>
              </a:ext>
            </a:extLst>
          </p:cNvPr>
          <p:cNvSpPr>
            <a:spLocks noGrp="1"/>
          </p:cNvSpPr>
          <p:nvPr/>
        </p:nvSpPr>
        <p:spPr>
          <a:xfrm>
            <a:off x="990600" y="2476500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D70F7"/>
                </a:solidFill>
              </a:defRPr>
            </a:pPr>
            <a:r>
              <a:rPr sz="1950" b="1">
                <a:solidFill>
                  <a:srgbClr val="1D70F7"/>
                </a:solidFill>
              </a:rPr>
              <a:t>Website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E3CD4F-B8A6-49F6-BB80-BE9BA46683C2}"/>
              </a:ext>
            </a:extLst>
          </p:cNvPr>
          <p:cNvSpPr>
            <a:spLocks noGrp="1"/>
          </p:cNvSpPr>
          <p:nvPr/>
        </p:nvSpPr>
        <p:spPr>
          <a:xfrm>
            <a:off x="990600" y="29718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52606D"/>
                </a:solidFill>
              </a:defRPr>
            </a:pPr>
            <a:r>
              <a:rPr sz="1350" b="1">
                <a:solidFill>
                  <a:srgbClr val="52606D"/>
                </a:solidFill>
              </a:rPr>
              <a:t>Setup early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89DFC6-9B49-41F7-A887-B98930721E38}"/>
              </a:ext>
            </a:extLst>
          </p:cNvPr>
          <p:cNvSpPr>
            <a:spLocks noGrp="1"/>
          </p:cNvSpPr>
          <p:nvPr/>
        </p:nvSpPr>
        <p:spPr>
          <a:xfrm>
            <a:off x="990600" y="3467100"/>
            <a:ext cx="3714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Final integration after all are live: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D22DC9-FCEA-49F1-A975-5D1C9EE344F4}"/>
              </a:ext>
            </a:extLst>
          </p:cNvPr>
          <p:cNvSpPr>
            <a:spLocks noGrp="1"/>
          </p:cNvSpPr>
          <p:nvPr/>
        </p:nvSpPr>
        <p:spPr>
          <a:xfrm>
            <a:off x="990600" y="3848100"/>
            <a:ext cx="171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D70F7"/>
                </a:solidFill>
              </a:defRPr>
            </a:pPr>
            <a:r>
              <a:rPr sz="1275" b="1">
                <a:solidFill>
                  <a:srgbClr val="1D70F7"/>
                </a:solidFill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42599A-6E25-48E1-81B7-BD426698E918}"/>
              </a:ext>
            </a:extLst>
          </p:cNvPr>
          <p:cNvSpPr>
            <a:spLocks noGrp="1"/>
          </p:cNvSpPr>
          <p:nvPr/>
        </p:nvSpPr>
        <p:spPr>
          <a:xfrm>
            <a:off x="1238250" y="3848100"/>
            <a:ext cx="346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OneSite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E244BA-18E9-4FB9-9028-6C07ADD3013D}"/>
              </a:ext>
            </a:extLst>
          </p:cNvPr>
          <p:cNvSpPr>
            <a:spLocks noGrp="1"/>
          </p:cNvSpPr>
          <p:nvPr/>
        </p:nvSpPr>
        <p:spPr>
          <a:xfrm>
            <a:off x="990600" y="4152900"/>
            <a:ext cx="171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D70F7"/>
                </a:solidFill>
              </a:defRPr>
            </a:pPr>
            <a:r>
              <a:rPr sz="1275" b="1">
                <a:solidFill>
                  <a:srgbClr val="1D70F7"/>
                </a:solidFill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CE5529-C989-4D1D-812D-8690B2260946}"/>
              </a:ext>
            </a:extLst>
          </p:cNvPr>
          <p:cNvSpPr>
            <a:spLocks noGrp="1"/>
          </p:cNvSpPr>
          <p:nvPr/>
        </p:nvSpPr>
        <p:spPr>
          <a:xfrm>
            <a:off x="1238250" y="4152900"/>
            <a:ext cx="346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Loft Living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42AD48-F9DF-4BDD-ABFF-2AB147DB0F21}"/>
              </a:ext>
            </a:extLst>
          </p:cNvPr>
          <p:cNvSpPr>
            <a:spLocks noGrp="1"/>
          </p:cNvSpPr>
          <p:nvPr/>
        </p:nvSpPr>
        <p:spPr>
          <a:xfrm>
            <a:off x="990600" y="4457700"/>
            <a:ext cx="171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D70F7"/>
                </a:solidFill>
              </a:defRPr>
            </a:pPr>
            <a:r>
              <a:rPr sz="1275" b="1">
                <a:solidFill>
                  <a:srgbClr val="1D70F7"/>
                </a:solidFill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9811A6-4CF7-4AB1-A7D1-373E51F00E6B}"/>
              </a:ext>
            </a:extLst>
          </p:cNvPr>
          <p:cNvSpPr>
            <a:spLocks noGrp="1"/>
          </p:cNvSpPr>
          <p:nvPr/>
        </p:nvSpPr>
        <p:spPr>
          <a:xfrm>
            <a:off x="1238250" y="4457700"/>
            <a:ext cx="346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Loft Leasing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4A9F55-3042-4A01-AF38-D67CC7EAE695}"/>
              </a:ext>
            </a:extLst>
          </p:cNvPr>
          <p:cNvSpPr>
            <a:spLocks noGrp="1"/>
          </p:cNvSpPr>
          <p:nvPr/>
        </p:nvSpPr>
        <p:spPr>
          <a:xfrm>
            <a:off x="990600" y="4762500"/>
            <a:ext cx="171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D70F7"/>
                </a:solidFill>
              </a:defRPr>
            </a:pPr>
            <a:r>
              <a:rPr sz="1275" b="1">
                <a:solidFill>
                  <a:srgbClr val="1D70F7"/>
                </a:solidFill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48C8C8-6633-4BF4-8F2A-0F4873060075}"/>
              </a:ext>
            </a:extLst>
          </p:cNvPr>
          <p:cNvSpPr>
            <a:spLocks noGrp="1"/>
          </p:cNvSpPr>
          <p:nvPr/>
        </p:nvSpPr>
        <p:spPr>
          <a:xfrm>
            <a:off x="1238250" y="4762500"/>
            <a:ext cx="3467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Knock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E6C19AC-E403-434D-B531-D94B030D70B1}"/>
              </a:ext>
            </a:extLst>
          </p:cNvPr>
          <p:cNvSpPr>
            <a:spLocks noGrp="1"/>
          </p:cNvSpPr>
          <p:nvPr/>
        </p:nvSpPr>
        <p:spPr>
          <a:xfrm>
            <a:off x="6210300" y="2209800"/>
            <a:ext cx="5295900" cy="2857500"/>
          </a:xfrm>
          <a:prstGeom prst="roundRect">
            <a:avLst>
              <a:gd name="adj" fmla="val 2667"/>
            </a:avLst>
          </a:prstGeom>
          <a:solidFill>
            <a:srgbClr val="F4F7FA"/>
          </a:solidFill>
          <a:ln w="9525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36D3A5-E8EA-407A-A0BD-9130F482C55C}"/>
              </a:ext>
            </a:extLst>
          </p:cNvPr>
          <p:cNvSpPr>
            <a:spLocks noGrp="1"/>
          </p:cNvSpPr>
          <p:nvPr/>
        </p:nvSpPr>
        <p:spPr>
          <a:xfrm>
            <a:off x="6515100" y="24765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D70F7"/>
                </a:solidFill>
              </a:defRPr>
            </a:pPr>
            <a:r>
              <a:rPr sz="1950" b="1">
                <a:solidFill>
                  <a:srgbClr val="1D70F7"/>
                </a:solidFill>
              </a:rPr>
              <a:t>BI + Performance Analytics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C669-6257-4537-B830-0D3BE3860A94}"/>
              </a:ext>
            </a:extLst>
          </p:cNvPr>
          <p:cNvSpPr>
            <a:spLocks noGrp="1"/>
          </p:cNvSpPr>
          <p:nvPr/>
        </p:nvSpPr>
        <p:spPr>
          <a:xfrm>
            <a:off x="6515100" y="3009900"/>
            <a:ext cx="381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Setup begins only when: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CD442B-41FB-4BB0-867F-6AB5B35D5A43}"/>
              </a:ext>
            </a:extLst>
          </p:cNvPr>
          <p:cNvSpPr>
            <a:spLocks noGrp="1"/>
          </p:cNvSpPr>
          <p:nvPr/>
        </p:nvSpPr>
        <p:spPr>
          <a:xfrm>
            <a:off x="6515100" y="3429000"/>
            <a:ext cx="171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D70F7"/>
                </a:solidFill>
              </a:defRPr>
            </a:pPr>
            <a:r>
              <a:rPr sz="1350" b="1">
                <a:solidFill>
                  <a:srgbClr val="1D70F7"/>
                </a:solidFill>
              </a:rPr>
              <a:t>•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B5F72D-46A4-428B-A72F-D435915EF1B0}"/>
              </a:ext>
            </a:extLst>
          </p:cNvPr>
          <p:cNvSpPr>
            <a:spLocks noGrp="1"/>
          </p:cNvSpPr>
          <p:nvPr/>
        </p:nvSpPr>
        <p:spPr>
          <a:xfrm>
            <a:off x="6762750" y="3429000"/>
            <a:ext cx="3943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OneSite is live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6801B1-4494-4846-AE9A-48462D8108B7}"/>
              </a:ext>
            </a:extLst>
          </p:cNvPr>
          <p:cNvSpPr>
            <a:spLocks noGrp="1"/>
          </p:cNvSpPr>
          <p:nvPr/>
        </p:nvSpPr>
        <p:spPr>
          <a:xfrm>
            <a:off x="6515100" y="3848100"/>
            <a:ext cx="171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D70F7"/>
                </a:solidFill>
              </a:defRPr>
            </a:pPr>
            <a:r>
              <a:rPr sz="1350" b="1">
                <a:solidFill>
                  <a:srgbClr val="1D70F7"/>
                </a:solidFill>
              </a:rPr>
              <a:t>•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331D54-4F81-4F23-8604-2B89BE1C2677}"/>
              </a:ext>
            </a:extLst>
          </p:cNvPr>
          <p:cNvSpPr>
            <a:spLocks noGrp="1"/>
          </p:cNvSpPr>
          <p:nvPr/>
        </p:nvSpPr>
        <p:spPr>
          <a:xfrm>
            <a:off x="6762750" y="3848100"/>
            <a:ext cx="3943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The property date is current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B8BE9E0-4FD8-48EF-B863-45CC789B4393}"/>
              </a:ext>
            </a:extLst>
          </p:cNvPr>
          <p:cNvSpPr>
            <a:spLocks noGrp="1"/>
          </p:cNvSpPr>
          <p:nvPr/>
        </p:nvSpPr>
        <p:spPr>
          <a:xfrm>
            <a:off x="6515100" y="4400550"/>
            <a:ext cx="4457700" cy="457200"/>
          </a:xfrm>
          <a:prstGeom prst="roundRect">
            <a:avLst>
              <a:gd name="adj" fmla="val 16667"/>
            </a:avLst>
          </a:prstGeom>
          <a:solidFill>
            <a:srgbClr val="FFF0C2"/>
          </a:solidFill>
          <a:ln w="9525">
            <a:solidFill>
              <a:srgbClr val="FFF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BD7BCC7-85F1-43DE-9582-8F17068C6FC4}"/>
              </a:ext>
            </a:extLst>
          </p:cNvPr>
          <p:cNvSpPr>
            <a:spLocks noGrp="1"/>
          </p:cNvSpPr>
          <p:nvPr/>
        </p:nvSpPr>
        <p:spPr>
          <a:xfrm>
            <a:off x="6667500" y="4476750"/>
            <a:ext cx="415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rPr lang="en-US" sz="1200" b="1" dirty="0">
                <a:solidFill>
                  <a:srgbClr val="102A43"/>
                </a:solidFill>
              </a:rPr>
              <a:t>Can</a:t>
            </a:r>
            <a:r>
              <a:rPr sz="1200" b="1" dirty="0">
                <a:solidFill>
                  <a:srgbClr val="102A43"/>
                </a:solidFill>
              </a:rPr>
              <a:t> not start setup before both gates are met.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69B0F5E-F5A3-4C4A-8F0F-562E13A2F792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52606D"/>
                </a:solidFill>
              </a:defRPr>
            </a:pPr>
            <a:r>
              <a:rPr sz="825" b="0">
                <a:solidFill>
                  <a:srgbClr val="52606D"/>
                </a:solidFill>
              </a:rPr>
              <a:t>Engagement Coordinator Training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429D28-7FF4-4307-8AA5-707B7494D402}"/>
              </a:ext>
            </a:extLst>
          </p:cNvPr>
          <p:cNvSpPr>
            <a:spLocks noGrp="1"/>
          </p:cNvSpPr>
          <p:nvPr/>
        </p:nvSpPr>
        <p:spPr>
          <a:xfrm>
            <a:off x="10953750" y="64770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48907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1E4274A-F314-46F8-83C1-646AF1B3FC2F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D70F7"/>
                </a:solidFill>
              </a:defRPr>
            </a:pPr>
            <a:r>
              <a:rPr sz="1050" b="1">
                <a:solidFill>
                  <a:srgbClr val="1D70F7"/>
                </a:solidFill>
              </a:rPr>
              <a:t>07 / APPLY THE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50EDE7-61A6-4FF5-A476-81C8559B7ADF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02A43"/>
                </a:solidFill>
              </a:defRPr>
            </a:pPr>
            <a:r>
              <a:rPr sz="2625" b="1">
                <a:solidFill>
                  <a:srgbClr val="102A43"/>
                </a:solidFill>
              </a:rPr>
              <a:t>Coordinator checklist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BFA794-6A43-483D-878D-3B30B8817D42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Use these questions before confirming an implementation or go-live date.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9247C4-B92E-4583-8A21-1BC6B05391C4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10820400" cy="19050"/>
          </a:xfrm>
          <a:prstGeom prst="rect">
            <a:avLst/>
          </a:prstGeom>
          <a:solidFill>
            <a:srgbClr val="1D70F7"/>
          </a:solidFill>
          <a:ln w="9525">
            <a:solidFill>
              <a:srgbClr val="1D7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36159DC-01FB-44B4-8C56-9AD4FC991B3C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381000" cy="342900"/>
          </a:xfrm>
          <a:prstGeom prst="roundRect">
            <a:avLst>
              <a:gd name="adj" fmla="val 22222"/>
            </a:avLst>
          </a:prstGeom>
          <a:solidFill>
            <a:srgbClr val="1D70F7"/>
          </a:solidFill>
          <a:ln w="9525">
            <a:solidFill>
              <a:srgbClr val="1D7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ED66F-5766-4FFB-A975-6853BAE9501F}"/>
              </a:ext>
            </a:extLst>
          </p:cNvPr>
          <p:cNvSpPr>
            <a:spLocks noGrp="1"/>
          </p:cNvSpPr>
          <p:nvPr/>
        </p:nvSpPr>
        <p:spPr>
          <a:xfrm>
            <a:off x="685800" y="2105025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699D92-29EC-4C14-9118-C59FCA2ADC0A}"/>
              </a:ext>
            </a:extLst>
          </p:cNvPr>
          <p:cNvSpPr>
            <a:spLocks noGrp="1"/>
          </p:cNvSpPr>
          <p:nvPr/>
        </p:nvSpPr>
        <p:spPr>
          <a:xfrm>
            <a:off x="1257300" y="2114550"/>
            <a:ext cx="971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What can be set up in parallel before OneSite?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658C773-5AA2-4D29-9638-EFCADA222D73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381000" cy="342900"/>
          </a:xfrm>
          <a:prstGeom prst="roundRect">
            <a:avLst>
              <a:gd name="adj" fmla="val 22222"/>
            </a:avLst>
          </a:prstGeom>
          <a:solidFill>
            <a:srgbClr val="1D70F7"/>
          </a:solidFill>
          <a:ln w="9525">
            <a:solidFill>
              <a:srgbClr val="1D7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3F54B3-16F8-4C85-B112-8CC7426FE064}"/>
              </a:ext>
            </a:extLst>
          </p:cNvPr>
          <p:cNvSpPr>
            <a:spLocks noGrp="1"/>
          </p:cNvSpPr>
          <p:nvPr/>
        </p:nvSpPr>
        <p:spPr>
          <a:xfrm>
            <a:off x="685800" y="2600325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242B88-9C2E-474D-A906-EE78850D062F}"/>
              </a:ext>
            </a:extLst>
          </p:cNvPr>
          <p:cNvSpPr>
            <a:spLocks noGrp="1"/>
          </p:cNvSpPr>
          <p:nvPr/>
        </p:nvSpPr>
        <p:spPr>
          <a:xfrm>
            <a:off x="1257300" y="2609850"/>
            <a:ext cx="971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Is OneSite live before activating Payments?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9485F32-8346-4503-9065-7D144B75370C}"/>
              </a:ext>
            </a:extLst>
          </p:cNvPr>
          <p:cNvSpPr>
            <a:spLocks noGrp="1"/>
          </p:cNvSpPr>
          <p:nvPr/>
        </p:nvSpPr>
        <p:spPr>
          <a:xfrm>
            <a:off x="685800" y="3086100"/>
            <a:ext cx="381000" cy="342900"/>
          </a:xfrm>
          <a:prstGeom prst="roundRect">
            <a:avLst>
              <a:gd name="adj" fmla="val 22222"/>
            </a:avLst>
          </a:prstGeom>
          <a:solidFill>
            <a:srgbClr val="1D70F7"/>
          </a:solidFill>
          <a:ln w="9525">
            <a:solidFill>
              <a:srgbClr val="1D7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AD8ABC-C376-454F-AF7E-941F3182CADB}"/>
              </a:ext>
            </a:extLst>
          </p:cNvPr>
          <p:cNvSpPr>
            <a:spLocks noGrp="1"/>
          </p:cNvSpPr>
          <p:nvPr/>
        </p:nvSpPr>
        <p:spPr>
          <a:xfrm>
            <a:off x="685800" y="3095625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D12910-DAF9-4999-BCEA-4858B75CF16B}"/>
              </a:ext>
            </a:extLst>
          </p:cNvPr>
          <p:cNvSpPr>
            <a:spLocks noGrp="1"/>
          </p:cNvSpPr>
          <p:nvPr/>
        </p:nvSpPr>
        <p:spPr>
          <a:xfrm>
            <a:off x="1257300" y="3105150"/>
            <a:ext cx="971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Has the Screening scoring-model property been identified?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9616179-6B09-467E-8268-D8D6506F27BD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381000" cy="342900"/>
          </a:xfrm>
          <a:prstGeom prst="roundRect">
            <a:avLst>
              <a:gd name="adj" fmla="val 22222"/>
            </a:avLst>
          </a:prstGeom>
          <a:solidFill>
            <a:srgbClr val="1D70F7"/>
          </a:solidFill>
          <a:ln w="9525">
            <a:solidFill>
              <a:srgbClr val="1D7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FA85BC-A2BE-4CB6-B6B3-CA5B73B4DDF9}"/>
              </a:ext>
            </a:extLst>
          </p:cNvPr>
          <p:cNvSpPr>
            <a:spLocks noGrp="1"/>
          </p:cNvSpPr>
          <p:nvPr/>
        </p:nvSpPr>
        <p:spPr>
          <a:xfrm>
            <a:off x="685800" y="3590925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BD27DC-FEC5-48D6-A97D-B03C68163F97}"/>
              </a:ext>
            </a:extLst>
          </p:cNvPr>
          <p:cNvSpPr>
            <a:spLocks noGrp="1"/>
          </p:cNvSpPr>
          <p:nvPr/>
        </p:nvSpPr>
        <p:spPr>
          <a:xfrm>
            <a:off x="1257300" y="3600450"/>
            <a:ext cx="971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Is Payments activated before Loft Leasing?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8257F19-6EFE-48DB-8588-8F1326969542}"/>
              </a:ext>
            </a:extLst>
          </p:cNvPr>
          <p:cNvSpPr>
            <a:spLocks noGrp="1"/>
          </p:cNvSpPr>
          <p:nvPr/>
        </p:nvSpPr>
        <p:spPr>
          <a:xfrm>
            <a:off x="685800" y="4076700"/>
            <a:ext cx="381000" cy="342900"/>
          </a:xfrm>
          <a:prstGeom prst="roundRect">
            <a:avLst>
              <a:gd name="adj" fmla="val 22222"/>
            </a:avLst>
          </a:prstGeom>
          <a:solidFill>
            <a:srgbClr val="1D70F7"/>
          </a:solidFill>
          <a:ln w="9525">
            <a:solidFill>
              <a:srgbClr val="1D7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278B6F-4B0B-4D68-9914-BCBE2D73CD94}"/>
              </a:ext>
            </a:extLst>
          </p:cNvPr>
          <p:cNvSpPr>
            <a:spLocks noGrp="1"/>
          </p:cNvSpPr>
          <p:nvPr/>
        </p:nvSpPr>
        <p:spPr>
          <a:xfrm>
            <a:off x="685800" y="4086225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C44B45-3C20-4639-B02A-C7F39D0972DE}"/>
              </a:ext>
            </a:extLst>
          </p:cNvPr>
          <p:cNvSpPr>
            <a:spLocks noGrp="1"/>
          </p:cNvSpPr>
          <p:nvPr/>
        </p:nvSpPr>
        <p:spPr>
          <a:xfrm>
            <a:off x="1257300" y="4095750"/>
            <a:ext cx="971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Are Loft Loyalty and Loft Moving scheduled 3–5 days after Loft Living?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F547EB7-921D-416A-8B21-65AB1711A9F1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381000" cy="342900"/>
          </a:xfrm>
          <a:prstGeom prst="roundRect">
            <a:avLst>
              <a:gd name="adj" fmla="val 22222"/>
            </a:avLst>
          </a:prstGeom>
          <a:solidFill>
            <a:srgbClr val="1D70F7"/>
          </a:solidFill>
          <a:ln w="9525">
            <a:solidFill>
              <a:srgbClr val="1D7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404BD01-5583-4903-9B34-7D962BD8A3DE}"/>
              </a:ext>
            </a:extLst>
          </p:cNvPr>
          <p:cNvSpPr>
            <a:spLocks noGrp="1"/>
          </p:cNvSpPr>
          <p:nvPr/>
        </p:nvSpPr>
        <p:spPr>
          <a:xfrm>
            <a:off x="685800" y="4581525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E882EF-D804-484B-A6B7-5542CF923FEB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71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Is the property date current before BI or Performance Analytics setup?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09D1CA9-2BB2-4736-A7FF-0CB1BE86FAE1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381000" cy="342900"/>
          </a:xfrm>
          <a:prstGeom prst="roundRect">
            <a:avLst>
              <a:gd name="adj" fmla="val 22222"/>
            </a:avLst>
          </a:prstGeom>
          <a:solidFill>
            <a:srgbClr val="1D70F7"/>
          </a:solidFill>
          <a:ln w="9525">
            <a:solidFill>
              <a:srgbClr val="1D70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779616-D2E3-42CF-9168-88331A2BF9DD}"/>
              </a:ext>
            </a:extLst>
          </p:cNvPr>
          <p:cNvSpPr>
            <a:spLocks noGrp="1"/>
          </p:cNvSpPr>
          <p:nvPr/>
        </p:nvSpPr>
        <p:spPr>
          <a:xfrm>
            <a:off x="685800" y="5076825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90EDB7-46CA-4889-8AF6-172114B75577}"/>
              </a:ext>
            </a:extLst>
          </p:cNvPr>
          <p:cNvSpPr>
            <a:spLocks noGrp="1"/>
          </p:cNvSpPr>
          <p:nvPr/>
        </p:nvSpPr>
        <p:spPr>
          <a:xfrm>
            <a:off x="1257300" y="5086350"/>
            <a:ext cx="971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Are all Website integration prerequisites live?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BDA21E8-44F4-4330-B0E1-E65598F9BAB5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10820400" cy="457200"/>
          </a:xfrm>
          <a:prstGeom prst="roundRect">
            <a:avLst>
              <a:gd name="adj" fmla="val 16667"/>
            </a:avLst>
          </a:prstGeom>
          <a:solidFill>
            <a:srgbClr val="DDF7E8"/>
          </a:solidFill>
          <a:ln w="9525">
            <a:solidFill>
              <a:srgbClr val="DDF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BD3CAE1-6EED-4E3C-AF7C-83B1F02DBF19}"/>
              </a:ext>
            </a:extLst>
          </p:cNvPr>
          <p:cNvSpPr>
            <a:spLocks noGrp="1"/>
          </p:cNvSpPr>
          <p:nvPr/>
        </p:nvSpPr>
        <p:spPr>
          <a:xfrm>
            <a:off x="876300" y="5800725"/>
            <a:ext cx="10439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Outcome: a timeline that is executable, dependency-aware, and clear to the customer and internal teams.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90EDD6C-490B-473A-A3A6-C1041D33A0B0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52606D"/>
                </a:solidFill>
              </a:defRPr>
            </a:pPr>
            <a:r>
              <a:rPr sz="825" b="0">
                <a:solidFill>
                  <a:srgbClr val="52606D"/>
                </a:solidFill>
              </a:rPr>
              <a:t>Engagement Coordinator Training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1CAF74C-9C3E-4086-B4C3-CC2A053FED43}"/>
              </a:ext>
            </a:extLst>
          </p:cNvPr>
          <p:cNvSpPr>
            <a:spLocks noGrp="1"/>
          </p:cNvSpPr>
          <p:nvPr/>
        </p:nvSpPr>
        <p:spPr>
          <a:xfrm>
            <a:off x="10953750" y="647700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3673250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11A7D7C6AF7C4B84849BBC7AECD042" ma:contentTypeVersion="7" ma:contentTypeDescription="Create a new document." ma:contentTypeScope="" ma:versionID="d1a1c2fab4bc054141fc059f64628e6a">
  <xsd:schema xmlns:xsd="http://www.w3.org/2001/XMLSchema" xmlns:xs="http://www.w3.org/2001/XMLSchema" xmlns:p="http://schemas.microsoft.com/office/2006/metadata/properties" xmlns:ns2="09f0d035-db3a-41e2-9c9f-cd4fb346005c" targetNamespace="http://schemas.microsoft.com/office/2006/metadata/properties" ma:root="true" ma:fieldsID="79197425f45961dcb975a55f67a80289" ns2:_="">
    <xsd:import namespace="09f0d035-db3a-41e2-9c9f-cd4fb34600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f0d035-db3a-41e2-9c9f-cd4fb34600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4DEBEFD-1820-4BBE-ACF2-9C2C29F3CD9B}"/>
</file>

<file path=customXml/itemProps2.xml><?xml version="1.0" encoding="utf-8"?>
<ds:datastoreItem xmlns:ds="http://schemas.openxmlformats.org/officeDocument/2006/customXml" ds:itemID="{9E91D2C5-E96D-497D-B8C2-D7AC4A3A70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5B961F-75E2-4A07-AC2D-E4318C8DF439}">
  <ds:schemaRefs>
    <ds:schemaRef ds:uri="http://purl.org/dc/dcmitype/"/>
    <ds:schemaRef ds:uri="http://purl.org/dc/terms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elements/1.1/"/>
    <ds:schemaRef ds:uri="cd7206cd-d979-4761-a191-6f271d209b9a"/>
    <ds:schemaRef ds:uri="c6dc340a-7c91-4274-b2cf-9086e6b71284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>
  <clbl:label id="{36970c53-fc97-4c45-87e9-80615808800c}" enabled="1" method="Standard" siteId="{2c94bed6-d675-4d3d-a53b-7b461fd6acc2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673</Words>
  <Application>Microsoft Office PowerPoint</Application>
  <DocSecurity>0</DocSecurity>
  <PresentationFormat>Widescreen</PresentationFormat>
  <Paragraphs>149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Kat Ragudos</cp:lastModifiedBy>
  <cp:revision>1</cp:revision>
  <dcterms:created xsi:type="dcterms:W3CDTF">2026-08-30T23:54:18Z</dcterms:created>
  <dcterms:modified xsi:type="dcterms:W3CDTF">2026-08-31T00:02:24Z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0x010100B811A7D7C6AF7C4B84849BBC7AECD042</vt:lpwstr>
  </property>
  <property fmtid="{D5CDD505-2E9C-101B-9397-08002B2CF9AE}" pid="3" name="ClassificationContentMarkingFooterLocations">
    <vt:lpwstr>ChatGPT:5</vt:lpwstr>
  </property>
  <property fmtid="{D5CDD505-2E9C-101B-9397-08002B2CF9AE}" pid="4" name="ClassificationContentMarkingFooterText">
    <vt:lpwstr>For RealPage Internal Use Only</vt:lpwstr>
  </property>
  <property fmtid="{D5CDD505-2E9C-101B-9397-08002B2CF9AE}" pid="5" name="ClassificationContentMarkingHeaderLocations">
    <vt:lpwstr>ChatGPT:4</vt:lpwstr>
  </property>
  <property fmtid="{D5CDD505-2E9C-101B-9397-08002B2CF9AE}" pid="6" name="ClassificationContentMarkingHeaderText">
    <vt:lpwstr>Internal Use</vt:lpwstr>
  </property>
  <property fmtid="{D5CDD505-2E9C-101B-9397-08002B2CF9AE}" pid="7" name="MediaServiceImageTags">
    <vt:lpwstr/>
  </property>
</Properties>
</file>