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57"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293" autoAdjust="0"/>
  </p:normalViewPr>
  <p:slideViewPr>
    <p:cSldViewPr snapToGrid="0">
      <p:cViewPr varScale="1">
        <p:scale>
          <a:sx n="72" d="100"/>
          <a:sy n="72" d="100"/>
        </p:scale>
        <p:origin x="104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1.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Paz" userId="26a0b13f-dcc3-4d04-8a8c-8046ac036c14" providerId="ADAL" clId="{B776F879-DFA1-4006-9450-7540213DC7A3}"/>
    <pc:docChg chg="undo custSel addSld modSld">
      <pc:chgData name="Emmanuel Paz" userId="26a0b13f-dcc3-4d04-8a8c-8046ac036c14" providerId="ADAL" clId="{B776F879-DFA1-4006-9450-7540213DC7A3}" dt="2026-07-27T15:28:37.251" v="2376" actId="20577"/>
      <pc:docMkLst>
        <pc:docMk/>
      </pc:docMkLst>
      <pc:sldChg chg="modSp mod">
        <pc:chgData name="Emmanuel Paz" userId="26a0b13f-dcc3-4d04-8a8c-8046ac036c14" providerId="ADAL" clId="{B776F879-DFA1-4006-9450-7540213DC7A3}" dt="2026-07-27T15:27:47.313" v="2293" actId="20577"/>
        <pc:sldMkLst>
          <pc:docMk/>
          <pc:sldMk cId="1236502963" sldId="256"/>
        </pc:sldMkLst>
        <pc:spChg chg="mod">
          <ac:chgData name="Emmanuel Paz" userId="26a0b13f-dcc3-4d04-8a8c-8046ac036c14" providerId="ADAL" clId="{B776F879-DFA1-4006-9450-7540213DC7A3}" dt="2026-07-27T15:27:47.313" v="2293" actId="20577"/>
          <ac:spMkLst>
            <pc:docMk/>
            <pc:sldMk cId="1236502963" sldId="256"/>
            <ac:spMk id="3" creationId="{CC873295-DC55-B49D-5058-D025905DDF30}"/>
          </ac:spMkLst>
        </pc:spChg>
      </pc:sldChg>
      <pc:sldChg chg="modSp mod">
        <pc:chgData name="Emmanuel Paz" userId="26a0b13f-dcc3-4d04-8a8c-8046ac036c14" providerId="ADAL" clId="{B776F879-DFA1-4006-9450-7540213DC7A3}" dt="2026-07-27T15:28:37.251" v="2376" actId="20577"/>
        <pc:sldMkLst>
          <pc:docMk/>
          <pc:sldMk cId="1885178116" sldId="257"/>
        </pc:sldMkLst>
        <pc:spChg chg="mod">
          <ac:chgData name="Emmanuel Paz" userId="26a0b13f-dcc3-4d04-8a8c-8046ac036c14" providerId="ADAL" clId="{B776F879-DFA1-4006-9450-7540213DC7A3}" dt="2026-07-27T15:28:37.251" v="2376" actId="20577"/>
          <ac:spMkLst>
            <pc:docMk/>
            <pc:sldMk cId="1885178116" sldId="257"/>
            <ac:spMk id="3" creationId="{E7EADEBA-6BA5-E339-96D2-C25037FF87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A20A3-2F5B-420D-B5EA-CB79C859B1FC}"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12853D-47A6-47B4-8FAC-0CA9632BD92D}" type="slidenum">
              <a:rPr lang="en-US" smtClean="0"/>
              <a:t>‹#›</a:t>
            </a:fld>
            <a:endParaRPr lang="en-US"/>
          </a:p>
        </p:txBody>
      </p:sp>
    </p:spTree>
    <p:extLst>
      <p:ext uri="{BB962C8B-B14F-4D97-AF65-F5344CB8AC3E}">
        <p14:creationId xmlns:p14="http://schemas.microsoft.com/office/powerpoint/2010/main" val="3223280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important that our solutions paint a picture in your mind that allows you to develop a framework that work as one with the clients. </a:t>
            </a:r>
          </a:p>
          <a:p>
            <a:endParaRPr lang="en-US" dirty="0"/>
          </a:p>
          <a:p>
            <a:r>
              <a:rPr lang="en-US" dirty="0"/>
              <a:t>RealPage tie all our services together beautifully begins with OneSite. This is the software where they manage their resident records with move-ins, move-outs, annual recertifications, evictions, etc.</a:t>
            </a:r>
          </a:p>
          <a:p>
            <a:endParaRPr lang="en-US" dirty="0"/>
          </a:p>
          <a:p>
            <a:r>
              <a:rPr lang="en-US" dirty="0"/>
              <a:t>After OneSite, We have resident portals. These are commonly known as LOFT Living, LOFT Leasing and Online Renewals. Now, in these portals, residents need to make Payments. To make this possible, we are implementing RealPage Payments. Payments and these resident portals become a powerful tool for the clients to make it convenient for them to collect rent and utility payments. </a:t>
            </a:r>
          </a:p>
          <a:p>
            <a:endParaRPr lang="en-US" dirty="0"/>
          </a:p>
          <a:p>
            <a:r>
              <a:rPr lang="en-US" dirty="0"/>
              <a:t>One of the group of solutions that our clients are interested in are the Utility Management Services also known as RUM or RUSM. </a:t>
            </a:r>
          </a:p>
        </p:txBody>
      </p:sp>
      <p:sp>
        <p:nvSpPr>
          <p:cNvPr id="4" name="Slide Number Placeholder 3"/>
          <p:cNvSpPr>
            <a:spLocks noGrp="1"/>
          </p:cNvSpPr>
          <p:nvPr>
            <p:ph type="sldNum" sz="quarter" idx="5"/>
          </p:nvPr>
        </p:nvSpPr>
        <p:spPr/>
        <p:txBody>
          <a:bodyPr/>
          <a:lstStyle/>
          <a:p>
            <a:fld id="{1512853D-47A6-47B4-8FAC-0CA9632BD92D}" type="slidenum">
              <a:rPr lang="en-US" smtClean="0"/>
              <a:t>2</a:t>
            </a:fld>
            <a:endParaRPr lang="en-US"/>
          </a:p>
        </p:txBody>
      </p:sp>
    </p:spTree>
    <p:extLst>
      <p:ext uri="{BB962C8B-B14F-4D97-AF65-F5344CB8AC3E}">
        <p14:creationId xmlns:p14="http://schemas.microsoft.com/office/powerpoint/2010/main" val="935952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main solutions in the RUM group:</a:t>
            </a:r>
          </a:p>
          <a:p>
            <a:endParaRPr lang="en-US" dirty="0"/>
          </a:p>
          <a:p>
            <a:pPr marL="171450" indent="-171450">
              <a:buFontTx/>
              <a:buChar char="-"/>
            </a:pPr>
            <a:r>
              <a:rPr lang="en-US" dirty="0"/>
              <a:t>Resident Billing – we simply divide the large client bill to bill the residents back. </a:t>
            </a:r>
          </a:p>
          <a:p>
            <a:pPr marL="171450" indent="-171450">
              <a:buFontTx/>
              <a:buChar char="-"/>
            </a:pPr>
            <a:r>
              <a:rPr lang="en-US" dirty="0"/>
              <a:t>For example, water will be billed back in two most convenient methods. </a:t>
            </a:r>
          </a:p>
          <a:p>
            <a:pPr marL="628650" lvl="1" indent="-171450">
              <a:buFontTx/>
              <a:buChar char="-"/>
            </a:pPr>
            <a:r>
              <a:rPr lang="en-US" dirty="0"/>
              <a:t>One is SUBS or </a:t>
            </a:r>
            <a:r>
              <a:rPr lang="en-US" dirty="0" err="1"/>
              <a:t>submetered</a:t>
            </a:r>
            <a:r>
              <a:rPr lang="en-US" dirty="0"/>
              <a:t> utility billing system. The client has to have a </a:t>
            </a:r>
            <a:r>
              <a:rPr lang="en-US" dirty="0" err="1"/>
              <a:t>submetered</a:t>
            </a:r>
            <a:r>
              <a:rPr lang="en-US" dirty="0"/>
              <a:t> system installed and </a:t>
            </a:r>
            <a:r>
              <a:rPr lang="en-US" dirty="0" err="1"/>
              <a:t>ofcourse</a:t>
            </a:r>
            <a:r>
              <a:rPr lang="en-US" dirty="0"/>
              <a:t> we have to be able to read these submeters. In the deliverables portion I will tell you what the client needs to provide.</a:t>
            </a:r>
          </a:p>
          <a:p>
            <a:pPr marL="628650" lvl="1" indent="-171450">
              <a:buFontTx/>
              <a:buChar char="-"/>
            </a:pPr>
            <a:r>
              <a:rPr lang="en-US" dirty="0"/>
              <a:t>Another is RUBS  or ratio utility billing system – like 5 people is 50$ per month. Or 800sq ft of apartment is 40$ of water bill.</a:t>
            </a:r>
          </a:p>
          <a:p>
            <a:pPr marL="457200" lvl="1" indent="0">
              <a:buFontTx/>
              <a:buNone/>
            </a:pPr>
            <a:endParaRPr lang="en-US" dirty="0"/>
          </a:p>
          <a:p>
            <a:pPr marL="457200" lvl="1" indent="0">
              <a:buFontTx/>
              <a:buNone/>
            </a:pPr>
            <a:r>
              <a:rPr lang="en-US" dirty="0"/>
              <a:t>Utility Expense Management also called as bill pay when implemented allows us to pay all client utility bills enrolled in this solution. There are also clients that want us to just organize their bills for us and they will pay it to the utility providers directly. </a:t>
            </a:r>
          </a:p>
          <a:p>
            <a:pPr marL="457200" lvl="1" indent="0">
              <a:buFontTx/>
              <a:buNone/>
            </a:pPr>
            <a:endParaRPr lang="en-US" dirty="0"/>
          </a:p>
          <a:p>
            <a:pPr marL="457200" lvl="1" indent="0">
              <a:buFontTx/>
              <a:buNone/>
            </a:pPr>
            <a:endParaRPr lang="en-US" dirty="0"/>
          </a:p>
          <a:p>
            <a:pPr marL="457200" lvl="1" indent="0">
              <a:buFontTx/>
              <a:buNone/>
            </a:pPr>
            <a:r>
              <a:rPr lang="en-US" dirty="0"/>
              <a:t>VCR is where we make sure that all utility bills that need a name transfer like electricity commonly is under the name of the resident and doesn’t remain under the name of the property. </a:t>
            </a:r>
          </a:p>
          <a:p>
            <a:pPr marL="457200" lvl="1" indent="0">
              <a:buFontTx/>
              <a:buNone/>
            </a:pPr>
            <a:endParaRPr lang="en-US" dirty="0"/>
          </a:p>
          <a:p>
            <a:pPr marL="457200" lvl="1" indent="0">
              <a:buFontTx/>
              <a:buNone/>
            </a:pPr>
            <a:endParaRPr lang="en-US" dirty="0"/>
          </a:p>
          <a:p>
            <a:pPr marL="457200" lvl="1" indent="0">
              <a:buFontTx/>
              <a:buNone/>
            </a:pPr>
            <a:endParaRPr lang="en-US" dirty="0"/>
          </a:p>
        </p:txBody>
      </p:sp>
      <p:sp>
        <p:nvSpPr>
          <p:cNvPr id="4" name="Slide Number Placeholder 3"/>
          <p:cNvSpPr>
            <a:spLocks noGrp="1"/>
          </p:cNvSpPr>
          <p:nvPr>
            <p:ph type="sldNum" sz="quarter" idx="5"/>
          </p:nvPr>
        </p:nvSpPr>
        <p:spPr/>
        <p:txBody>
          <a:bodyPr/>
          <a:lstStyle/>
          <a:p>
            <a:fld id="{1512853D-47A6-47B4-8FAC-0CA9632BD92D}" type="slidenum">
              <a:rPr lang="en-US" smtClean="0"/>
              <a:t>3</a:t>
            </a:fld>
            <a:endParaRPr lang="en-US"/>
          </a:p>
        </p:txBody>
      </p:sp>
    </p:spTree>
    <p:extLst>
      <p:ext uri="{BB962C8B-B14F-4D97-AF65-F5344CB8AC3E}">
        <p14:creationId xmlns:p14="http://schemas.microsoft.com/office/powerpoint/2010/main" val="3652715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solutions require </a:t>
            </a:r>
            <a:r>
              <a:rPr lang="en-US" dirty="0" err="1"/>
              <a:t>DatHub</a:t>
            </a:r>
            <a:r>
              <a:rPr lang="en-US"/>
              <a:t> Questionnaire. </a:t>
            </a:r>
            <a:endParaRPr lang="en-US" dirty="0"/>
          </a:p>
        </p:txBody>
      </p:sp>
      <p:sp>
        <p:nvSpPr>
          <p:cNvPr id="4" name="Slide Number Placeholder 3"/>
          <p:cNvSpPr>
            <a:spLocks noGrp="1"/>
          </p:cNvSpPr>
          <p:nvPr>
            <p:ph type="sldNum" sz="quarter" idx="5"/>
          </p:nvPr>
        </p:nvSpPr>
        <p:spPr/>
        <p:txBody>
          <a:bodyPr/>
          <a:lstStyle/>
          <a:p>
            <a:fld id="{1512853D-47A6-47B4-8FAC-0CA9632BD92D}" type="slidenum">
              <a:rPr lang="en-US" smtClean="0"/>
              <a:t>4</a:t>
            </a:fld>
            <a:endParaRPr lang="en-US"/>
          </a:p>
        </p:txBody>
      </p:sp>
    </p:spTree>
    <p:extLst>
      <p:ext uri="{BB962C8B-B14F-4D97-AF65-F5344CB8AC3E}">
        <p14:creationId xmlns:p14="http://schemas.microsoft.com/office/powerpoint/2010/main" val="252939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r>
              <a:rPr lang="en-US" baseline="30000" dirty="0"/>
              <a:t>st</a:t>
            </a:r>
            <a:r>
              <a:rPr lang="en-US" dirty="0"/>
              <a:t> question: Asking this allows you to communicate with the RUM Onboarding team when they should reach out to the client to follow up for deliverables.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512853D-47A6-47B4-8FAC-0CA9632BD92D}" type="slidenum">
              <a:rPr lang="en-US" smtClean="0"/>
              <a:t>8</a:t>
            </a:fld>
            <a:endParaRPr lang="en-US"/>
          </a:p>
        </p:txBody>
      </p:sp>
    </p:spTree>
    <p:extLst>
      <p:ext uri="{BB962C8B-B14F-4D97-AF65-F5344CB8AC3E}">
        <p14:creationId xmlns:p14="http://schemas.microsoft.com/office/powerpoint/2010/main" val="201013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31717-FD45-7F08-62FC-3AF45A4A5D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BB7F75-2C14-80B1-2182-E3C48850F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E52F18-630A-00FF-8C4D-B077698A9289}"/>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07C05397-8840-1816-A556-0FA644C04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00418-930B-07F4-728F-D316F1808E2F}"/>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61795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DB4B6-7975-4D1B-8B63-4BF30595CE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1A4179-AB41-E8EF-E34C-26648210A4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A7AD9-EC5B-661B-B17B-B722481E040D}"/>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354BC5EF-587B-2ED2-49F5-B04E8C0376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59DDC-09D4-74A2-EDBE-2073EA100800}"/>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3162481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DFABA-09ED-9705-A67E-6F339479F7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F06D41-07A9-5848-F6A8-A28AB66B39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074658-126B-87A8-22B2-0ACBDB4B14F3}"/>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BAB01972-143E-BE33-7FD5-B917D58D6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F6587-6334-88F8-2016-2A4D9C8FDAFA}"/>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3853527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89965-A60A-8165-6839-62B07D4948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982270-F79D-F873-3CFD-D75DDC2555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246108-E038-0E5D-FE70-2F2631A8F5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5A663D-8064-BBAD-CAF9-AD0BB81344D9}"/>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6" name="Footer Placeholder 5">
            <a:extLst>
              <a:ext uri="{FF2B5EF4-FFF2-40B4-BE49-F238E27FC236}">
                <a16:creationId xmlns:a16="http://schemas.microsoft.com/office/drawing/2014/main" id="{B330DECE-F60F-013E-75C0-1E6920BECB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3EB94-2513-37F1-9A4F-D0D06E4567C5}"/>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141929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35DC-1D80-5FA6-1B01-020DEE42EE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4E8522-195C-9213-3F48-D22F1C208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41E665-5DD9-ABFB-BA8E-5B8C694811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AB4FBF-7D02-AE9A-A6E8-D3C422F164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3AA235-1577-1E33-43B2-812E419CE5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EAE1A7-8B2A-486B-9996-1E9F79105AD6}"/>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8" name="Footer Placeholder 7">
            <a:extLst>
              <a:ext uri="{FF2B5EF4-FFF2-40B4-BE49-F238E27FC236}">
                <a16:creationId xmlns:a16="http://schemas.microsoft.com/office/drawing/2014/main" id="{B18ACC91-F39B-6E5D-1449-6F35A3E789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9B682B-A536-1CAE-2B49-F8D27DF33B85}"/>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3508596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717E0-F113-2CAA-247D-683DC6806F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4C20C4-B31B-A294-B648-EE353013B990}"/>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4" name="Footer Placeholder 3">
            <a:extLst>
              <a:ext uri="{FF2B5EF4-FFF2-40B4-BE49-F238E27FC236}">
                <a16:creationId xmlns:a16="http://schemas.microsoft.com/office/drawing/2014/main" id="{55127068-ECA5-6682-D724-357A7EB4FB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446410-A1B4-B235-585A-6B9954935B49}"/>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1660004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71FB0B-BFD4-B7AD-E38D-77E99B96DBAC}"/>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3" name="Footer Placeholder 2">
            <a:extLst>
              <a:ext uri="{FF2B5EF4-FFF2-40B4-BE49-F238E27FC236}">
                <a16:creationId xmlns:a16="http://schemas.microsoft.com/office/drawing/2014/main" id="{62FB5D5A-F432-C326-A48B-8F9770B7E4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20257-4AED-5D62-AE7C-ECC85FF86ADF}"/>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27644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2C303-CE2A-E7FA-9993-D6743333D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C78142-D837-40BD-1B1F-AED0DF4E4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9D243D-B9D2-C8A7-E674-CB00871C68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728841-D0A2-0408-E14A-FAF3E9335759}"/>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6" name="Footer Placeholder 5">
            <a:extLst>
              <a:ext uri="{FF2B5EF4-FFF2-40B4-BE49-F238E27FC236}">
                <a16:creationId xmlns:a16="http://schemas.microsoft.com/office/drawing/2014/main" id="{AB74C893-577D-3E89-FD03-EB38DA98E2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AE7DCE-43EE-AAEA-D199-26FEF1DF7A29}"/>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1927689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0CA09-6F87-B517-7E38-7F18A23D5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2A73BF-143F-EECC-7CB2-083CD2C10A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9BCE1D-3CDA-DD42-C8D4-F7A467E27E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3F8B2-B6C8-9F48-CA50-C9544D069D99}"/>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6" name="Footer Placeholder 5">
            <a:extLst>
              <a:ext uri="{FF2B5EF4-FFF2-40B4-BE49-F238E27FC236}">
                <a16:creationId xmlns:a16="http://schemas.microsoft.com/office/drawing/2014/main" id="{7DBCA5FA-D013-3412-8CEB-C0490A3AB5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ECAB58-6BA4-06CD-4257-AD143023F48E}"/>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1226976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9233-3F3D-0F19-CCC3-925BA791F7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D35366-D182-E6B6-1F27-90F34C4F19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B03F0-1091-B22C-AD7C-A8A25D21B1EB}"/>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AB9EDE66-C45B-EB2E-5810-D5C3FEFD51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F90E6-E362-8A57-82E8-DEF0126BE29A}"/>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2888267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8CBD60-E14C-A53F-0037-6EAF3EBA7B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1A370B-A432-CE3A-5DCB-618A882BF5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3F5917-551B-B9CF-237A-AF1EF638B24B}"/>
              </a:ext>
            </a:extLst>
          </p:cNvPr>
          <p:cNvSpPr>
            <a:spLocks noGrp="1"/>
          </p:cNvSpPr>
          <p:nvPr>
            <p:ph type="dt" sz="half" idx="10"/>
          </p:nvPr>
        </p:nvSpPr>
        <p:spPr/>
        <p:txBody>
          <a:body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B26C5B30-3095-260A-8660-7DA4B48C95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400CA-1E31-542F-3010-110A7F1C1ECE}"/>
              </a:ext>
            </a:extLst>
          </p:cNvPr>
          <p:cNvSpPr>
            <a:spLocks noGrp="1"/>
          </p:cNvSpPr>
          <p:nvPr>
            <p:ph type="sldNum" sz="quarter" idx="12"/>
          </p:nvPr>
        </p:nvSpPr>
        <p:spPr/>
        <p:txBody>
          <a:bodyPr/>
          <a:lstStyle/>
          <a:p>
            <a:fld id="{23AB3390-DB2D-4978-A220-FA205F039A44}" type="slidenum">
              <a:rPr lang="en-US" smtClean="0"/>
              <a:t>‹#›</a:t>
            </a:fld>
            <a:endParaRPr lang="en-US"/>
          </a:p>
        </p:txBody>
      </p:sp>
    </p:spTree>
    <p:extLst>
      <p:ext uri="{BB962C8B-B14F-4D97-AF65-F5344CB8AC3E}">
        <p14:creationId xmlns:p14="http://schemas.microsoft.com/office/powerpoint/2010/main" val="1977905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026541-0BDD-C6E8-77CA-1CBBD5E99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D9CAE1-1BE5-E67B-3592-A8D7B0267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9BF67-8664-A05E-6EF9-6F1D2B3169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D14EBE-8196-41A5-8B60-216F2BD16A35}" type="datetimeFigureOut">
              <a:rPr lang="en-US" smtClean="0"/>
              <a:t>7/27/2026</a:t>
            </a:fld>
            <a:endParaRPr lang="en-US"/>
          </a:p>
        </p:txBody>
      </p:sp>
      <p:sp>
        <p:nvSpPr>
          <p:cNvPr id="5" name="Footer Placeholder 4">
            <a:extLst>
              <a:ext uri="{FF2B5EF4-FFF2-40B4-BE49-F238E27FC236}">
                <a16:creationId xmlns:a16="http://schemas.microsoft.com/office/drawing/2014/main" id="{0E5C7386-57B9-B644-9859-2F8DA9E59E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49EDD1-3F46-8AC8-9278-A3C8C5F383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AB3390-DB2D-4978-A220-FA205F039A44}" type="slidenum">
              <a:rPr lang="en-US" smtClean="0"/>
              <a:t>‹#›</a:t>
            </a:fld>
            <a:endParaRPr lang="en-US"/>
          </a:p>
        </p:txBody>
      </p:sp>
      <p:sp>
        <p:nvSpPr>
          <p:cNvPr id="9" name="TextBox 8">
            <a:extLst>
              <a:ext uri="{FF2B5EF4-FFF2-40B4-BE49-F238E27FC236}">
                <a16:creationId xmlns:a16="http://schemas.microsoft.com/office/drawing/2014/main" id="{24DFD000-C8F2-2952-E563-D2EA1A53CAEE}"/>
              </a:ext>
            </a:extLst>
          </p:cNvPr>
          <p:cNvSpPr txBox="1"/>
          <p:nvPr userDrawn="1">
            <p:extLst>
              <p:ext uri="{1162E1C5-73C7-4A58-AE30-91384D911F3F}">
                <p184:classification xmlns:p184="http://schemas.microsoft.com/office/powerpoint/2018/4/main" val="hdr"/>
              </p:ext>
            </p:extLst>
          </p:nvPr>
        </p:nvSpPr>
        <p:spPr>
          <a:xfrm>
            <a:off x="5829300" y="63500"/>
            <a:ext cx="5540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Use</a:t>
            </a:r>
          </a:p>
        </p:txBody>
      </p:sp>
      <p:sp>
        <p:nvSpPr>
          <p:cNvPr id="10" name="TextBox 9">
            <a:extLst>
              <a:ext uri="{FF2B5EF4-FFF2-40B4-BE49-F238E27FC236}">
                <a16:creationId xmlns:a16="http://schemas.microsoft.com/office/drawing/2014/main" id="{5F74B82C-BC66-21A1-A9A2-121B9AE1C8B6}"/>
              </a:ext>
            </a:extLst>
          </p:cNvPr>
          <p:cNvSpPr txBox="1"/>
          <p:nvPr userDrawn="1">
            <p:extLst>
              <p:ext uri="{1162E1C5-73C7-4A58-AE30-91384D911F3F}">
                <p184:classification xmlns:p184="http://schemas.microsoft.com/office/powerpoint/2018/4/main" val="ftr"/>
              </p:ext>
            </p:extLst>
          </p:nvPr>
        </p:nvSpPr>
        <p:spPr>
          <a:xfrm>
            <a:off x="5251450" y="6642100"/>
            <a:ext cx="17145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For RealPage Internal Use Only</a:t>
            </a:r>
          </a:p>
        </p:txBody>
      </p:sp>
    </p:spTree>
    <p:extLst>
      <p:ext uri="{BB962C8B-B14F-4D97-AF65-F5344CB8AC3E}">
        <p14:creationId xmlns:p14="http://schemas.microsoft.com/office/powerpoint/2010/main" val="453824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0F91-C2A1-FA6D-2E99-861C1B2478A7}"/>
              </a:ext>
            </a:extLst>
          </p:cNvPr>
          <p:cNvSpPr>
            <a:spLocks noGrp="1"/>
          </p:cNvSpPr>
          <p:nvPr>
            <p:ph type="ctrTitle"/>
          </p:nvPr>
        </p:nvSpPr>
        <p:spPr/>
        <p:txBody>
          <a:bodyPr/>
          <a:lstStyle/>
          <a:p>
            <a:r>
              <a:rPr lang="en-US" dirty="0"/>
              <a:t>RUM</a:t>
            </a:r>
          </a:p>
        </p:txBody>
      </p:sp>
      <p:sp>
        <p:nvSpPr>
          <p:cNvPr id="3" name="Subtitle 2">
            <a:extLst>
              <a:ext uri="{FF2B5EF4-FFF2-40B4-BE49-F238E27FC236}">
                <a16:creationId xmlns:a16="http://schemas.microsoft.com/office/drawing/2014/main" id="{CC873295-DC55-B49D-5058-D025905DDF30}"/>
              </a:ext>
            </a:extLst>
          </p:cNvPr>
          <p:cNvSpPr>
            <a:spLocks noGrp="1"/>
          </p:cNvSpPr>
          <p:nvPr>
            <p:ph type="subTitle" idx="1"/>
          </p:nvPr>
        </p:nvSpPr>
        <p:spPr/>
        <p:txBody>
          <a:bodyPr/>
          <a:lstStyle/>
          <a:p>
            <a:r>
              <a:rPr lang="en-US" dirty="0"/>
              <a:t>FOR ENGAGEMENT MANAGERS AND</a:t>
            </a:r>
          </a:p>
          <a:p>
            <a:r>
              <a:rPr lang="en-US" dirty="0"/>
              <a:t>ENGAGEMENT COORDINATORS</a:t>
            </a:r>
          </a:p>
        </p:txBody>
      </p:sp>
    </p:spTree>
    <p:extLst>
      <p:ext uri="{BB962C8B-B14F-4D97-AF65-F5344CB8AC3E}">
        <p14:creationId xmlns:p14="http://schemas.microsoft.com/office/powerpoint/2010/main" val="1236502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99073-78D5-D4BB-C8FF-550C7BF742B7}"/>
              </a:ext>
            </a:extLst>
          </p:cNvPr>
          <p:cNvSpPr>
            <a:spLocks noGrp="1"/>
          </p:cNvSpPr>
          <p:nvPr>
            <p:ph type="title"/>
          </p:nvPr>
        </p:nvSpPr>
        <p:spPr/>
        <p:txBody>
          <a:bodyPr/>
          <a:lstStyle/>
          <a:p>
            <a:r>
              <a:rPr lang="en-US" dirty="0"/>
              <a:t>What is RealPage?</a:t>
            </a:r>
          </a:p>
        </p:txBody>
      </p:sp>
      <p:sp>
        <p:nvSpPr>
          <p:cNvPr id="3" name="Content Placeholder 2">
            <a:extLst>
              <a:ext uri="{FF2B5EF4-FFF2-40B4-BE49-F238E27FC236}">
                <a16:creationId xmlns:a16="http://schemas.microsoft.com/office/drawing/2014/main" id="{464D02B3-6377-1F6C-AB07-77CCE1D7F9E7}"/>
              </a:ext>
            </a:extLst>
          </p:cNvPr>
          <p:cNvSpPr>
            <a:spLocks noGrp="1"/>
          </p:cNvSpPr>
          <p:nvPr>
            <p:ph idx="1"/>
          </p:nvPr>
        </p:nvSpPr>
        <p:spPr>
          <a:xfrm>
            <a:off x="838200" y="1825625"/>
            <a:ext cx="10515600" cy="1115002"/>
          </a:xfrm>
        </p:spPr>
        <p:txBody>
          <a:bodyPr/>
          <a:lstStyle/>
          <a:p>
            <a:pPr marL="0" indent="0">
              <a:buNone/>
            </a:pPr>
            <a:r>
              <a:rPr lang="en-US" dirty="0"/>
              <a:t>RP is a software company providing solutions for the real estate landscape. </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0590D56F-B29F-AE21-5BAB-D52FEA5A608D}"/>
              </a:ext>
            </a:extLst>
          </p:cNvPr>
          <p:cNvSpPr txBox="1"/>
          <p:nvPr/>
        </p:nvSpPr>
        <p:spPr>
          <a:xfrm>
            <a:off x="1458190" y="3699019"/>
            <a:ext cx="9036629" cy="923330"/>
          </a:xfrm>
          <a:prstGeom prst="rect">
            <a:avLst/>
          </a:prstGeom>
          <a:noFill/>
        </p:spPr>
        <p:txBody>
          <a:bodyPr wrap="square" rtlCol="0">
            <a:spAutoFit/>
          </a:bodyPr>
          <a:lstStyle/>
          <a:p>
            <a:r>
              <a:rPr lang="en-US" dirty="0"/>
              <a:t>What are RP services that work together as a healthy ecosystem of solutions that solve property management company problems?</a:t>
            </a:r>
          </a:p>
          <a:p>
            <a:endParaRPr lang="en-US" dirty="0"/>
          </a:p>
        </p:txBody>
      </p:sp>
    </p:spTree>
    <p:extLst>
      <p:ext uri="{BB962C8B-B14F-4D97-AF65-F5344CB8AC3E}">
        <p14:creationId xmlns:p14="http://schemas.microsoft.com/office/powerpoint/2010/main" val="34089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4C88C-56AE-95D9-F114-94CBACD9F5A8}"/>
              </a:ext>
            </a:extLst>
          </p:cNvPr>
          <p:cNvSpPr>
            <a:spLocks noGrp="1"/>
          </p:cNvSpPr>
          <p:nvPr>
            <p:ph type="title"/>
          </p:nvPr>
        </p:nvSpPr>
        <p:spPr/>
        <p:txBody>
          <a:bodyPr/>
          <a:lstStyle/>
          <a:p>
            <a:r>
              <a:rPr lang="en-US" dirty="0"/>
              <a:t>What is RUM?</a:t>
            </a:r>
          </a:p>
        </p:txBody>
      </p:sp>
      <p:sp>
        <p:nvSpPr>
          <p:cNvPr id="3" name="Content Placeholder 2">
            <a:extLst>
              <a:ext uri="{FF2B5EF4-FFF2-40B4-BE49-F238E27FC236}">
                <a16:creationId xmlns:a16="http://schemas.microsoft.com/office/drawing/2014/main" id="{E7EADEBA-6BA5-E339-96D2-C25037FF878A}"/>
              </a:ext>
            </a:extLst>
          </p:cNvPr>
          <p:cNvSpPr>
            <a:spLocks noGrp="1"/>
          </p:cNvSpPr>
          <p:nvPr>
            <p:ph idx="1"/>
          </p:nvPr>
        </p:nvSpPr>
        <p:spPr/>
        <p:txBody>
          <a:bodyPr/>
          <a:lstStyle/>
          <a:p>
            <a:pPr marL="0" indent="0">
              <a:buNone/>
            </a:pPr>
            <a:r>
              <a:rPr lang="en-US" dirty="0"/>
              <a:t>RealPage Utility Management</a:t>
            </a:r>
          </a:p>
          <a:p>
            <a:pPr marL="0" indent="0">
              <a:buNone/>
            </a:pPr>
            <a:r>
              <a:rPr lang="en-US" dirty="0"/>
              <a:t>Now called RUSM: RealPage Utility and Sustainability Management.</a:t>
            </a:r>
          </a:p>
          <a:p>
            <a:pPr marL="0" indent="0">
              <a:buNone/>
            </a:pPr>
            <a:r>
              <a:rPr lang="en-US" dirty="0">
                <a:solidFill>
                  <a:schemeClr val="accent4">
                    <a:lumMod val="75000"/>
                  </a:schemeClr>
                </a:solidFill>
              </a:rPr>
              <a:t>We organize the utility bills, collect it from the utility providers and bill the client and residents for </a:t>
            </a:r>
            <a:r>
              <a:rPr lang="en-US">
                <a:solidFill>
                  <a:schemeClr val="accent4">
                    <a:lumMod val="75000"/>
                  </a:schemeClr>
                </a:solidFill>
              </a:rPr>
              <a:t>their consumptions.</a:t>
            </a:r>
            <a:endParaRPr lang="en-US" dirty="0">
              <a:solidFill>
                <a:schemeClr val="accent4">
                  <a:lumMod val="75000"/>
                </a:schemeClr>
              </a:solidFill>
            </a:endParaRPr>
          </a:p>
          <a:p>
            <a:pPr marL="0" indent="0">
              <a:buNone/>
            </a:pPr>
            <a:endParaRPr lang="en-US" dirty="0"/>
          </a:p>
          <a:p>
            <a:pPr marL="0" indent="0">
              <a:buNone/>
            </a:pPr>
            <a:r>
              <a:rPr lang="en-US" dirty="0"/>
              <a:t>Resident Billing (RB, bill back)</a:t>
            </a:r>
          </a:p>
          <a:p>
            <a:pPr marL="0" indent="0">
              <a:buNone/>
            </a:pPr>
            <a:r>
              <a:rPr lang="en-US" dirty="0"/>
              <a:t>Utility Expense </a:t>
            </a:r>
            <a:r>
              <a:rPr lang="en-US" dirty="0" err="1"/>
              <a:t>Mangement</a:t>
            </a:r>
            <a:r>
              <a:rPr lang="en-US" dirty="0"/>
              <a:t> (UEM, bill pay)</a:t>
            </a:r>
          </a:p>
          <a:p>
            <a:pPr marL="0" indent="0">
              <a:buNone/>
            </a:pPr>
            <a:r>
              <a:rPr lang="en-US" dirty="0"/>
              <a:t>Vacant Cost Recovery (VCR)</a:t>
            </a:r>
          </a:p>
        </p:txBody>
      </p:sp>
    </p:spTree>
    <p:extLst>
      <p:ext uri="{BB962C8B-B14F-4D97-AF65-F5344CB8AC3E}">
        <p14:creationId xmlns:p14="http://schemas.microsoft.com/office/powerpoint/2010/main" val="1885178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6BEC5-4F7B-38AA-67B4-3985B1DF35DC}"/>
              </a:ext>
            </a:extLst>
          </p:cNvPr>
          <p:cNvSpPr>
            <a:spLocks noGrp="1"/>
          </p:cNvSpPr>
          <p:nvPr>
            <p:ph type="title"/>
          </p:nvPr>
        </p:nvSpPr>
        <p:spPr/>
        <p:txBody>
          <a:bodyPr/>
          <a:lstStyle/>
          <a:p>
            <a:r>
              <a:rPr lang="en-US" dirty="0"/>
              <a:t>DELIVERABLES	- RB</a:t>
            </a:r>
          </a:p>
        </p:txBody>
      </p:sp>
      <p:sp>
        <p:nvSpPr>
          <p:cNvPr id="3" name="Content Placeholder 2">
            <a:extLst>
              <a:ext uri="{FF2B5EF4-FFF2-40B4-BE49-F238E27FC236}">
                <a16:creationId xmlns:a16="http://schemas.microsoft.com/office/drawing/2014/main" id="{92D2AFA3-4012-9C5B-FA1D-19BEEBD13D0C}"/>
              </a:ext>
            </a:extLst>
          </p:cNvPr>
          <p:cNvSpPr>
            <a:spLocks noGrp="1"/>
          </p:cNvSpPr>
          <p:nvPr>
            <p:ph idx="1"/>
          </p:nvPr>
        </p:nvSpPr>
        <p:spPr/>
        <p:txBody>
          <a:bodyPr/>
          <a:lstStyle/>
          <a:p>
            <a:r>
              <a:rPr lang="en-US" dirty="0"/>
              <a:t>Datahub Questionnaire</a:t>
            </a:r>
          </a:p>
          <a:p>
            <a:r>
              <a:rPr lang="en-US" dirty="0"/>
              <a:t>Lease with Utilities Addendum</a:t>
            </a:r>
          </a:p>
          <a:p>
            <a:r>
              <a:rPr lang="en-US" dirty="0"/>
              <a:t>Utility Bills clients want to bill back</a:t>
            </a:r>
          </a:p>
          <a:p>
            <a:r>
              <a:rPr lang="en-US" dirty="0"/>
              <a:t>Supporting Information</a:t>
            </a:r>
          </a:p>
          <a:p>
            <a:pPr lvl="1"/>
            <a:r>
              <a:rPr lang="en-US" dirty="0"/>
              <a:t>SUBS: Submeter information </a:t>
            </a:r>
          </a:p>
          <a:p>
            <a:pPr lvl="1"/>
            <a:r>
              <a:rPr lang="en-US" dirty="0"/>
              <a:t>RUBS: Amount </a:t>
            </a:r>
          </a:p>
        </p:txBody>
      </p:sp>
    </p:spTree>
    <p:extLst>
      <p:ext uri="{BB962C8B-B14F-4D97-AF65-F5344CB8AC3E}">
        <p14:creationId xmlns:p14="http://schemas.microsoft.com/office/powerpoint/2010/main" val="311895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0256-5490-FF67-D1F1-7D2B1F511EB3}"/>
              </a:ext>
            </a:extLst>
          </p:cNvPr>
          <p:cNvSpPr>
            <a:spLocks noGrp="1"/>
          </p:cNvSpPr>
          <p:nvPr>
            <p:ph type="title"/>
          </p:nvPr>
        </p:nvSpPr>
        <p:spPr/>
        <p:txBody>
          <a:bodyPr/>
          <a:lstStyle/>
          <a:p>
            <a:r>
              <a:rPr lang="en-US" dirty="0"/>
              <a:t>DELIVERABLES - UEM</a:t>
            </a:r>
          </a:p>
        </p:txBody>
      </p:sp>
      <p:sp>
        <p:nvSpPr>
          <p:cNvPr id="3" name="Content Placeholder 2">
            <a:extLst>
              <a:ext uri="{FF2B5EF4-FFF2-40B4-BE49-F238E27FC236}">
                <a16:creationId xmlns:a16="http://schemas.microsoft.com/office/drawing/2014/main" id="{B277132F-B407-59B7-C20E-0CDB6C3942B7}"/>
              </a:ext>
            </a:extLst>
          </p:cNvPr>
          <p:cNvSpPr>
            <a:spLocks noGrp="1"/>
          </p:cNvSpPr>
          <p:nvPr>
            <p:ph idx="1"/>
          </p:nvPr>
        </p:nvSpPr>
        <p:spPr/>
        <p:txBody>
          <a:bodyPr/>
          <a:lstStyle/>
          <a:p>
            <a:r>
              <a:rPr lang="en-US" dirty="0"/>
              <a:t>DataHub Questionnaire</a:t>
            </a:r>
          </a:p>
          <a:p>
            <a:r>
              <a:rPr lang="en-US" dirty="0"/>
              <a:t>Utility bills clients want RealPage to pay</a:t>
            </a:r>
          </a:p>
          <a:p>
            <a:r>
              <a:rPr lang="en-US" dirty="0"/>
              <a:t>Recurring Debit Authorization Form (RDAF)</a:t>
            </a:r>
          </a:p>
          <a:p>
            <a:r>
              <a:rPr lang="en-US" dirty="0"/>
              <a:t>Letter of Authorization with company letterhead</a:t>
            </a:r>
          </a:p>
        </p:txBody>
      </p:sp>
    </p:spTree>
    <p:extLst>
      <p:ext uri="{BB962C8B-B14F-4D97-AF65-F5344CB8AC3E}">
        <p14:creationId xmlns:p14="http://schemas.microsoft.com/office/powerpoint/2010/main" val="1398921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BB14-FFBE-BAC1-1C03-BCAAD252EEB5}"/>
              </a:ext>
            </a:extLst>
          </p:cNvPr>
          <p:cNvSpPr>
            <a:spLocks noGrp="1"/>
          </p:cNvSpPr>
          <p:nvPr>
            <p:ph type="title"/>
          </p:nvPr>
        </p:nvSpPr>
        <p:spPr/>
        <p:txBody>
          <a:bodyPr/>
          <a:lstStyle/>
          <a:p>
            <a:r>
              <a:rPr lang="en-US" dirty="0"/>
              <a:t>DELIVERABLES – VCR</a:t>
            </a:r>
          </a:p>
        </p:txBody>
      </p:sp>
      <p:sp>
        <p:nvSpPr>
          <p:cNvPr id="3" name="Content Placeholder 2">
            <a:extLst>
              <a:ext uri="{FF2B5EF4-FFF2-40B4-BE49-F238E27FC236}">
                <a16:creationId xmlns:a16="http://schemas.microsoft.com/office/drawing/2014/main" id="{9E5E05A2-D825-DC6C-E4E3-F7CDE7D1C2C6}"/>
              </a:ext>
            </a:extLst>
          </p:cNvPr>
          <p:cNvSpPr>
            <a:spLocks noGrp="1"/>
          </p:cNvSpPr>
          <p:nvPr>
            <p:ph idx="1"/>
          </p:nvPr>
        </p:nvSpPr>
        <p:spPr/>
        <p:txBody>
          <a:bodyPr/>
          <a:lstStyle/>
          <a:p>
            <a:r>
              <a:rPr lang="en-US" dirty="0"/>
              <a:t>Datahub Questionnaire</a:t>
            </a:r>
          </a:p>
          <a:p>
            <a:r>
              <a:rPr lang="en-US" dirty="0"/>
              <a:t>Lease with Utilities Addendum</a:t>
            </a:r>
          </a:p>
          <a:p>
            <a:r>
              <a:rPr lang="en-US" dirty="0"/>
              <a:t>Utility Bills clients want to make sure is transferred to the residents’ name. </a:t>
            </a:r>
          </a:p>
        </p:txBody>
      </p:sp>
    </p:spTree>
    <p:extLst>
      <p:ext uri="{BB962C8B-B14F-4D97-AF65-F5344CB8AC3E}">
        <p14:creationId xmlns:p14="http://schemas.microsoft.com/office/powerpoint/2010/main" val="872428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B389-B52D-F3EF-6463-F7FB424B62E1}"/>
              </a:ext>
            </a:extLst>
          </p:cNvPr>
          <p:cNvSpPr>
            <a:spLocks noGrp="1"/>
          </p:cNvSpPr>
          <p:nvPr>
            <p:ph type="title"/>
          </p:nvPr>
        </p:nvSpPr>
        <p:spPr/>
        <p:txBody>
          <a:bodyPr/>
          <a:lstStyle/>
          <a:p>
            <a:r>
              <a:rPr lang="en-US" dirty="0"/>
              <a:t>IMPLEMENTATION TIMELINE</a:t>
            </a:r>
          </a:p>
        </p:txBody>
      </p:sp>
      <p:sp>
        <p:nvSpPr>
          <p:cNvPr id="3" name="Content Placeholder 2">
            <a:extLst>
              <a:ext uri="{FF2B5EF4-FFF2-40B4-BE49-F238E27FC236}">
                <a16:creationId xmlns:a16="http://schemas.microsoft.com/office/drawing/2014/main" id="{FCE39846-4DE3-7B0E-FEC1-97534A96C079}"/>
              </a:ext>
            </a:extLst>
          </p:cNvPr>
          <p:cNvSpPr>
            <a:spLocks noGrp="1"/>
          </p:cNvSpPr>
          <p:nvPr>
            <p:ph idx="1"/>
          </p:nvPr>
        </p:nvSpPr>
        <p:spPr/>
        <p:txBody>
          <a:bodyPr/>
          <a:lstStyle/>
          <a:p>
            <a:r>
              <a:rPr lang="en-US" dirty="0"/>
              <a:t>WHEN ARE DELIVERABLES DUE?</a:t>
            </a:r>
          </a:p>
          <a:p>
            <a:pPr lvl="1"/>
            <a:r>
              <a:rPr lang="en-US" dirty="0"/>
              <a:t>Always on the 15</a:t>
            </a:r>
            <a:r>
              <a:rPr lang="en-US" baseline="30000" dirty="0"/>
              <a:t>th</a:t>
            </a:r>
            <a:r>
              <a:rPr lang="en-US" dirty="0"/>
              <a:t> of a current month; if past that, it should be the 15</a:t>
            </a:r>
            <a:r>
              <a:rPr lang="en-US" baseline="30000" dirty="0"/>
              <a:t>th</a:t>
            </a:r>
            <a:r>
              <a:rPr lang="en-US" dirty="0"/>
              <a:t> of the following month. </a:t>
            </a:r>
          </a:p>
          <a:p>
            <a:endParaRPr lang="en-US" dirty="0"/>
          </a:p>
          <a:p>
            <a:r>
              <a:rPr lang="en-US" dirty="0"/>
              <a:t>WHEN IS THE IMPLEMENTATION/BUILD MONTH?</a:t>
            </a:r>
          </a:p>
          <a:p>
            <a:pPr lvl="1"/>
            <a:r>
              <a:rPr lang="en-US" dirty="0"/>
              <a:t>Always a full month following the due </a:t>
            </a:r>
            <a:r>
              <a:rPr lang="en-US"/>
              <a:t>month despite ICD date. </a:t>
            </a:r>
            <a:endParaRPr lang="en-US" dirty="0"/>
          </a:p>
          <a:p>
            <a:endParaRPr lang="en-US" dirty="0"/>
          </a:p>
          <a:p>
            <a:r>
              <a:rPr lang="en-US" dirty="0"/>
              <a:t>WHEN IS THE FIRST BILLS DUE ACTIVATION?</a:t>
            </a:r>
          </a:p>
          <a:p>
            <a:pPr lvl="1"/>
            <a:r>
              <a:rPr lang="en-US" dirty="0"/>
              <a:t>This is the 1</a:t>
            </a:r>
            <a:r>
              <a:rPr lang="en-US" baseline="30000" dirty="0"/>
              <a:t>st</a:t>
            </a:r>
            <a:r>
              <a:rPr lang="en-US" dirty="0"/>
              <a:t> day of the month following the build month. </a:t>
            </a:r>
          </a:p>
        </p:txBody>
      </p:sp>
    </p:spTree>
    <p:extLst>
      <p:ext uri="{BB962C8B-B14F-4D97-AF65-F5344CB8AC3E}">
        <p14:creationId xmlns:p14="http://schemas.microsoft.com/office/powerpoint/2010/main" val="591924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B0F8-5F15-135D-62BB-39B82091A861}"/>
              </a:ext>
            </a:extLst>
          </p:cNvPr>
          <p:cNvSpPr>
            <a:spLocks noGrp="1"/>
          </p:cNvSpPr>
          <p:nvPr>
            <p:ph type="title"/>
          </p:nvPr>
        </p:nvSpPr>
        <p:spPr/>
        <p:txBody>
          <a:bodyPr/>
          <a:lstStyle/>
          <a:p>
            <a:r>
              <a:rPr lang="en-US" dirty="0"/>
              <a:t>AN IMPORTANT QUESTION TO CLIENTS	</a:t>
            </a:r>
          </a:p>
        </p:txBody>
      </p:sp>
      <p:sp>
        <p:nvSpPr>
          <p:cNvPr id="3" name="Content Placeholder 2">
            <a:extLst>
              <a:ext uri="{FF2B5EF4-FFF2-40B4-BE49-F238E27FC236}">
                <a16:creationId xmlns:a16="http://schemas.microsoft.com/office/drawing/2014/main" id="{37C330DC-3B69-D184-0D81-A274AE9F4399}"/>
              </a:ext>
            </a:extLst>
          </p:cNvPr>
          <p:cNvSpPr>
            <a:spLocks noGrp="1"/>
          </p:cNvSpPr>
          <p:nvPr>
            <p:ph idx="1"/>
          </p:nvPr>
        </p:nvSpPr>
        <p:spPr/>
        <p:txBody>
          <a:bodyPr/>
          <a:lstStyle/>
          <a:p>
            <a:r>
              <a:rPr lang="en-US" dirty="0"/>
              <a:t>When will you be able to provide utility bills and a lease with utility addendum?</a:t>
            </a:r>
          </a:p>
          <a:p>
            <a:pPr marL="0" indent="0">
              <a:buNone/>
            </a:pPr>
            <a:endParaRPr lang="en-US" dirty="0"/>
          </a:p>
          <a:p>
            <a:pPr marL="0" indent="0">
              <a:buNone/>
            </a:pPr>
            <a:r>
              <a:rPr lang="en-US" dirty="0"/>
              <a:t>Notes:</a:t>
            </a:r>
          </a:p>
          <a:p>
            <a:pPr>
              <a:buFontTx/>
              <a:buChar char="-"/>
            </a:pPr>
            <a:r>
              <a:rPr lang="en-US" dirty="0"/>
              <a:t>Utility bills should be under the property not the construction company (for new construction)</a:t>
            </a:r>
          </a:p>
          <a:p>
            <a:pPr marL="0" indent="0">
              <a:buNone/>
            </a:pPr>
            <a:endParaRPr lang="en-US" dirty="0"/>
          </a:p>
          <a:p>
            <a:pPr>
              <a:buFontTx/>
              <a:buChar char="-"/>
            </a:pPr>
            <a:endParaRPr lang="en-US" dirty="0"/>
          </a:p>
        </p:txBody>
      </p:sp>
    </p:spTree>
    <p:extLst>
      <p:ext uri="{BB962C8B-B14F-4D97-AF65-F5344CB8AC3E}">
        <p14:creationId xmlns:p14="http://schemas.microsoft.com/office/powerpoint/2010/main" val="1959495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3F247-4DFE-2D8E-A657-809193B72025}"/>
              </a:ext>
            </a:extLst>
          </p:cNvPr>
          <p:cNvSpPr>
            <a:spLocks noGrp="1"/>
          </p:cNvSpPr>
          <p:nvPr>
            <p:ph type="title"/>
          </p:nvPr>
        </p:nvSpPr>
        <p:spPr/>
        <p:txBody>
          <a:bodyPr/>
          <a:lstStyle/>
          <a:p>
            <a:r>
              <a:rPr lang="en-US" dirty="0"/>
              <a:t>GOOD NEWS!</a:t>
            </a:r>
          </a:p>
        </p:txBody>
      </p:sp>
      <p:sp>
        <p:nvSpPr>
          <p:cNvPr id="3" name="Content Placeholder 2">
            <a:extLst>
              <a:ext uri="{FF2B5EF4-FFF2-40B4-BE49-F238E27FC236}">
                <a16:creationId xmlns:a16="http://schemas.microsoft.com/office/drawing/2014/main" id="{64846384-A7DA-60C8-88DD-7E9F16AF2FB5}"/>
              </a:ext>
            </a:extLst>
          </p:cNvPr>
          <p:cNvSpPr>
            <a:spLocks noGrp="1"/>
          </p:cNvSpPr>
          <p:nvPr>
            <p:ph idx="1"/>
          </p:nvPr>
        </p:nvSpPr>
        <p:spPr/>
        <p:txBody>
          <a:bodyPr/>
          <a:lstStyle/>
          <a:p>
            <a:r>
              <a:rPr lang="en-US" dirty="0"/>
              <a:t>You are not to vet deliverables. </a:t>
            </a:r>
          </a:p>
          <a:p>
            <a:r>
              <a:rPr lang="en-US" dirty="0"/>
              <a:t>RUM Onboarding should be able to give you updates.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29013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D3B8CB-C974-42A6-9B02-CDB708DC7170}"/>
</file>

<file path=customXml/itemProps2.xml><?xml version="1.0" encoding="utf-8"?>
<ds:datastoreItem xmlns:ds="http://schemas.openxmlformats.org/officeDocument/2006/customXml" ds:itemID="{3B2E77FA-3918-4336-949A-FAF2F6948B9D}"/>
</file>

<file path=customXml/itemProps3.xml><?xml version="1.0" encoding="utf-8"?>
<ds:datastoreItem xmlns:ds="http://schemas.openxmlformats.org/officeDocument/2006/customXml" ds:itemID="{2053BDBF-8BA3-4BB1-957D-C3D7C9DACB94}"/>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otalTime>410</TotalTime>
  <Words>703</Words>
  <Application>Microsoft Office PowerPoint</Application>
  <PresentationFormat>Widescreen</PresentationFormat>
  <Paragraphs>74</Paragraphs>
  <Slides>9</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RUM</vt:lpstr>
      <vt:lpstr>What is RealPage?</vt:lpstr>
      <vt:lpstr>What is RUM?</vt:lpstr>
      <vt:lpstr>DELIVERABLES - RB</vt:lpstr>
      <vt:lpstr>DELIVERABLES - UEM</vt:lpstr>
      <vt:lpstr>DELIVERABLES – VCR</vt:lpstr>
      <vt:lpstr>IMPLEMENTATION TIMELINE</vt:lpstr>
      <vt:lpstr>AN IMPORTANT QUESTION TO CLIENTS </vt:lpstr>
      <vt:lpstr>GOOD NEWS!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Paz</dc:creator>
  <cp:lastModifiedBy>Emmanuel Paz</cp:lastModifiedBy>
  <cp:revision>1</cp:revision>
  <dcterms:created xsi:type="dcterms:W3CDTF">2026-05-26T16:43:21Z</dcterms:created>
  <dcterms:modified xsi:type="dcterms:W3CDTF">2026-07-27T15:28:39Z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For RealPage Internal Use Only</vt:lpwstr>
  </property>
  <property fmtid="{D5CDD505-2E9C-101B-9397-08002B2CF9AE}" pid="4" name="ClassificationContentMarkingHeaderLocations">
    <vt:lpwstr>Office Theme:9</vt:lpwstr>
  </property>
  <property fmtid="{D5CDD505-2E9C-101B-9397-08002B2CF9AE}" pid="5" name="ClassificationContentMarkingHeaderText">
    <vt:lpwstr>Internal Use</vt:lpwstr>
  </property>
  <property fmtid="{D5CDD505-2E9C-101B-9397-08002B2CF9AE}" pid="6" name="ContentTypeId">
    <vt:lpwstr>0x010100B811A7D7C6AF7C4B84849BBC7AECD042</vt:lpwstr>
  </property>
</Properties>
</file>