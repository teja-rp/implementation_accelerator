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</p:sldIdLst>
  <p:sldSz cx="18288000" cy="10287000"/>
  <p:notesSz cx="6858000" cy="9144000"/>
  <p:embeddedFontLst>
    <p:embeddedFont>
      <p:font typeface="Inter" panose="020B0604020202020204" charset="0"/>
      <p:regular r:id="rId8"/>
    </p:embeddedFont>
    <p:embeddedFont>
      <p:font typeface="Inter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Cristina Alvarado" userId="S::mariacristina.alvarado@realpage.com::d9132ba1-f0ef-4885-8a20-5e95bdad85d7" providerId="AD" clId="Web-{8E3CFEE4-C51A-2F38-9CC7-1BEEE71CD035}"/>
    <pc:docChg chg="mod modMainMaster">
      <pc:chgData name="Maria Cristina Alvarado" userId="S::mariacristina.alvarado@realpage.com::d9132ba1-f0ef-4885-8a20-5e95bdad85d7" providerId="AD" clId="Web-{8E3CFEE4-C51A-2F38-9CC7-1BEEE71CD035}" dt="2026-07-29T17:28:30.857" v="1" actId="33475"/>
      <pc:docMkLst>
        <pc:docMk/>
      </pc:docMkLst>
      <pc:sldMasterChg chg="addSp">
        <pc:chgData name="Maria Cristina Alvarado" userId="S::mariacristina.alvarado@realpage.com::d9132ba1-f0ef-4885-8a20-5e95bdad85d7" providerId="AD" clId="Web-{8E3CFEE4-C51A-2F38-9CC7-1BEEE71CD035}" dt="2026-07-29T17:28:30.857" v="0" actId="33475"/>
        <pc:sldMasterMkLst>
          <pc:docMk/>
          <pc:sldMasterMk cId="0" sldId="2147483648"/>
        </pc:sldMasterMkLst>
        <pc:spChg chg="add">
          <ac:chgData name="Maria Cristina Alvarado" userId="S::mariacristina.alvarado@realpage.com::d9132ba1-f0ef-4885-8a20-5e95bdad85d7" providerId="AD" clId="Web-{8E3CFEE4-C51A-2F38-9CC7-1BEEE71CD035}" dt="2026-07-29T17:28:30.857" v="0" actId="33475"/>
          <ac:spMkLst>
            <pc:docMk/>
            <pc:sldMasterMk cId="0" sldId="2147483648"/>
            <ac:spMk id="9" creationId="{3C433504-BB8E-A215-C95D-5C8918D3A11F}"/>
          </ac:spMkLst>
        </pc:spChg>
        <pc:spChg chg="add">
          <ac:chgData name="Maria Cristina Alvarado" userId="S::mariacristina.alvarado@realpage.com::d9132ba1-f0ef-4885-8a20-5e95bdad85d7" providerId="AD" clId="Web-{8E3CFEE4-C51A-2F38-9CC7-1BEEE71CD035}" dt="2026-07-29T17:28:30.857" v="0" actId="33475"/>
          <ac:spMkLst>
            <pc:docMk/>
            <pc:sldMasterMk cId="0" sldId="2147483648"/>
            <ac:spMk id="10" creationId="{A5D9114D-BF14-B8C2-DF0D-02A8A0E9B72E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33504-BB8E-A215-C95D-5C8918D3A11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77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D9114D-BF14-B8C2-DF0D-02A8A0E9B72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99450" y="10071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" Type="http://schemas.openxmlformats.org/officeDocument/2006/relationships/image" Target="../media/image20.jpeg"/><Relationship Id="rId16" Type="http://schemas.openxmlformats.org/officeDocument/2006/relationships/image" Target="../media/image34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svg"/><Relationship Id="rId2" Type="http://schemas.openxmlformats.org/officeDocument/2006/relationships/image" Target="../media/image38.jpe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svg"/><Relationship Id="rId14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5877665" y="3716616"/>
            <a:ext cx="588712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6466377" y="3716616"/>
            <a:ext cx="1229085" cy="987797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6466377" y="7283044"/>
            <a:ext cx="1229085" cy="709613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716435" y="7283044"/>
            <a:ext cx="1101512" cy="709613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>
            <a:off x="10716435" y="3716616"/>
            <a:ext cx="1101512" cy="987797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11819785" y="3716616"/>
            <a:ext cx="588712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5877665" y="7992656"/>
            <a:ext cx="588712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1819785" y="7992656"/>
            <a:ext cx="588712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6466377" y="3184192"/>
            <a:ext cx="5351570" cy="5351570"/>
          </a:xfrm>
          <a:custGeom>
            <a:avLst/>
            <a:gdLst/>
            <a:ahLst/>
            <a:cxnLst/>
            <a:rect l="l" t="t" r="r" b="b"/>
            <a:pathLst>
              <a:path w="5351570" h="5351570">
                <a:moveTo>
                  <a:pt x="0" y="0"/>
                </a:moveTo>
                <a:lnTo>
                  <a:pt x="5351570" y="0"/>
                </a:lnTo>
                <a:lnTo>
                  <a:pt x="5351570" y="5351570"/>
                </a:lnTo>
                <a:lnTo>
                  <a:pt x="0" y="53515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7540" y="4193675"/>
            <a:ext cx="4119562" cy="988476"/>
          </a:xfrm>
          <a:custGeom>
            <a:avLst/>
            <a:gdLst/>
            <a:ahLst/>
            <a:cxnLst/>
            <a:rect l="l" t="t" r="r" b="b"/>
            <a:pathLst>
              <a:path w="4119562" h="988476">
                <a:moveTo>
                  <a:pt x="0" y="0"/>
                </a:moveTo>
                <a:lnTo>
                  <a:pt x="4119562" y="0"/>
                </a:lnTo>
                <a:lnTo>
                  <a:pt x="4119562" y="988476"/>
                </a:lnTo>
                <a:lnTo>
                  <a:pt x="0" y="988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50055"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/>
          <p:nvPr/>
        </p:nvGrpSpPr>
        <p:grpSpPr>
          <a:xfrm>
            <a:off x="904293" y="2796311"/>
            <a:ext cx="4282810" cy="1910779"/>
            <a:chOff x="0" y="0"/>
            <a:chExt cx="1127983" cy="503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7983" cy="503250"/>
            </a:xfrm>
            <a:custGeom>
              <a:avLst/>
              <a:gdLst/>
              <a:ahLst/>
              <a:cxnLst/>
              <a:rect l="l" t="t" r="r" b="b"/>
              <a:pathLst>
                <a:path w="1127983" h="503250">
                  <a:moveTo>
                    <a:pt x="0" y="0"/>
                  </a:moveTo>
                  <a:lnTo>
                    <a:pt x="1127983" y="0"/>
                  </a:lnTo>
                  <a:lnTo>
                    <a:pt x="1127983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27983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4496540" y="3061138"/>
            <a:ext cx="1666875" cy="1666875"/>
          </a:xfrm>
          <a:custGeom>
            <a:avLst/>
            <a:gdLst/>
            <a:ahLst/>
            <a:cxnLst/>
            <a:rect l="l" t="t" r="r" b="b"/>
            <a:pathLst>
              <a:path w="1666875" h="1666875">
                <a:moveTo>
                  <a:pt x="0" y="0"/>
                </a:moveTo>
                <a:lnTo>
                  <a:pt x="1666875" y="0"/>
                </a:lnTo>
                <a:lnTo>
                  <a:pt x="16668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4496540" y="3061138"/>
            <a:ext cx="1381125" cy="138112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C3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97180" y="3751700"/>
            <a:ext cx="898282" cy="89828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D9C37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180" y="7042979"/>
            <a:ext cx="898282" cy="89828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9F5255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59362" y="3751700"/>
            <a:ext cx="898282" cy="89828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E16A5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59362" y="7042979"/>
            <a:ext cx="898282" cy="898282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39E6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3099060" y="4342726"/>
            <a:ext cx="4160240" cy="839425"/>
          </a:xfrm>
          <a:custGeom>
            <a:avLst/>
            <a:gdLst/>
            <a:ahLst/>
            <a:cxnLst/>
            <a:rect l="l" t="t" r="r" b="b"/>
            <a:pathLst>
              <a:path w="4160240" h="839425">
                <a:moveTo>
                  <a:pt x="0" y="0"/>
                </a:moveTo>
                <a:lnTo>
                  <a:pt x="4160240" y="0"/>
                </a:lnTo>
                <a:lnTo>
                  <a:pt x="4160240" y="839425"/>
                </a:lnTo>
                <a:lnTo>
                  <a:pt x="0" y="839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7363"/>
            </a:stretch>
          </a:blipFill>
          <a:ln cap="sq">
            <a:noFill/>
            <a:prstDash val="solid"/>
            <a:miter/>
          </a:ln>
        </p:spPr>
      </p:sp>
      <p:grpSp>
        <p:nvGrpSpPr>
          <p:cNvPr id="33" name="Group 33"/>
          <p:cNvGrpSpPr/>
          <p:nvPr/>
        </p:nvGrpSpPr>
        <p:grpSpPr>
          <a:xfrm>
            <a:off x="13099060" y="2805836"/>
            <a:ext cx="4323666" cy="2546540"/>
            <a:chOff x="0" y="0"/>
            <a:chExt cx="1138743" cy="67069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8743" cy="670694"/>
            </a:xfrm>
            <a:custGeom>
              <a:avLst/>
              <a:gdLst/>
              <a:ahLst/>
              <a:cxnLst/>
              <a:rect l="l" t="t" r="r" b="b"/>
              <a:pathLst>
                <a:path w="1138743" h="670694">
                  <a:moveTo>
                    <a:pt x="0" y="0"/>
                  </a:moveTo>
                  <a:lnTo>
                    <a:pt x="1138743" y="0"/>
                  </a:lnTo>
                  <a:lnTo>
                    <a:pt x="1138743" y="670694"/>
                  </a:lnTo>
                  <a:lnTo>
                    <a:pt x="0" y="670694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38743" cy="708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2408497" y="3061138"/>
            <a:ext cx="1666875" cy="1666875"/>
          </a:xfrm>
          <a:custGeom>
            <a:avLst/>
            <a:gdLst/>
            <a:ahLst/>
            <a:cxnLst/>
            <a:rect l="l" t="t" r="r" b="b"/>
            <a:pathLst>
              <a:path w="1666875" h="1666875">
                <a:moveTo>
                  <a:pt x="0" y="0"/>
                </a:moveTo>
                <a:lnTo>
                  <a:pt x="1666875" y="0"/>
                </a:lnTo>
                <a:lnTo>
                  <a:pt x="16668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7" name="Group 37"/>
          <p:cNvGrpSpPr/>
          <p:nvPr/>
        </p:nvGrpSpPr>
        <p:grpSpPr>
          <a:xfrm>
            <a:off x="12408497" y="3061138"/>
            <a:ext cx="1381125" cy="138112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6A54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026862" y="8366521"/>
            <a:ext cx="4147814" cy="1004254"/>
          </a:xfrm>
          <a:custGeom>
            <a:avLst/>
            <a:gdLst/>
            <a:ahLst/>
            <a:cxnLst/>
            <a:rect l="l" t="t" r="r" b="b"/>
            <a:pathLst>
              <a:path w="4147814" h="1004254">
                <a:moveTo>
                  <a:pt x="0" y="0"/>
                </a:moveTo>
                <a:lnTo>
                  <a:pt x="4147814" y="0"/>
                </a:lnTo>
                <a:lnTo>
                  <a:pt x="4147814" y="1004255"/>
                </a:lnTo>
                <a:lnTo>
                  <a:pt x="0" y="1004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47814"/>
            </a:stretch>
          </a:blipFill>
          <a:ln cap="sq">
            <a:noFill/>
            <a:prstDash val="solid"/>
            <a:miter/>
          </a:ln>
        </p:spPr>
      </p:sp>
      <p:grpSp>
        <p:nvGrpSpPr>
          <p:cNvPr id="41" name="Group 41"/>
          <p:cNvGrpSpPr/>
          <p:nvPr/>
        </p:nvGrpSpPr>
        <p:grpSpPr>
          <a:xfrm>
            <a:off x="1026862" y="7018217"/>
            <a:ext cx="4160240" cy="1910779"/>
            <a:chOff x="0" y="0"/>
            <a:chExt cx="1095701" cy="5032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4496540" y="7283044"/>
            <a:ext cx="1666875" cy="1666875"/>
          </a:xfrm>
          <a:custGeom>
            <a:avLst/>
            <a:gdLst/>
            <a:ahLst/>
            <a:cxnLst/>
            <a:rect l="l" t="t" r="r" b="b"/>
            <a:pathLst>
              <a:path w="1666875" h="1666875">
                <a:moveTo>
                  <a:pt x="0" y="0"/>
                </a:moveTo>
                <a:lnTo>
                  <a:pt x="1666875" y="0"/>
                </a:lnTo>
                <a:lnTo>
                  <a:pt x="16668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5" name="Group 45"/>
          <p:cNvGrpSpPr/>
          <p:nvPr/>
        </p:nvGrpSpPr>
        <p:grpSpPr>
          <a:xfrm>
            <a:off x="4496540" y="7283044"/>
            <a:ext cx="1381125" cy="1381125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5255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>
            <a:off x="13099060" y="8487215"/>
            <a:ext cx="4160240" cy="883561"/>
          </a:xfrm>
          <a:custGeom>
            <a:avLst/>
            <a:gdLst/>
            <a:ahLst/>
            <a:cxnLst/>
            <a:rect l="l" t="t" r="r" b="b"/>
            <a:pathLst>
              <a:path w="4160240" h="883561">
                <a:moveTo>
                  <a:pt x="0" y="0"/>
                </a:moveTo>
                <a:lnTo>
                  <a:pt x="4160240" y="0"/>
                </a:lnTo>
                <a:lnTo>
                  <a:pt x="4160240" y="883561"/>
                </a:lnTo>
                <a:lnTo>
                  <a:pt x="0" y="8835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82509"/>
            </a:stretch>
          </a:blipFill>
          <a:ln cap="sq">
            <a:noFill/>
            <a:prstDash val="solid"/>
            <a:miter/>
          </a:ln>
        </p:spPr>
      </p:sp>
      <p:grpSp>
        <p:nvGrpSpPr>
          <p:cNvPr id="49" name="Group 49"/>
          <p:cNvGrpSpPr/>
          <p:nvPr/>
        </p:nvGrpSpPr>
        <p:grpSpPr>
          <a:xfrm>
            <a:off x="13099060" y="7018217"/>
            <a:ext cx="4546011" cy="2240083"/>
            <a:chOff x="0" y="0"/>
            <a:chExt cx="1197303" cy="58998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97303" cy="589981"/>
            </a:xfrm>
            <a:custGeom>
              <a:avLst/>
              <a:gdLst/>
              <a:ahLst/>
              <a:cxnLst/>
              <a:rect l="l" t="t" r="r" b="b"/>
              <a:pathLst>
                <a:path w="1197303" h="589981">
                  <a:moveTo>
                    <a:pt x="0" y="0"/>
                  </a:moveTo>
                  <a:lnTo>
                    <a:pt x="1197303" y="0"/>
                  </a:lnTo>
                  <a:lnTo>
                    <a:pt x="1197303" y="589981"/>
                  </a:lnTo>
                  <a:lnTo>
                    <a:pt x="0" y="589981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197303" cy="62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12408497" y="7283044"/>
            <a:ext cx="1666875" cy="1666875"/>
          </a:xfrm>
          <a:custGeom>
            <a:avLst/>
            <a:gdLst/>
            <a:ahLst/>
            <a:cxnLst/>
            <a:rect l="l" t="t" r="r" b="b"/>
            <a:pathLst>
              <a:path w="1666875" h="1666875">
                <a:moveTo>
                  <a:pt x="0" y="0"/>
                </a:moveTo>
                <a:lnTo>
                  <a:pt x="1666875" y="0"/>
                </a:lnTo>
                <a:lnTo>
                  <a:pt x="16668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3" name="Group 53"/>
          <p:cNvGrpSpPr/>
          <p:nvPr/>
        </p:nvGrpSpPr>
        <p:grpSpPr>
          <a:xfrm>
            <a:off x="12408497" y="7283044"/>
            <a:ext cx="1381125" cy="1381125"/>
            <a:chOff x="0" y="0"/>
            <a:chExt cx="812800" cy="812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9E60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655871" y="5376362"/>
            <a:ext cx="972582" cy="972582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9" name="Freeform 59"/>
          <p:cNvSpPr/>
          <p:nvPr/>
        </p:nvSpPr>
        <p:spPr>
          <a:xfrm>
            <a:off x="4801340" y="3321329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0" name="Freeform 60"/>
          <p:cNvSpPr/>
          <p:nvPr/>
        </p:nvSpPr>
        <p:spPr>
          <a:xfrm>
            <a:off x="4781275" y="7554982"/>
            <a:ext cx="811654" cy="809625"/>
          </a:xfrm>
          <a:custGeom>
            <a:avLst/>
            <a:gdLst/>
            <a:ahLst/>
            <a:cxnLst/>
            <a:rect l="l" t="t" r="r" b="b"/>
            <a:pathLst>
              <a:path w="811654" h="809625">
                <a:moveTo>
                  <a:pt x="0" y="0"/>
                </a:moveTo>
                <a:lnTo>
                  <a:pt x="811654" y="0"/>
                </a:lnTo>
                <a:lnTo>
                  <a:pt x="811654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1" name="Freeform 61"/>
          <p:cNvSpPr/>
          <p:nvPr/>
        </p:nvSpPr>
        <p:spPr>
          <a:xfrm>
            <a:off x="12691701" y="3346888"/>
            <a:ext cx="814717" cy="809625"/>
          </a:xfrm>
          <a:custGeom>
            <a:avLst/>
            <a:gdLst/>
            <a:ahLst/>
            <a:cxnLst/>
            <a:rect l="l" t="t" r="r" b="b"/>
            <a:pathLst>
              <a:path w="814717" h="809625">
                <a:moveTo>
                  <a:pt x="0" y="0"/>
                </a:moveTo>
                <a:lnTo>
                  <a:pt x="814717" y="0"/>
                </a:lnTo>
                <a:lnTo>
                  <a:pt x="814717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2" name="Freeform 62"/>
          <p:cNvSpPr/>
          <p:nvPr/>
        </p:nvSpPr>
        <p:spPr>
          <a:xfrm>
            <a:off x="12713297" y="7587844"/>
            <a:ext cx="810638" cy="809625"/>
          </a:xfrm>
          <a:custGeom>
            <a:avLst/>
            <a:gdLst/>
            <a:ahLst/>
            <a:cxnLst/>
            <a:rect l="l" t="t" r="r" b="b"/>
            <a:pathLst>
              <a:path w="810638" h="809625">
                <a:moveTo>
                  <a:pt x="0" y="0"/>
                </a:moveTo>
                <a:lnTo>
                  <a:pt x="810639" y="0"/>
                </a:lnTo>
                <a:lnTo>
                  <a:pt x="810639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3" name="Freeform 63"/>
          <p:cNvSpPr/>
          <p:nvPr/>
        </p:nvSpPr>
        <p:spPr>
          <a:xfrm>
            <a:off x="16970938" y="-416928"/>
            <a:ext cx="1916765" cy="1698733"/>
          </a:xfrm>
          <a:custGeom>
            <a:avLst/>
            <a:gdLst/>
            <a:ahLst/>
            <a:cxnLst/>
            <a:rect l="l" t="t" r="r" b="b"/>
            <a:pathLst>
              <a:path w="1916765" h="1698733">
                <a:moveTo>
                  <a:pt x="0" y="0"/>
                </a:moveTo>
                <a:lnTo>
                  <a:pt x="1916764" y="0"/>
                </a:lnTo>
                <a:lnTo>
                  <a:pt x="1916764" y="1698733"/>
                </a:lnTo>
                <a:lnTo>
                  <a:pt x="0" y="16987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4" name="Freeform 64"/>
          <p:cNvSpPr/>
          <p:nvPr/>
        </p:nvSpPr>
        <p:spPr>
          <a:xfrm flipH="1" flipV="1">
            <a:off x="-752886" y="9258300"/>
            <a:ext cx="1505772" cy="1856113"/>
          </a:xfrm>
          <a:custGeom>
            <a:avLst/>
            <a:gdLst/>
            <a:ahLst/>
            <a:cxnLst/>
            <a:rect l="l" t="t" r="r" b="b"/>
            <a:pathLst>
              <a:path w="1505772" h="1856113">
                <a:moveTo>
                  <a:pt x="1505772" y="1856113"/>
                </a:moveTo>
                <a:lnTo>
                  <a:pt x="0" y="1856113"/>
                </a:lnTo>
                <a:lnTo>
                  <a:pt x="0" y="0"/>
                </a:lnTo>
                <a:lnTo>
                  <a:pt x="1505772" y="0"/>
                </a:lnTo>
                <a:lnTo>
                  <a:pt x="1505772" y="1856113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5" name="Freeform 65"/>
          <p:cNvSpPr/>
          <p:nvPr/>
        </p:nvSpPr>
        <p:spPr>
          <a:xfrm rot="-1828565">
            <a:off x="14850433" y="8440561"/>
            <a:ext cx="4848024" cy="1860429"/>
          </a:xfrm>
          <a:custGeom>
            <a:avLst/>
            <a:gdLst/>
            <a:ahLst/>
            <a:cxnLst/>
            <a:rect l="l" t="t" r="r" b="b"/>
            <a:pathLst>
              <a:path w="4848024" h="1860429">
                <a:moveTo>
                  <a:pt x="0" y="0"/>
                </a:moveTo>
                <a:lnTo>
                  <a:pt x="4848025" y="0"/>
                </a:lnTo>
                <a:lnTo>
                  <a:pt x="4848025" y="1860429"/>
                </a:lnTo>
                <a:lnTo>
                  <a:pt x="0" y="1860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6" name="Freeform 66"/>
          <p:cNvSpPr/>
          <p:nvPr/>
        </p:nvSpPr>
        <p:spPr>
          <a:xfrm rot="9097144">
            <a:off x="-1184939" y="-426948"/>
            <a:ext cx="4964172" cy="2184236"/>
          </a:xfrm>
          <a:custGeom>
            <a:avLst/>
            <a:gdLst/>
            <a:ahLst/>
            <a:cxnLst/>
            <a:rect l="l" t="t" r="r" b="b"/>
            <a:pathLst>
              <a:path w="4964172" h="2184236">
                <a:moveTo>
                  <a:pt x="0" y="0"/>
                </a:moveTo>
                <a:lnTo>
                  <a:pt x="4964171" y="0"/>
                </a:lnTo>
                <a:lnTo>
                  <a:pt x="4964171" y="2184235"/>
                </a:lnTo>
                <a:lnTo>
                  <a:pt x="0" y="2184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7" name="TextBox 67"/>
          <p:cNvSpPr txBox="1"/>
          <p:nvPr/>
        </p:nvSpPr>
        <p:spPr>
          <a:xfrm>
            <a:off x="3603256" y="1205605"/>
            <a:ext cx="1108148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Planning Process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98967" y="3122574"/>
            <a:ext cx="399757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Products &amp; Dependencies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68571" y="3516591"/>
            <a:ext cx="2948482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 your Core Products and Product Dependencies​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022455" y="3303549"/>
            <a:ext cx="32368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Client Readiness &amp; Priorities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022455" y="3697566"/>
            <a:ext cx="3236845" cy="165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Identify what the clients need now vs later​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Deliverables they have right now or that would take them time to collect​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268571" y="7344480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Identify Standalones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26862" y="7738497"/>
            <a:ext cx="3190191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Standalones are those that don’t depend on other products​</a:t>
            </a:r>
          </a:p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*Take note of integrations!​</a:t>
            </a:r>
          </a:p>
          <a:p>
            <a:pPr algn="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4022455" y="7516882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Implementation Timelines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022455" y="7910900"/>
            <a:ext cx="3622616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Understand different implementation timelines. Match it with client desired dates so you can set deliverables due dates​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901111" y="4300415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511531" y="6420044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721331" y="6660109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110911" y="4847150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  <p:sp>
        <p:nvSpPr>
          <p:cNvPr id="80" name="Freeform 80"/>
          <p:cNvSpPr/>
          <p:nvPr/>
        </p:nvSpPr>
        <p:spPr>
          <a:xfrm>
            <a:off x="14476279" y="9645471"/>
            <a:ext cx="3002548" cy="368898"/>
          </a:xfrm>
          <a:custGeom>
            <a:avLst/>
            <a:gdLst/>
            <a:ahLst/>
            <a:cxnLst/>
            <a:rect l="l" t="t" r="r" b="b"/>
            <a:pathLst>
              <a:path w="3002548" h="368898">
                <a:moveTo>
                  <a:pt x="0" y="0"/>
                </a:moveTo>
                <a:lnTo>
                  <a:pt x="3002548" y="0"/>
                </a:lnTo>
                <a:lnTo>
                  <a:pt x="3002548" y="368898"/>
                </a:lnTo>
                <a:lnTo>
                  <a:pt x="0" y="368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90992" y="2539628"/>
            <a:ext cx="4906016" cy="6381809"/>
          </a:xfrm>
          <a:custGeom>
            <a:avLst/>
            <a:gdLst/>
            <a:ahLst/>
            <a:cxnLst/>
            <a:rect l="l" t="t" r="r" b="b"/>
            <a:pathLst>
              <a:path w="4906016" h="6381809">
                <a:moveTo>
                  <a:pt x="0" y="0"/>
                </a:moveTo>
                <a:lnTo>
                  <a:pt x="4906016" y="0"/>
                </a:lnTo>
                <a:lnTo>
                  <a:pt x="4906016" y="6381810"/>
                </a:lnTo>
                <a:lnTo>
                  <a:pt x="0" y="6381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3896697"/>
            <a:ext cx="4160240" cy="978367"/>
          </a:xfrm>
          <a:custGeom>
            <a:avLst/>
            <a:gdLst/>
            <a:ahLst/>
            <a:cxnLst/>
            <a:rect l="l" t="t" r="r" b="b"/>
            <a:pathLst>
              <a:path w="4160240" h="978367">
                <a:moveTo>
                  <a:pt x="0" y="0"/>
                </a:moveTo>
                <a:lnTo>
                  <a:pt x="4160240" y="0"/>
                </a:lnTo>
                <a:lnTo>
                  <a:pt x="4160240" y="978368"/>
                </a:lnTo>
                <a:lnTo>
                  <a:pt x="0" y="978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42908"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2346348"/>
            <a:ext cx="4160240" cy="1910779"/>
            <a:chOff x="0" y="0"/>
            <a:chExt cx="1095701" cy="503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98378" y="2611175"/>
            <a:ext cx="1381125" cy="13811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C3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127635" y="3706550"/>
            <a:ext cx="4131665" cy="1003984"/>
          </a:xfrm>
          <a:custGeom>
            <a:avLst/>
            <a:gdLst/>
            <a:ahLst/>
            <a:cxnLst/>
            <a:rect l="l" t="t" r="r" b="b"/>
            <a:pathLst>
              <a:path w="4131665" h="1003984">
                <a:moveTo>
                  <a:pt x="0" y="0"/>
                </a:moveTo>
                <a:lnTo>
                  <a:pt x="4131665" y="0"/>
                </a:lnTo>
                <a:lnTo>
                  <a:pt x="4131665" y="1003984"/>
                </a:lnTo>
                <a:lnTo>
                  <a:pt x="0" y="1003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35084"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13099060" y="2346348"/>
            <a:ext cx="4160240" cy="1910779"/>
            <a:chOff x="0" y="0"/>
            <a:chExt cx="1095701" cy="503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08497" y="2611175"/>
            <a:ext cx="1381125" cy="138112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6A5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700" y="6221547"/>
            <a:ext cx="4192918" cy="1059917"/>
          </a:xfrm>
          <a:custGeom>
            <a:avLst/>
            <a:gdLst/>
            <a:ahLst/>
            <a:cxnLst/>
            <a:rect l="l" t="t" r="r" b="b"/>
            <a:pathLst>
              <a:path w="4192918" h="1059917">
                <a:moveTo>
                  <a:pt x="0" y="0"/>
                </a:moveTo>
                <a:lnTo>
                  <a:pt x="4192918" y="0"/>
                </a:lnTo>
                <a:lnTo>
                  <a:pt x="4192918" y="1059917"/>
                </a:lnTo>
                <a:lnTo>
                  <a:pt x="0" y="10599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5980"/>
            </a:stretch>
          </a:blipFill>
          <a:ln cap="sq">
            <a:noFill/>
            <a:prstDash val="solid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1028700" y="4775144"/>
            <a:ext cx="4160240" cy="1910779"/>
            <a:chOff x="0" y="0"/>
            <a:chExt cx="1095701" cy="503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98378" y="5039971"/>
            <a:ext cx="1381125" cy="138112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525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3127635" y="5991528"/>
            <a:ext cx="4131665" cy="1030950"/>
          </a:xfrm>
          <a:custGeom>
            <a:avLst/>
            <a:gdLst/>
            <a:ahLst/>
            <a:cxnLst/>
            <a:rect l="l" t="t" r="r" b="b"/>
            <a:pathLst>
              <a:path w="4131665" h="1030950">
                <a:moveTo>
                  <a:pt x="0" y="0"/>
                </a:moveTo>
                <a:lnTo>
                  <a:pt x="4131665" y="0"/>
                </a:lnTo>
                <a:lnTo>
                  <a:pt x="4131665" y="1030950"/>
                </a:lnTo>
                <a:lnTo>
                  <a:pt x="0" y="1030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28935"/>
            </a:stretch>
          </a:blipFill>
          <a:ln cap="sq">
            <a:noFill/>
            <a:prstDash val="solid"/>
            <a:miter/>
          </a:ln>
        </p:spPr>
      </p:sp>
      <p:grpSp>
        <p:nvGrpSpPr>
          <p:cNvPr id="26" name="Group 26"/>
          <p:cNvGrpSpPr/>
          <p:nvPr/>
        </p:nvGrpSpPr>
        <p:grpSpPr>
          <a:xfrm>
            <a:off x="13099060" y="4875065"/>
            <a:ext cx="4379767" cy="2147413"/>
            <a:chOff x="0" y="0"/>
            <a:chExt cx="1153519" cy="56557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53519" cy="565574"/>
            </a:xfrm>
            <a:custGeom>
              <a:avLst/>
              <a:gdLst/>
              <a:ahLst/>
              <a:cxnLst/>
              <a:rect l="l" t="t" r="r" b="b"/>
              <a:pathLst>
                <a:path w="1153519" h="565574">
                  <a:moveTo>
                    <a:pt x="0" y="0"/>
                  </a:moveTo>
                  <a:lnTo>
                    <a:pt x="1153519" y="0"/>
                  </a:lnTo>
                  <a:lnTo>
                    <a:pt x="1153519" y="565574"/>
                  </a:lnTo>
                  <a:lnTo>
                    <a:pt x="0" y="565574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53519" cy="603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08497" y="5039971"/>
            <a:ext cx="1381125" cy="138112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9E6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028700" y="8736067"/>
            <a:ext cx="4192918" cy="909405"/>
          </a:xfrm>
          <a:custGeom>
            <a:avLst/>
            <a:gdLst/>
            <a:ahLst/>
            <a:cxnLst/>
            <a:rect l="l" t="t" r="r" b="b"/>
            <a:pathLst>
              <a:path w="4192918" h="909405">
                <a:moveTo>
                  <a:pt x="0" y="0"/>
                </a:moveTo>
                <a:lnTo>
                  <a:pt x="4192918" y="0"/>
                </a:lnTo>
                <a:lnTo>
                  <a:pt x="4192918" y="909404"/>
                </a:lnTo>
                <a:lnTo>
                  <a:pt x="0" y="909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63381"/>
            </a:stretch>
          </a:blipFill>
          <a:ln cap="sq">
            <a:noFill/>
            <a:prstDash val="solid"/>
            <a:miter/>
          </a:ln>
        </p:spPr>
      </p:sp>
      <p:grpSp>
        <p:nvGrpSpPr>
          <p:cNvPr id="33" name="Group 33"/>
          <p:cNvGrpSpPr/>
          <p:nvPr/>
        </p:nvGrpSpPr>
        <p:grpSpPr>
          <a:xfrm>
            <a:off x="1028700" y="7203939"/>
            <a:ext cx="4160240" cy="1910779"/>
            <a:chOff x="0" y="0"/>
            <a:chExt cx="1095701" cy="5032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8378" y="7468766"/>
            <a:ext cx="1381125" cy="1381125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6A54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3118161" y="8642396"/>
            <a:ext cx="4141139" cy="1019800"/>
          </a:xfrm>
          <a:custGeom>
            <a:avLst/>
            <a:gdLst/>
            <a:ahLst/>
            <a:cxnLst/>
            <a:rect l="l" t="t" r="r" b="b"/>
            <a:pathLst>
              <a:path w="4141139" h="1019800">
                <a:moveTo>
                  <a:pt x="0" y="0"/>
                </a:moveTo>
                <a:lnTo>
                  <a:pt x="4141139" y="0"/>
                </a:lnTo>
                <a:lnTo>
                  <a:pt x="4141139" y="1019800"/>
                </a:lnTo>
                <a:lnTo>
                  <a:pt x="0" y="1019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31969"/>
            </a:stretch>
          </a:blipFill>
          <a:ln cap="sq">
            <a:noFill/>
            <a:prstDash val="solid"/>
            <a:miter/>
          </a:ln>
        </p:spPr>
      </p:sp>
      <p:grpSp>
        <p:nvGrpSpPr>
          <p:cNvPr id="40" name="Group 40"/>
          <p:cNvGrpSpPr/>
          <p:nvPr/>
        </p:nvGrpSpPr>
        <p:grpSpPr>
          <a:xfrm>
            <a:off x="13099060" y="7203939"/>
            <a:ext cx="4160240" cy="1910779"/>
            <a:chOff x="0" y="0"/>
            <a:chExt cx="1095701" cy="5032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5701" cy="503250"/>
            </a:xfrm>
            <a:custGeom>
              <a:avLst/>
              <a:gdLst/>
              <a:ahLst/>
              <a:cxnLst/>
              <a:rect l="l" t="t" r="r" b="b"/>
              <a:pathLst>
                <a:path w="1095701" h="503250">
                  <a:moveTo>
                    <a:pt x="0" y="0"/>
                  </a:moveTo>
                  <a:lnTo>
                    <a:pt x="1095701" y="0"/>
                  </a:lnTo>
                  <a:lnTo>
                    <a:pt x="1095701" y="503250"/>
                  </a:lnTo>
                  <a:lnTo>
                    <a:pt x="0" y="503250"/>
                  </a:ln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95701" cy="5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08497" y="7468766"/>
            <a:ext cx="1381125" cy="1381125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B037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6" name="AutoShape 46"/>
          <p:cNvSpPr/>
          <p:nvPr/>
        </p:nvSpPr>
        <p:spPr>
          <a:xfrm>
            <a:off x="5879503" y="5730533"/>
            <a:ext cx="811489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" name="AutoShape 47"/>
          <p:cNvSpPr/>
          <p:nvPr/>
        </p:nvSpPr>
        <p:spPr>
          <a:xfrm>
            <a:off x="11597008" y="5730533"/>
            <a:ext cx="969621" cy="0"/>
          </a:xfrm>
          <a:prstGeom prst="line">
            <a:avLst/>
          </a:pr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8" name="Freeform 48"/>
          <p:cNvSpPr/>
          <p:nvPr/>
        </p:nvSpPr>
        <p:spPr>
          <a:xfrm>
            <a:off x="5879503" y="3231309"/>
            <a:ext cx="1416807" cy="413220"/>
          </a:xfrm>
          <a:custGeom>
            <a:avLst/>
            <a:gdLst/>
            <a:ahLst/>
            <a:cxnLst/>
            <a:rect l="l" t="t" r="r" b="b"/>
            <a:pathLst>
              <a:path w="1416807" h="413220">
                <a:moveTo>
                  <a:pt x="0" y="70429"/>
                </a:moveTo>
                <a:quadBezTo>
                  <a:pt x="808186" y="-170594"/>
                  <a:pt x="1416807" y="413220"/>
                </a:quadBezTo>
              </a:path>
            </a:pathLst>
          </a:cu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Freeform 49"/>
          <p:cNvSpPr/>
          <p:nvPr/>
        </p:nvSpPr>
        <p:spPr>
          <a:xfrm>
            <a:off x="11048139" y="3197573"/>
            <a:ext cx="1360358" cy="446956"/>
          </a:xfrm>
          <a:custGeom>
            <a:avLst/>
            <a:gdLst/>
            <a:ahLst/>
            <a:cxnLst/>
            <a:rect l="l" t="t" r="r" b="b"/>
            <a:pathLst>
              <a:path w="1360358" h="446956">
                <a:moveTo>
                  <a:pt x="1360358" y="104165"/>
                </a:moveTo>
                <a:quadBezTo>
                  <a:pt x="556371" y="-215770"/>
                  <a:pt x="0" y="446956"/>
                </a:quadBezTo>
              </a:path>
            </a:pathLst>
          </a:cu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Freeform 50"/>
          <p:cNvSpPr/>
          <p:nvPr/>
        </p:nvSpPr>
        <p:spPr>
          <a:xfrm>
            <a:off x="5879503" y="7706415"/>
            <a:ext cx="1789753" cy="615808"/>
          </a:xfrm>
          <a:custGeom>
            <a:avLst/>
            <a:gdLst/>
            <a:ahLst/>
            <a:cxnLst/>
            <a:rect l="l" t="t" r="r" b="b"/>
            <a:pathLst>
              <a:path w="1789753" h="615808">
                <a:moveTo>
                  <a:pt x="0" y="576855"/>
                </a:moveTo>
                <a:quadBezTo>
                  <a:pt x="1050313" y="770687"/>
                  <a:pt x="1789753" y="0"/>
                </a:quadBezTo>
              </a:path>
            </a:pathLst>
          </a:cu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Freeform 51"/>
          <p:cNvSpPr/>
          <p:nvPr/>
        </p:nvSpPr>
        <p:spPr>
          <a:xfrm>
            <a:off x="10630075" y="7706415"/>
            <a:ext cx="1730359" cy="673442"/>
          </a:xfrm>
          <a:custGeom>
            <a:avLst/>
            <a:gdLst/>
            <a:ahLst/>
            <a:cxnLst/>
            <a:rect l="l" t="t" r="r" b="b"/>
            <a:pathLst>
              <a:path w="1730359" h="673442">
                <a:moveTo>
                  <a:pt x="0" y="0"/>
                </a:moveTo>
                <a:quadBezTo>
                  <a:pt x="687019" y="799296"/>
                  <a:pt x="1730359" y="649922"/>
                </a:quadBezTo>
              </a:path>
            </a:pathLst>
          </a:custGeom>
          <a:ln w="38100" cap="flat">
            <a:solidFill>
              <a:srgbClr val="FD9C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Freeform 52"/>
          <p:cNvSpPr/>
          <p:nvPr/>
        </p:nvSpPr>
        <p:spPr>
          <a:xfrm>
            <a:off x="4783113" y="2896925"/>
            <a:ext cx="811654" cy="809625"/>
          </a:xfrm>
          <a:custGeom>
            <a:avLst/>
            <a:gdLst/>
            <a:ahLst/>
            <a:cxnLst/>
            <a:rect l="l" t="t" r="r" b="b"/>
            <a:pathLst>
              <a:path w="811654" h="809625">
                <a:moveTo>
                  <a:pt x="0" y="0"/>
                </a:moveTo>
                <a:lnTo>
                  <a:pt x="811654" y="0"/>
                </a:lnTo>
                <a:lnTo>
                  <a:pt x="811654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3" name="Freeform 53"/>
          <p:cNvSpPr/>
          <p:nvPr/>
        </p:nvSpPr>
        <p:spPr>
          <a:xfrm>
            <a:off x="4882116" y="5345247"/>
            <a:ext cx="651748" cy="809625"/>
          </a:xfrm>
          <a:custGeom>
            <a:avLst/>
            <a:gdLst/>
            <a:ahLst/>
            <a:cxnLst/>
            <a:rect l="l" t="t" r="r" b="b"/>
            <a:pathLst>
              <a:path w="651748" h="809625">
                <a:moveTo>
                  <a:pt x="0" y="0"/>
                </a:moveTo>
                <a:lnTo>
                  <a:pt x="651748" y="0"/>
                </a:lnTo>
                <a:lnTo>
                  <a:pt x="651748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4" name="Freeform 54"/>
          <p:cNvSpPr/>
          <p:nvPr/>
        </p:nvSpPr>
        <p:spPr>
          <a:xfrm>
            <a:off x="4819335" y="7763879"/>
            <a:ext cx="804565" cy="809625"/>
          </a:xfrm>
          <a:custGeom>
            <a:avLst/>
            <a:gdLst/>
            <a:ahLst/>
            <a:cxnLst/>
            <a:rect l="l" t="t" r="r" b="b"/>
            <a:pathLst>
              <a:path w="804565" h="809625">
                <a:moveTo>
                  <a:pt x="0" y="0"/>
                </a:moveTo>
                <a:lnTo>
                  <a:pt x="804565" y="0"/>
                </a:lnTo>
                <a:lnTo>
                  <a:pt x="80456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5" name="Freeform 55"/>
          <p:cNvSpPr/>
          <p:nvPr/>
        </p:nvSpPr>
        <p:spPr>
          <a:xfrm>
            <a:off x="12682786" y="5345247"/>
            <a:ext cx="889698" cy="809625"/>
          </a:xfrm>
          <a:custGeom>
            <a:avLst/>
            <a:gdLst/>
            <a:ahLst/>
            <a:cxnLst/>
            <a:rect l="l" t="t" r="r" b="b"/>
            <a:pathLst>
              <a:path w="889698" h="809625">
                <a:moveTo>
                  <a:pt x="0" y="0"/>
                </a:moveTo>
                <a:lnTo>
                  <a:pt x="889698" y="0"/>
                </a:lnTo>
                <a:lnTo>
                  <a:pt x="889698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6" name="Freeform 56"/>
          <p:cNvSpPr/>
          <p:nvPr/>
        </p:nvSpPr>
        <p:spPr>
          <a:xfrm>
            <a:off x="12689788" y="2896925"/>
            <a:ext cx="856746" cy="809625"/>
          </a:xfrm>
          <a:custGeom>
            <a:avLst/>
            <a:gdLst/>
            <a:ahLst/>
            <a:cxnLst/>
            <a:rect l="l" t="t" r="r" b="b"/>
            <a:pathLst>
              <a:path w="856746" h="809625">
                <a:moveTo>
                  <a:pt x="0" y="0"/>
                </a:moveTo>
                <a:lnTo>
                  <a:pt x="856746" y="0"/>
                </a:lnTo>
                <a:lnTo>
                  <a:pt x="856746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7" name="Freeform 57"/>
          <p:cNvSpPr/>
          <p:nvPr/>
        </p:nvSpPr>
        <p:spPr>
          <a:xfrm>
            <a:off x="12722822" y="7763879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8" name="Freeform 58"/>
          <p:cNvSpPr/>
          <p:nvPr/>
        </p:nvSpPr>
        <p:spPr>
          <a:xfrm>
            <a:off x="17478827" y="-444413"/>
            <a:ext cx="1618347" cy="1860169"/>
          </a:xfrm>
          <a:custGeom>
            <a:avLst/>
            <a:gdLst/>
            <a:ahLst/>
            <a:cxnLst/>
            <a:rect l="l" t="t" r="r" b="b"/>
            <a:pathLst>
              <a:path w="1618347" h="1860169">
                <a:moveTo>
                  <a:pt x="0" y="0"/>
                </a:moveTo>
                <a:lnTo>
                  <a:pt x="1618346" y="0"/>
                </a:lnTo>
                <a:lnTo>
                  <a:pt x="1618346" y="1860169"/>
                </a:lnTo>
                <a:lnTo>
                  <a:pt x="0" y="18601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9" name="Freeform 59"/>
          <p:cNvSpPr/>
          <p:nvPr/>
        </p:nvSpPr>
        <p:spPr>
          <a:xfrm>
            <a:off x="-539258" y="8981741"/>
            <a:ext cx="1359865" cy="1437109"/>
          </a:xfrm>
          <a:custGeom>
            <a:avLst/>
            <a:gdLst/>
            <a:ahLst/>
            <a:cxnLst/>
            <a:rect l="l" t="t" r="r" b="b"/>
            <a:pathLst>
              <a:path w="1359865" h="1437109">
                <a:moveTo>
                  <a:pt x="0" y="0"/>
                </a:moveTo>
                <a:lnTo>
                  <a:pt x="1359864" y="0"/>
                </a:lnTo>
                <a:lnTo>
                  <a:pt x="1359864" y="1437109"/>
                </a:lnTo>
                <a:lnTo>
                  <a:pt x="0" y="1437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0" name="Freeform 60"/>
          <p:cNvSpPr/>
          <p:nvPr/>
        </p:nvSpPr>
        <p:spPr>
          <a:xfrm rot="-1613516">
            <a:off x="-1223753" y="-70254"/>
            <a:ext cx="4988325" cy="1758385"/>
          </a:xfrm>
          <a:custGeom>
            <a:avLst/>
            <a:gdLst/>
            <a:ahLst/>
            <a:cxnLst/>
            <a:rect l="l" t="t" r="r" b="b"/>
            <a:pathLst>
              <a:path w="4988325" h="1758385">
                <a:moveTo>
                  <a:pt x="0" y="0"/>
                </a:moveTo>
                <a:lnTo>
                  <a:pt x="4988325" y="0"/>
                </a:lnTo>
                <a:lnTo>
                  <a:pt x="4988325" y="1758385"/>
                </a:lnTo>
                <a:lnTo>
                  <a:pt x="0" y="17583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1" name="Freeform 61"/>
          <p:cNvSpPr/>
          <p:nvPr/>
        </p:nvSpPr>
        <p:spPr>
          <a:xfrm>
            <a:off x="16123073" y="7293982"/>
            <a:ext cx="2879757" cy="3571792"/>
          </a:xfrm>
          <a:custGeom>
            <a:avLst/>
            <a:gdLst/>
            <a:ahLst/>
            <a:cxnLst/>
            <a:rect l="l" t="t" r="r" b="b"/>
            <a:pathLst>
              <a:path w="2879757" h="3571792">
                <a:moveTo>
                  <a:pt x="0" y="0"/>
                </a:moveTo>
                <a:lnTo>
                  <a:pt x="2879757" y="0"/>
                </a:lnTo>
                <a:lnTo>
                  <a:pt x="2879757" y="3571792"/>
                </a:lnTo>
                <a:lnTo>
                  <a:pt x="0" y="3571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2" name="Freeform 62"/>
          <p:cNvSpPr/>
          <p:nvPr/>
        </p:nvSpPr>
        <p:spPr>
          <a:xfrm>
            <a:off x="14476279" y="9645471"/>
            <a:ext cx="3002548" cy="368898"/>
          </a:xfrm>
          <a:custGeom>
            <a:avLst/>
            <a:gdLst/>
            <a:ahLst/>
            <a:cxnLst/>
            <a:rect l="l" t="t" r="r" b="b"/>
            <a:pathLst>
              <a:path w="3002548" h="368898">
                <a:moveTo>
                  <a:pt x="0" y="0"/>
                </a:moveTo>
                <a:lnTo>
                  <a:pt x="3002548" y="0"/>
                </a:lnTo>
                <a:lnTo>
                  <a:pt x="3002548" y="368898"/>
                </a:lnTo>
                <a:lnTo>
                  <a:pt x="0" y="368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63" name="TextBox 63"/>
          <p:cNvSpPr txBox="1"/>
          <p:nvPr/>
        </p:nvSpPr>
        <p:spPr>
          <a:xfrm>
            <a:off x="5035816" y="1066188"/>
            <a:ext cx="821636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OneSite Leasing &amp; Rents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70409" y="2806914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Payments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70409" y="3200931"/>
            <a:ext cx="2948482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Payment information flow into OSLR through transaction codes​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065847" y="2806914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Syndication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065847" y="3200931"/>
            <a:ext cx="2948482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Floor plan information and availabilty are all coming from OneSite​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70409" y="5239519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Loft Living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70409" y="5633537"/>
            <a:ext cx="2948482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Resident Information (email address, names etc) used are coming fromOneSite​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065847" y="5370012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Accounting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065847" y="5764029"/>
            <a:ext cx="3412979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payments collected come intoOneSite and flow to Accounting​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Note: Acctg entity can be setupprior to OneSite​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270409" y="7668315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Loft Leasing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270409" y="8062332"/>
            <a:ext cx="2948482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Floor plan information, units and availability are all coming from OneSite​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065847" y="7668315"/>
            <a:ext cx="294848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Business Intelligence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065847" y="8062332"/>
            <a:ext cx="2948482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Data used for reporting are coming from Onesite​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974839" y="3674641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74839" y="3674641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850915" y="3907560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493998" y="5550987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14318" y="7217782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195679" y="5177260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688306" y="6988230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5850" y="4042815"/>
            <a:ext cx="7026136" cy="3223240"/>
          </a:xfrm>
          <a:custGeom>
            <a:avLst/>
            <a:gdLst/>
            <a:ahLst/>
            <a:cxnLst/>
            <a:rect l="l" t="t" r="r" b="b"/>
            <a:pathLst>
              <a:path w="7026136" h="3223240">
                <a:moveTo>
                  <a:pt x="0" y="0"/>
                </a:moveTo>
                <a:lnTo>
                  <a:pt x="7026136" y="0"/>
                </a:lnTo>
                <a:lnTo>
                  <a:pt x="7026136" y="3223240"/>
                </a:lnTo>
                <a:lnTo>
                  <a:pt x="0" y="322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966210" y="4042815"/>
            <a:ext cx="7026136" cy="3223240"/>
          </a:xfrm>
          <a:custGeom>
            <a:avLst/>
            <a:gdLst/>
            <a:ahLst/>
            <a:cxnLst/>
            <a:rect l="l" t="t" r="r" b="b"/>
            <a:pathLst>
              <a:path w="7026136" h="3223240">
                <a:moveTo>
                  <a:pt x="0" y="0"/>
                </a:moveTo>
                <a:lnTo>
                  <a:pt x="7026136" y="0"/>
                </a:lnTo>
                <a:lnTo>
                  <a:pt x="7026136" y="3223240"/>
                </a:lnTo>
                <a:lnTo>
                  <a:pt x="0" y="3223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2024" y="2603866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30672" y="2549939"/>
            <a:ext cx="825096" cy="809625"/>
          </a:xfrm>
          <a:custGeom>
            <a:avLst/>
            <a:gdLst/>
            <a:ahLst/>
            <a:cxnLst/>
            <a:rect l="l" t="t" r="r" b="b"/>
            <a:pathLst>
              <a:path w="825096" h="809625">
                <a:moveTo>
                  <a:pt x="0" y="0"/>
                </a:moveTo>
                <a:lnTo>
                  <a:pt x="825096" y="0"/>
                </a:lnTo>
                <a:lnTo>
                  <a:pt x="825096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74210" y="2549939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6212" y="7670393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959945" y="7689919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938094" y="7689919"/>
            <a:ext cx="814717" cy="809625"/>
          </a:xfrm>
          <a:custGeom>
            <a:avLst/>
            <a:gdLst/>
            <a:ahLst/>
            <a:cxnLst/>
            <a:rect l="l" t="t" r="r" b="b"/>
            <a:pathLst>
              <a:path w="814717" h="809625">
                <a:moveTo>
                  <a:pt x="0" y="0"/>
                </a:moveTo>
                <a:lnTo>
                  <a:pt x="814717" y="0"/>
                </a:lnTo>
                <a:lnTo>
                  <a:pt x="814717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7487235" y="-84772"/>
            <a:ext cx="1563431" cy="1510665"/>
          </a:xfrm>
          <a:custGeom>
            <a:avLst/>
            <a:gdLst/>
            <a:ahLst/>
            <a:cxnLst/>
            <a:rect l="l" t="t" r="r" b="b"/>
            <a:pathLst>
              <a:path w="1563431" h="1510665">
                <a:moveTo>
                  <a:pt x="1563430" y="0"/>
                </a:moveTo>
                <a:lnTo>
                  <a:pt x="0" y="0"/>
                </a:lnTo>
                <a:lnTo>
                  <a:pt x="0" y="1510664"/>
                </a:lnTo>
                <a:lnTo>
                  <a:pt x="1563430" y="1510664"/>
                </a:lnTo>
                <a:lnTo>
                  <a:pt x="156343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-484637" y="9044682"/>
            <a:ext cx="1331224" cy="1674496"/>
          </a:xfrm>
          <a:custGeom>
            <a:avLst/>
            <a:gdLst/>
            <a:ahLst/>
            <a:cxnLst/>
            <a:rect l="l" t="t" r="r" b="b"/>
            <a:pathLst>
              <a:path w="1331224" h="1674496">
                <a:moveTo>
                  <a:pt x="0" y="0"/>
                </a:moveTo>
                <a:lnTo>
                  <a:pt x="1331224" y="0"/>
                </a:lnTo>
                <a:lnTo>
                  <a:pt x="1331224" y="1674495"/>
                </a:lnTo>
                <a:lnTo>
                  <a:pt x="0" y="1674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 rot="-1219298">
            <a:off x="15266763" y="8040805"/>
            <a:ext cx="4809823" cy="3054237"/>
          </a:xfrm>
          <a:custGeom>
            <a:avLst/>
            <a:gdLst/>
            <a:ahLst/>
            <a:cxnLst/>
            <a:rect l="l" t="t" r="r" b="b"/>
            <a:pathLst>
              <a:path w="4809823" h="3054237">
                <a:moveTo>
                  <a:pt x="0" y="0"/>
                </a:moveTo>
                <a:lnTo>
                  <a:pt x="4809822" y="0"/>
                </a:lnTo>
                <a:lnTo>
                  <a:pt x="4809822" y="3054237"/>
                </a:lnTo>
                <a:lnTo>
                  <a:pt x="0" y="3054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1403549">
            <a:off x="-3657600" y="500059"/>
            <a:ext cx="7315200" cy="1563624"/>
          </a:xfrm>
          <a:custGeom>
            <a:avLst/>
            <a:gdLst/>
            <a:ahLst/>
            <a:cxnLst/>
            <a:rect l="l" t="t" r="r" b="b"/>
            <a:pathLst>
              <a:path w="7315200" h="1563624">
                <a:moveTo>
                  <a:pt x="0" y="0"/>
                </a:moveTo>
                <a:lnTo>
                  <a:pt x="7315200" y="0"/>
                </a:lnTo>
                <a:lnTo>
                  <a:pt x="7315200" y="1563624"/>
                </a:lnTo>
                <a:lnTo>
                  <a:pt x="0" y="1563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3603256" y="1047750"/>
            <a:ext cx="1108148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Timeline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341100" y="2549939"/>
            <a:ext cx="2717805" cy="1458277"/>
            <a:chOff x="0" y="0"/>
            <a:chExt cx="3623740" cy="194437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38100"/>
              <a:ext cx="362374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Renter Engagement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87256"/>
              <a:ext cx="3623740" cy="1457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Loft Living​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Loft Leasing​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Online Renewals​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82706" y="2549939"/>
            <a:ext cx="3102498" cy="1458277"/>
            <a:chOff x="0" y="0"/>
            <a:chExt cx="4136664" cy="194437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38100"/>
              <a:ext cx="362374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Financial Suite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487256"/>
              <a:ext cx="4136664" cy="1457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RP Accounting Entity -can go live prior toOneSite but will needto be integrated withOS once it’s live​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451842" y="4042815"/>
            <a:ext cx="7026136" cy="3223240"/>
          </a:xfrm>
          <a:custGeom>
            <a:avLst/>
            <a:gdLst/>
            <a:ahLst/>
            <a:cxnLst/>
            <a:rect l="l" t="t" r="r" b="b"/>
            <a:pathLst>
              <a:path w="7026136" h="3223240">
                <a:moveTo>
                  <a:pt x="0" y="0"/>
                </a:moveTo>
                <a:lnTo>
                  <a:pt x="7026136" y="0"/>
                </a:lnTo>
                <a:lnTo>
                  <a:pt x="7026136" y="3223240"/>
                </a:lnTo>
                <a:lnTo>
                  <a:pt x="0" y="32232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475850" y="2603866"/>
            <a:ext cx="3003801" cy="1496377"/>
            <a:chOff x="0" y="0"/>
            <a:chExt cx="4005068" cy="1995170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38100"/>
              <a:ext cx="4005068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OneSite Leasing and Rents​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906356"/>
              <a:ext cx="4005068" cy="10888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Core​ Houses all resident and property information​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718512" y="7650867"/>
            <a:ext cx="3146799" cy="1734502"/>
            <a:chOff x="0" y="0"/>
            <a:chExt cx="4195732" cy="2312670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38100"/>
              <a:ext cx="362374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Payments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487256"/>
              <a:ext cx="4195732" cy="1825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Collect Resident and Application payments​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Dependent on OneSite going live​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32123" y="7670393"/>
            <a:ext cx="2717805" cy="2048827"/>
            <a:chOff x="0" y="0"/>
            <a:chExt cx="3623740" cy="2731770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38100"/>
              <a:ext cx="3623740" cy="815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Marketing and Lead Management​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06356"/>
              <a:ext cx="3269649" cy="18254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Knock**​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G5 Website**​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Contact Center**​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Syndication​</a:t>
              </a:r>
            </a:p>
            <a:p>
              <a:pPr algn="l">
                <a:lnSpc>
                  <a:spcPts val="2239"/>
                </a:lnSpc>
                <a:spcBef>
                  <a:spcPct val="0"/>
                </a:spcBef>
              </a:pPr>
              <a:endParaRPr lang="en-US" sz="1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981133" y="7670393"/>
            <a:ext cx="3707016" cy="1220152"/>
            <a:chOff x="0" y="0"/>
            <a:chExt cx="4942688" cy="1626870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4942688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Reporting Revenue Management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906356"/>
              <a:ext cx="3623740" cy="7205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Needs OS live andproperty date set to current​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664779" y="5419168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80748" y="5041481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829289" y="5419168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075985" y="5419168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51370" y="5419168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91875" y="5163421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316196" y="5419168"/>
            <a:ext cx="77916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id="42" name="Freeform 42"/>
          <p:cNvSpPr/>
          <p:nvPr/>
        </p:nvSpPr>
        <p:spPr>
          <a:xfrm>
            <a:off x="14252986" y="2603866"/>
            <a:ext cx="809625" cy="809625"/>
          </a:xfrm>
          <a:custGeom>
            <a:avLst/>
            <a:gdLst/>
            <a:ahLst/>
            <a:cxnLst/>
            <a:rect l="l" t="t" r="r" b="b"/>
            <a:pathLst>
              <a:path w="809625" h="809625">
                <a:moveTo>
                  <a:pt x="0" y="0"/>
                </a:moveTo>
                <a:lnTo>
                  <a:pt x="809625" y="0"/>
                </a:lnTo>
                <a:lnTo>
                  <a:pt x="809625" y="809625"/>
                </a:lnTo>
                <a:lnTo>
                  <a:pt x="0" y="809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15261482" y="2603866"/>
            <a:ext cx="2717805" cy="1458277"/>
            <a:chOff x="0" y="0"/>
            <a:chExt cx="3623740" cy="1944370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38100"/>
              <a:ext cx="362374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487256"/>
              <a:ext cx="3623740" cy="14571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Usually the last to be implemented because transferring ownership for utility accounts takes time​</a:t>
              </a:r>
            </a:p>
          </p:txBody>
        </p:sp>
      </p:grpSp>
      <p:sp>
        <p:nvSpPr>
          <p:cNvPr id="46" name="Freeform 46"/>
          <p:cNvSpPr/>
          <p:nvPr/>
        </p:nvSpPr>
        <p:spPr>
          <a:xfrm>
            <a:off x="14476279" y="9645471"/>
            <a:ext cx="3002548" cy="368898"/>
          </a:xfrm>
          <a:custGeom>
            <a:avLst/>
            <a:gdLst/>
            <a:ahLst/>
            <a:cxnLst/>
            <a:rect l="l" t="t" r="r" b="b"/>
            <a:pathLst>
              <a:path w="3002548" h="368898">
                <a:moveTo>
                  <a:pt x="0" y="0"/>
                </a:moveTo>
                <a:lnTo>
                  <a:pt x="3002548" y="0"/>
                </a:lnTo>
                <a:lnTo>
                  <a:pt x="3002548" y="368898"/>
                </a:lnTo>
                <a:lnTo>
                  <a:pt x="0" y="368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B5C369-6AD3-4506-8FFA-A93E3D0D26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A6A168-0C5A-4D63-BB9F-79A4633E0E23}"/>
</file>

<file path=customXml/itemProps3.xml><?xml version="1.0" encoding="utf-8"?>
<ds:datastoreItem xmlns:ds="http://schemas.openxmlformats.org/officeDocument/2006/customXml" ds:itemID="{9B0030D8-71D1-402B-8C6F-70C4DDCADE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6dc340a-7c91-4274-b2cf-9086e6b71284"/>
    <ds:schemaRef ds:uri="cd7206cd-d979-4761-a191-6f271d209b9a"/>
  </ds:schemaRefs>
</ds:datastoreItem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 EC - Project Planning Process</dc:title>
  <cp:revision>3</cp:revision>
  <dcterms:created xsi:type="dcterms:W3CDTF">2006-08-16T00:00:00Z</dcterms:created>
  <dcterms:modified xsi:type="dcterms:W3CDTF">2026-07-29T17:28:33Z</dcterms:modified>
  <dc:identifier>DAHQr9YTnc8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